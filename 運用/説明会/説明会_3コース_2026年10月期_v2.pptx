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自己紹介はここで1分。20代で商社 → 専業主婦 → 大学院で博士号 → 50歳で大学の教壇 → 57歳で教授。いまは大学院でも教えています。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「どれが良い・悪い」ではない。仕事にしたいかどうか、それだけで決まる。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クレームのもとは、ここの見解の違い。金額の話をする前に、必ずこの1枚を出して口頭でも言うこと。「代わりにやること」は規約でも含まれない業務と決めてあります。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はじめてのAI発信インスタ講座 の説明。金額は口頭でも必ず言うこと。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ファッション心理学AI活用　商品づくり講座 の説明。金額は口頭でも必ず言うこと。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ファッション起業AI活用　マスター講座 の説明。金額は口頭でも必ず言うこと。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ここがこの説明会でいちばん強い場所。実測の話として話す。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ここで売り込まない。「今日決めなくていい」と必ず口に出す。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0" y="822960"/>
            <a:ext cx="4297680" cy="2862072"/>
          </a:xfrm>
          <a:prstGeom prst="rect">
            <a:avLst/>
          </a:prstGeom>
        </p:spPr>
      </p:pic>
      <p:sp>
        <p:nvSpPr>
          <p:cNvPr id="3" name="Text 0"/>
          <p:cNvSpPr txBox="1"/>
          <p:nvPr/>
        </p:nvSpPr>
        <p:spPr>
          <a:xfrm>
            <a:off x="822960" y="1188720"/>
            <a:ext cx="6035040" cy="365760"/>
          </a:xfrm>
          <a:prstGeom prst="rect">
            <a:avLst/>
          </a:prstGeom>
          <a:noFill/>
          <a:ln/>
        </p:spPr>
        <p:txBody>
          <a:bodyPr wrap="square" lIns="0" tIns="0" rIns="0" bIns="0" rtlCol="0" anchor="ctr"/>
          <a:lstStyle/>
          <a:p>
            <a:pPr indent="0" marL="0">
              <a:buNone/>
            </a:pPr>
            <a:r>
              <a:rPr lang="en-US" sz="1400" spc="300" kern="0" dirty="0">
                <a:solidFill>
                  <a:srgbClr val="A26769"/>
                </a:solidFill>
                <a:latin typeface="Calibri" pitchFamily="34" charset="0"/>
                <a:ea typeface="Calibri" pitchFamily="34" charset="-122"/>
                <a:cs typeface="Calibri" pitchFamily="34" charset="-120"/>
              </a:rPr>
              <a:t>ファッション起業アカデミア</a:t>
            </a:r>
            <a:endParaRPr lang="en-US" sz="1400" dirty="0"/>
          </a:p>
        </p:txBody>
      </p:sp>
      <p:sp>
        <p:nvSpPr>
          <p:cNvPr id="4" name="Text 1"/>
          <p:cNvSpPr txBox="1"/>
          <p:nvPr/>
        </p:nvSpPr>
        <p:spPr>
          <a:xfrm>
            <a:off x="822960" y="1737360"/>
            <a:ext cx="6217920" cy="1737360"/>
          </a:xfrm>
          <a:prstGeom prst="rect">
            <a:avLst/>
          </a:prstGeom>
          <a:noFill/>
          <a:ln/>
        </p:spPr>
        <p:txBody>
          <a:bodyPr wrap="square" lIns="0" tIns="0" rIns="0" bIns="0" rtlCol="0" anchor="ctr"/>
          <a:lstStyle/>
          <a:p>
            <a:pPr indent="0" marL="0">
              <a:lnSpc>
                <a:spcPts val="5600"/>
              </a:lnSpc>
              <a:buNone/>
            </a:pPr>
            <a:r>
              <a:rPr lang="en-US" sz="4400" b="1" dirty="0">
                <a:solidFill>
                  <a:srgbClr val="6D2E46"/>
                </a:solidFill>
                <a:latin typeface="Cambria" pitchFamily="34" charset="0"/>
                <a:ea typeface="Cambria" pitchFamily="34" charset="-122"/>
                <a:cs typeface="Cambria" pitchFamily="34" charset="-120"/>
              </a:rPr>
              <a:t>2026年10月期</a:t>
            </a:r>
            <a:endParaRPr lang="en-US" sz="4400" dirty="0"/>
          </a:p>
          <a:p>
            <a:pPr indent="0" marL="0">
              <a:lnSpc>
                <a:spcPts val="5600"/>
              </a:lnSpc>
              <a:buNone/>
            </a:pPr>
            <a:r>
              <a:rPr lang="en-US" sz="4400" b="1" dirty="0">
                <a:solidFill>
                  <a:srgbClr val="6D2E46"/>
                </a:solidFill>
                <a:latin typeface="Cambria" pitchFamily="34" charset="0"/>
                <a:ea typeface="Cambria" pitchFamily="34" charset="-122"/>
                <a:cs typeface="Cambria" pitchFamily="34" charset="-120"/>
              </a:rPr>
              <a:t>3つの講座</a:t>
            </a:r>
            <a:endParaRPr lang="en-US" sz="4400" dirty="0"/>
          </a:p>
        </p:txBody>
      </p:sp>
      <p:sp>
        <p:nvSpPr>
          <p:cNvPr id="5" name="Text 2"/>
          <p:cNvSpPr txBox="1"/>
          <p:nvPr/>
        </p:nvSpPr>
        <p:spPr>
          <a:xfrm>
            <a:off x="841248" y="3611880"/>
            <a:ext cx="6217920" cy="41148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好きなファッションを、自分の言葉と、仕事の形に。</a:t>
            </a:r>
            <a:endParaRPr lang="en-US" sz="1600" dirty="0"/>
          </a:p>
        </p:txBody>
      </p:sp>
      <p:sp>
        <p:nvSpPr>
          <p:cNvPr id="6" name="Shape 3"/>
          <p:cNvSpPr/>
          <p:nvPr/>
        </p:nvSpPr>
        <p:spPr>
          <a:xfrm>
            <a:off x="822960" y="4343400"/>
            <a:ext cx="6035040" cy="0"/>
          </a:xfrm>
          <a:prstGeom prst="line">
            <a:avLst/>
          </a:prstGeom>
          <a:noFill/>
          <a:ln w="12700">
            <a:solidFill>
              <a:srgbClr val="E0D6D2"/>
            </a:solidFill>
            <a:prstDash val="solid"/>
          </a:ln>
        </p:spPr>
      </p:sp>
      <p:sp>
        <p:nvSpPr>
          <p:cNvPr id="7" name="Text 4"/>
          <p:cNvSpPr txBox="1"/>
          <p:nvPr/>
        </p:nvSpPr>
        <p:spPr>
          <a:xfrm>
            <a:off x="841248" y="4526280"/>
            <a:ext cx="6217920" cy="822960"/>
          </a:xfrm>
          <a:prstGeom prst="rect">
            <a:avLst/>
          </a:prstGeom>
          <a:noFill/>
          <a:ln/>
        </p:spPr>
        <p:txBody>
          <a:bodyPr wrap="square" lIns="0" tIns="0" rIns="0" bIns="0" rtlCol="0" anchor="ctr"/>
          <a:lstStyle/>
          <a:p>
            <a:pPr indent="0" marL="0">
              <a:lnSpc>
                <a:spcPts val="2600"/>
              </a:lnSpc>
              <a:buNone/>
            </a:pPr>
            <a:r>
              <a:rPr lang="en-US" sz="1500" dirty="0">
                <a:solidFill>
                  <a:srgbClr val="332B29"/>
                </a:solidFill>
                <a:latin typeface="Calibri" pitchFamily="34" charset="0"/>
                <a:ea typeface="Calibri" pitchFamily="34" charset="-122"/>
                <a:cs typeface="Calibri" pitchFamily="34" charset="-120"/>
              </a:rPr>
              <a:t>開講　2026年10月15日（木）21:00</a:t>
            </a:r>
            <a:endParaRPr lang="en-US" sz="1500" dirty="0"/>
          </a:p>
          <a:p>
            <a:pPr indent="0" marL="0">
              <a:lnSpc>
                <a:spcPts val="2600"/>
              </a:lnSpc>
              <a:buNone/>
            </a:pPr>
            <a:r>
              <a:rPr lang="en-US" sz="1500" dirty="0">
                <a:solidFill>
                  <a:srgbClr val="332B29"/>
                </a:solidFill>
                <a:latin typeface="Calibri" pitchFamily="34" charset="0"/>
                <a:ea typeface="Calibri" pitchFamily="34" charset="-122"/>
                <a:cs typeface="Calibri" pitchFamily="34" charset="-120"/>
              </a:rPr>
              <a:t>お申し込み締切　10月14日（水）</a:t>
            </a:r>
            <a:endParaRPr lang="en-US" sz="1500" dirty="0"/>
          </a:p>
        </p:txBody>
      </p:sp>
      <p:sp>
        <p:nvSpPr>
          <p:cNvPr id="8" name="Text 5"/>
          <p:cNvSpPr txBox="1"/>
          <p:nvPr/>
        </p:nvSpPr>
        <p:spPr>
          <a:xfrm>
            <a:off x="841248" y="5760720"/>
            <a:ext cx="6217920" cy="365760"/>
          </a:xfrm>
          <a:prstGeom prst="rect">
            <a:avLst/>
          </a:prstGeom>
          <a:noFill/>
          <a:ln/>
        </p:spPr>
        <p:txBody>
          <a:bodyPr wrap="square" lIns="0" tIns="0" rIns="0" bIns="0" rtlCol="0" anchor="ctr"/>
          <a:lstStyle/>
          <a:p>
            <a:pPr indent="0" marL="0">
              <a:buNone/>
            </a:pPr>
            <a:r>
              <a:rPr lang="en-US" sz="1200" dirty="0">
                <a:solidFill>
                  <a:srgbClr val="9A8A8E"/>
                </a:solidFill>
                <a:latin typeface="Calibri" pitchFamily="34" charset="0"/>
                <a:ea typeface="Calibri" pitchFamily="34" charset="-122"/>
                <a:cs typeface="Calibri" pitchFamily="34" charset="-120"/>
              </a:rPr>
              <a:t>松岡依里子　大学教授／ファッション起業アカデミア主宰</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松岡依里子（まつおか えりこ）</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大学教授／ファッション起業アカデミア主宰・64歳</a:t>
            </a:r>
            <a:endParaRPr lang="en-US" sz="1400" dirty="0"/>
          </a:p>
        </p:txBody>
      </p:sp>
      <p:pic>
        <p:nvPicPr>
          <p:cNvPr id="4" name="Image 0" descr="preencoded.png">    </p:cNvPr>
          <p:cNvPicPr>
            <a:picLocks noChangeAspect="1"/>
          </p:cNvPicPr>
          <p:nvPr/>
        </p:nvPicPr>
        <p:blipFill>
          <a:blip r:embed="rId1"/>
          <a:stretch>
            <a:fillRect/>
          </a:stretch>
        </p:blipFill>
        <p:spPr>
          <a:xfrm>
            <a:off x="8503920" y="1783080"/>
            <a:ext cx="2926080" cy="4389120"/>
          </a:xfrm>
          <a:prstGeom prst="rect">
            <a:avLst/>
          </a:prstGeom>
        </p:spPr>
      </p:pic>
      <p:sp>
        <p:nvSpPr>
          <p:cNvPr id="5" name="Text 2"/>
          <p:cNvSpPr txBox="1"/>
          <p:nvPr/>
        </p:nvSpPr>
        <p:spPr>
          <a:xfrm>
            <a:off x="777240" y="1874520"/>
            <a:ext cx="7315200" cy="2377440"/>
          </a:xfrm>
          <a:prstGeom prst="rect">
            <a:avLst/>
          </a:prstGeom>
          <a:noFill/>
          <a:ln/>
        </p:spPr>
        <p:txBody>
          <a:bodyPr wrap="square" lIns="0" tIns="0" rIns="0" bIns="0" rtlCol="0" anchor="t"/>
          <a:lstStyle/>
          <a:p>
            <a:pPr indent="0" marL="0">
              <a:lnSpc>
                <a:spcPts val="2800"/>
              </a:lnSpc>
              <a:buNone/>
            </a:pPr>
            <a:r>
              <a:rPr lang="en-US" sz="1500" dirty="0">
                <a:solidFill>
                  <a:srgbClr val="332B29"/>
                </a:solidFill>
                <a:latin typeface="Calibri" pitchFamily="34" charset="0"/>
                <a:ea typeface="Calibri" pitchFamily="34" charset="-122"/>
                <a:cs typeface="Calibri" pitchFamily="34" charset="-120"/>
              </a:rPr>
              <a:t>大学教授（ファッションビジネス研究室）</a:t>
            </a:r>
            <a:endParaRPr lang="en-US" sz="1500" dirty="0"/>
          </a:p>
          <a:p>
            <a:pPr indent="0" marL="0">
              <a:lnSpc>
                <a:spcPts val="2800"/>
              </a:lnSpc>
              <a:buNone/>
            </a:pPr>
            <a:r>
              <a:rPr lang="en-US" sz="1500" dirty="0">
                <a:solidFill>
                  <a:srgbClr val="332B29"/>
                </a:solidFill>
                <a:latin typeface="Calibri" pitchFamily="34" charset="0"/>
                <a:ea typeface="Calibri" pitchFamily="34" charset="-122"/>
                <a:cs typeface="Calibri" pitchFamily="34" charset="-120"/>
              </a:rPr>
              <a:t>Fashion Laboratory 代表／ファッション起業アカデミア 主宰</a:t>
            </a:r>
            <a:endParaRPr lang="en-US" sz="1500" dirty="0"/>
          </a:p>
          <a:p>
            <a:pPr indent="0" marL="0">
              <a:lnSpc>
                <a:spcPts val="2800"/>
              </a:lnSpc>
              <a:buNone/>
            </a:pPr>
            <a:endParaRPr lang="en-US" sz="1500" dirty="0"/>
          </a:p>
          <a:p>
            <a:pPr indent="0" marL="0">
              <a:lnSpc>
                <a:spcPts val="2800"/>
              </a:lnSpc>
              <a:buNone/>
            </a:pPr>
            <a:r>
              <a:rPr lang="en-US" sz="1500" dirty="0">
                <a:solidFill>
                  <a:srgbClr val="332B29"/>
                </a:solidFill>
                <a:latin typeface="Calibri" pitchFamily="34" charset="0"/>
                <a:ea typeface="Calibri" pitchFamily="34" charset="-122"/>
                <a:cs typeface="Calibri" pitchFamily="34" charset="-120"/>
              </a:rPr>
              <a:t>ファッション行動を心理学的に分析する研究をしています。</a:t>
            </a:r>
            <a:endParaRPr lang="en-US" sz="1500" dirty="0"/>
          </a:p>
          <a:p>
            <a:pPr indent="0" marL="0">
              <a:lnSpc>
                <a:spcPts val="2800"/>
              </a:lnSpc>
              <a:buNone/>
            </a:pPr>
            <a:r>
              <a:rPr lang="en-US" sz="1500" dirty="0">
                <a:solidFill>
                  <a:srgbClr val="332B29"/>
                </a:solidFill>
                <a:latin typeface="Calibri" pitchFamily="34" charset="0"/>
                <a:ea typeface="Calibri" pitchFamily="34" charset="-122"/>
                <a:cs typeface="Calibri" pitchFamily="34" charset="-120"/>
              </a:rPr>
              <a:t>着こなしのご提案はしていません。「似合うとは何が起きているのか」を研究する立場です。</a:t>
            </a:r>
            <a:endParaRPr lang="en-US" sz="1500" dirty="0"/>
          </a:p>
        </p:txBody>
      </p:sp>
      <p:sp>
        <p:nvSpPr>
          <p:cNvPr id="6" name="Shape 3"/>
          <p:cNvSpPr/>
          <p:nvPr/>
        </p:nvSpPr>
        <p:spPr>
          <a:xfrm>
            <a:off x="777240" y="4206240"/>
            <a:ext cx="7315200" cy="0"/>
          </a:xfrm>
          <a:prstGeom prst="line">
            <a:avLst/>
          </a:prstGeom>
          <a:noFill/>
          <a:ln w="12700">
            <a:solidFill>
              <a:srgbClr val="E0D6D2"/>
            </a:solidFill>
            <a:prstDash val="solid"/>
          </a:ln>
        </p:spPr>
      </p:sp>
      <p:sp>
        <p:nvSpPr>
          <p:cNvPr id="7" name="Text 4"/>
          <p:cNvSpPr txBox="1"/>
          <p:nvPr/>
        </p:nvSpPr>
        <p:spPr>
          <a:xfrm>
            <a:off x="777240" y="4389120"/>
            <a:ext cx="7315200" cy="329184"/>
          </a:xfrm>
          <a:prstGeom prst="rect">
            <a:avLst/>
          </a:prstGeom>
          <a:noFill/>
          <a:ln/>
        </p:spPr>
        <p:txBody>
          <a:bodyPr wrap="square" lIns="0" tIns="0" rIns="0" bIns="0" rtlCol="0" anchor="t"/>
          <a:lstStyle/>
          <a:p>
            <a:pPr indent="0" marL="0">
              <a:buNone/>
            </a:pPr>
            <a:r>
              <a:rPr lang="en-US" sz="1400" dirty="0">
                <a:solidFill>
                  <a:srgbClr val="332B29"/>
                </a:solidFill>
                <a:latin typeface="Calibri" pitchFamily="34" charset="0"/>
                <a:ea typeface="Calibri" pitchFamily="34" charset="-122"/>
                <a:cs typeface="Calibri" pitchFamily="34" charset="-120"/>
              </a:rPr>
              <a:t>20代　ファッションの商社で仕入れと営業</a:t>
            </a:r>
            <a:endParaRPr lang="en-US" sz="1400" dirty="0"/>
          </a:p>
        </p:txBody>
      </p:sp>
      <p:sp>
        <p:nvSpPr>
          <p:cNvPr id="8" name="Text 5"/>
          <p:cNvSpPr txBox="1"/>
          <p:nvPr/>
        </p:nvSpPr>
        <p:spPr>
          <a:xfrm>
            <a:off x="777240" y="4754880"/>
            <a:ext cx="7315200" cy="329184"/>
          </a:xfrm>
          <a:prstGeom prst="rect">
            <a:avLst/>
          </a:prstGeom>
          <a:noFill/>
          <a:ln/>
        </p:spPr>
        <p:txBody>
          <a:bodyPr wrap="square" lIns="0" tIns="0" rIns="0" bIns="0" rtlCol="0" anchor="t"/>
          <a:lstStyle/>
          <a:p>
            <a:pPr indent="0" marL="0">
              <a:buNone/>
            </a:pPr>
            <a:r>
              <a:rPr lang="en-US" sz="1400" dirty="0">
                <a:solidFill>
                  <a:srgbClr val="6A5A5E"/>
                </a:solidFill>
                <a:latin typeface="Calibri" pitchFamily="34" charset="0"/>
                <a:ea typeface="Calibri" pitchFamily="34" charset="-122"/>
                <a:cs typeface="Calibri" pitchFamily="34" charset="-120"/>
              </a:rPr>
              <a:t>　　　　結婚して、長く専業主婦</a:t>
            </a:r>
            <a:endParaRPr lang="en-US" sz="1400" dirty="0"/>
          </a:p>
        </p:txBody>
      </p:sp>
      <p:sp>
        <p:nvSpPr>
          <p:cNvPr id="9" name="Text 6"/>
          <p:cNvSpPr txBox="1"/>
          <p:nvPr/>
        </p:nvSpPr>
        <p:spPr>
          <a:xfrm>
            <a:off x="777240" y="5120640"/>
            <a:ext cx="7315200" cy="329184"/>
          </a:xfrm>
          <a:prstGeom prst="rect">
            <a:avLst/>
          </a:prstGeom>
          <a:noFill/>
          <a:ln/>
        </p:spPr>
        <p:txBody>
          <a:bodyPr wrap="square" lIns="0" tIns="0" rIns="0" bIns="0" rtlCol="0" anchor="t"/>
          <a:lstStyle/>
          <a:p>
            <a:pPr indent="0" marL="0">
              <a:buNone/>
            </a:pPr>
            <a:r>
              <a:rPr lang="en-US" sz="1400" dirty="0">
                <a:solidFill>
                  <a:srgbClr val="6A5A5E"/>
                </a:solidFill>
                <a:latin typeface="Calibri" pitchFamily="34" charset="0"/>
                <a:ea typeface="Calibri" pitchFamily="34" charset="-122"/>
                <a:cs typeface="Calibri" pitchFamily="34" charset="-120"/>
              </a:rPr>
              <a:t>　　　　大学院に入り直して、博士号を取得</a:t>
            </a:r>
            <a:endParaRPr lang="en-US" sz="1400" dirty="0"/>
          </a:p>
        </p:txBody>
      </p:sp>
      <p:sp>
        <p:nvSpPr>
          <p:cNvPr id="10" name="Text 7"/>
          <p:cNvSpPr txBox="1"/>
          <p:nvPr/>
        </p:nvSpPr>
        <p:spPr>
          <a:xfrm>
            <a:off x="777240" y="5486400"/>
            <a:ext cx="7315200" cy="329184"/>
          </a:xfrm>
          <a:prstGeom prst="rect">
            <a:avLst/>
          </a:prstGeom>
          <a:noFill/>
          <a:ln/>
        </p:spPr>
        <p:txBody>
          <a:bodyPr wrap="square" lIns="0" tIns="0" rIns="0" bIns="0" rtlCol="0" anchor="t"/>
          <a:lstStyle/>
          <a:p>
            <a:pPr indent="0" marL="0">
              <a:buNone/>
            </a:pPr>
            <a:r>
              <a:rPr lang="en-US" sz="1400" b="1" dirty="0">
                <a:solidFill>
                  <a:srgbClr val="6D2E46"/>
                </a:solidFill>
                <a:latin typeface="Calibri" pitchFamily="34" charset="0"/>
                <a:ea typeface="Calibri" pitchFamily="34" charset="-122"/>
                <a:cs typeface="Calibri" pitchFamily="34" charset="-120"/>
              </a:rPr>
              <a:t>50歳　大学の教壇へ　　57歳　大学教授</a:t>
            </a:r>
            <a:endParaRPr lang="en-US" sz="1400" dirty="0"/>
          </a:p>
        </p:txBody>
      </p:sp>
      <p:sp>
        <p:nvSpPr>
          <p:cNvPr id="11" name="Text 8"/>
          <p:cNvSpPr txBox="1"/>
          <p:nvPr/>
        </p:nvSpPr>
        <p:spPr>
          <a:xfrm>
            <a:off x="777240" y="5852160"/>
            <a:ext cx="7315200" cy="329184"/>
          </a:xfrm>
          <a:prstGeom prst="rect">
            <a:avLst/>
          </a:prstGeom>
          <a:noFill/>
          <a:ln/>
        </p:spPr>
        <p:txBody>
          <a:bodyPr wrap="square" lIns="0" tIns="0" rIns="0" bIns="0" rtlCol="0" anchor="t"/>
          <a:lstStyle/>
          <a:p>
            <a:pPr indent="0" marL="0">
              <a:buNone/>
            </a:pPr>
            <a:r>
              <a:rPr lang="en-US" sz="1400" dirty="0">
                <a:solidFill>
                  <a:srgbClr val="6A5A5E"/>
                </a:solidFill>
                <a:latin typeface="Calibri" pitchFamily="34" charset="0"/>
                <a:ea typeface="Calibri" pitchFamily="34" charset="-122"/>
                <a:cs typeface="Calibri" pitchFamily="34" charset="-120"/>
              </a:rPr>
              <a:t>　　　　その後、起業。いまは大学院でも教えています</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これまでにやってきたこと</a:t>
            </a:r>
            <a:endParaRPr lang="en-US" sz="3600" dirty="0"/>
          </a:p>
        </p:txBody>
      </p:sp>
      <p:sp>
        <p:nvSpPr>
          <p:cNvPr id="3" name="Text 1"/>
          <p:cNvSpPr txBox="1"/>
          <p:nvPr/>
        </p:nvSpPr>
        <p:spPr>
          <a:xfrm>
            <a:off x="777240" y="1920240"/>
            <a:ext cx="3291840" cy="731520"/>
          </a:xfrm>
          <a:prstGeom prst="rect">
            <a:avLst/>
          </a:prstGeom>
          <a:noFill/>
          <a:ln/>
        </p:spPr>
        <p:txBody>
          <a:bodyPr wrap="square" lIns="0" tIns="0" rIns="0" bIns="0" rtlCol="0" anchor="ctr"/>
          <a:lstStyle/>
          <a:p>
            <a:pPr indent="0" marL="0">
              <a:buNone/>
            </a:pPr>
            <a:r>
              <a:rPr lang="en-US" sz="4000" b="1" dirty="0">
                <a:solidFill>
                  <a:srgbClr val="6D2E46"/>
                </a:solidFill>
                <a:latin typeface="Cambria" pitchFamily="34" charset="0"/>
                <a:ea typeface="Cambria" pitchFamily="34" charset="-122"/>
                <a:cs typeface="Cambria" pitchFamily="34" charset="-120"/>
              </a:rPr>
              <a:t>30年以上</a:t>
            </a:r>
            <a:endParaRPr lang="en-US" sz="4000" dirty="0"/>
          </a:p>
        </p:txBody>
      </p:sp>
      <p:sp>
        <p:nvSpPr>
          <p:cNvPr id="4" name="Text 2"/>
          <p:cNvSpPr txBox="1"/>
          <p:nvPr/>
        </p:nvSpPr>
        <p:spPr>
          <a:xfrm>
            <a:off x="4297680" y="2121408"/>
            <a:ext cx="7132320" cy="45720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ファッション心理学の研究</a:t>
            </a:r>
            <a:endParaRPr lang="en-US" sz="1600" dirty="0"/>
          </a:p>
        </p:txBody>
      </p:sp>
      <p:sp>
        <p:nvSpPr>
          <p:cNvPr id="5" name="Shape 3"/>
          <p:cNvSpPr/>
          <p:nvPr/>
        </p:nvSpPr>
        <p:spPr>
          <a:xfrm>
            <a:off x="731520" y="2971800"/>
            <a:ext cx="10698480" cy="0"/>
          </a:xfrm>
          <a:prstGeom prst="line">
            <a:avLst/>
          </a:prstGeom>
          <a:noFill/>
          <a:ln w="12700">
            <a:solidFill>
              <a:srgbClr val="E0D6D2"/>
            </a:solidFill>
            <a:prstDash val="solid"/>
          </a:ln>
        </p:spPr>
      </p:sp>
      <p:sp>
        <p:nvSpPr>
          <p:cNvPr id="6" name="Text 4"/>
          <p:cNvSpPr txBox="1"/>
          <p:nvPr/>
        </p:nvSpPr>
        <p:spPr>
          <a:xfrm>
            <a:off x="777240" y="3383280"/>
            <a:ext cx="3291840" cy="731520"/>
          </a:xfrm>
          <a:prstGeom prst="rect">
            <a:avLst/>
          </a:prstGeom>
          <a:noFill/>
          <a:ln/>
        </p:spPr>
        <p:txBody>
          <a:bodyPr wrap="square" lIns="0" tIns="0" rIns="0" bIns="0" rtlCol="0" anchor="ctr"/>
          <a:lstStyle/>
          <a:p>
            <a:pPr indent="0" marL="0">
              <a:buNone/>
            </a:pPr>
            <a:r>
              <a:rPr lang="en-US" sz="4000" b="1" dirty="0">
                <a:solidFill>
                  <a:srgbClr val="6D2E46"/>
                </a:solidFill>
                <a:latin typeface="Cambria" pitchFamily="34" charset="0"/>
                <a:ea typeface="Cambria" pitchFamily="34" charset="-122"/>
                <a:cs typeface="Cambria" pitchFamily="34" charset="-120"/>
              </a:rPr>
              <a:t>3000名以上</a:t>
            </a:r>
            <a:endParaRPr lang="en-US" sz="4000" dirty="0"/>
          </a:p>
        </p:txBody>
      </p:sp>
      <p:sp>
        <p:nvSpPr>
          <p:cNvPr id="7" name="Text 5"/>
          <p:cNvSpPr txBox="1"/>
          <p:nvPr/>
        </p:nvSpPr>
        <p:spPr>
          <a:xfrm>
            <a:off x="4297680" y="3584448"/>
            <a:ext cx="7132320" cy="45720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学生・社会人へのキャリア指導と起業指導</a:t>
            </a:r>
            <a:endParaRPr lang="en-US" sz="1600" dirty="0"/>
          </a:p>
        </p:txBody>
      </p:sp>
      <p:sp>
        <p:nvSpPr>
          <p:cNvPr id="8" name="Shape 6"/>
          <p:cNvSpPr/>
          <p:nvPr/>
        </p:nvSpPr>
        <p:spPr>
          <a:xfrm>
            <a:off x="731520" y="4434840"/>
            <a:ext cx="10698480" cy="0"/>
          </a:xfrm>
          <a:prstGeom prst="line">
            <a:avLst/>
          </a:prstGeom>
          <a:noFill/>
          <a:ln w="12700">
            <a:solidFill>
              <a:srgbClr val="E0D6D2"/>
            </a:solidFill>
            <a:prstDash val="solid"/>
          </a:ln>
        </p:spPr>
      </p:sp>
      <p:sp>
        <p:nvSpPr>
          <p:cNvPr id="9" name="Text 7"/>
          <p:cNvSpPr txBox="1"/>
          <p:nvPr/>
        </p:nvSpPr>
        <p:spPr>
          <a:xfrm>
            <a:off x="777240" y="4846320"/>
            <a:ext cx="3291840" cy="731520"/>
          </a:xfrm>
          <a:prstGeom prst="rect">
            <a:avLst/>
          </a:prstGeom>
          <a:noFill/>
          <a:ln/>
        </p:spPr>
        <p:txBody>
          <a:bodyPr wrap="square" lIns="0" tIns="0" rIns="0" bIns="0" rtlCol="0" anchor="ctr"/>
          <a:lstStyle/>
          <a:p>
            <a:pPr indent="0" marL="0">
              <a:buNone/>
            </a:pPr>
            <a:r>
              <a:rPr lang="en-US" sz="4000" b="1" dirty="0">
                <a:solidFill>
                  <a:srgbClr val="6D2E46"/>
                </a:solidFill>
                <a:latin typeface="Cambria" pitchFamily="34" charset="0"/>
                <a:ea typeface="Cambria" pitchFamily="34" charset="-122"/>
                <a:cs typeface="Cambria" pitchFamily="34" charset="-120"/>
              </a:rPr>
              <a:t>3カ国</a:t>
            </a:r>
            <a:endParaRPr lang="en-US" sz="4000" dirty="0"/>
          </a:p>
        </p:txBody>
      </p:sp>
      <p:sp>
        <p:nvSpPr>
          <p:cNvPr id="10" name="Text 8"/>
          <p:cNvSpPr txBox="1"/>
          <p:nvPr/>
        </p:nvSpPr>
        <p:spPr>
          <a:xfrm>
            <a:off x="4297680" y="5047488"/>
            <a:ext cx="7132320" cy="45720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ソウル・パリ・ニューヨークで自分の足で実地リサーチ</a:t>
            </a:r>
            <a:endParaRPr lang="en-US" sz="1600" dirty="0"/>
          </a:p>
        </p:txBody>
      </p:sp>
      <p:sp>
        <p:nvSpPr>
          <p:cNvPr id="11" name="Shape 9"/>
          <p:cNvSpPr/>
          <p:nvPr/>
        </p:nvSpPr>
        <p:spPr>
          <a:xfrm>
            <a:off x="731520" y="5897880"/>
            <a:ext cx="10698480" cy="0"/>
          </a:xfrm>
          <a:prstGeom prst="line">
            <a:avLst/>
          </a:prstGeom>
          <a:noFill/>
          <a:ln w="12700">
            <a:solidFill>
              <a:srgbClr val="E0D6D2"/>
            </a:solidFill>
            <a:prstDash val="solid"/>
          </a:ln>
        </p:spPr>
      </p:sp>
      <p:sp>
        <p:nvSpPr>
          <p:cNvPr id="12" name="Text 10"/>
          <p:cNvSpPr txBox="1"/>
          <p:nvPr/>
        </p:nvSpPr>
        <p:spPr>
          <a:xfrm>
            <a:off x="777240" y="6217920"/>
            <a:ext cx="10698480" cy="914400"/>
          </a:xfrm>
          <a:prstGeom prst="rect">
            <a:avLst/>
          </a:prstGeom>
          <a:noFill/>
          <a:ln/>
        </p:spPr>
        <p:txBody>
          <a:bodyPr wrap="square" lIns="0" tIns="0" rIns="0" bIns="0" rtlCol="0" anchor="t"/>
          <a:lstStyle/>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ファッション心理学・コーチング・SNSマーケティングの3つで、ご自分でビジネスを立ち上げられるようになるまでをお手伝いします。</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ファッション起業で収益化する7つの技</a:t>
            </a:r>
            <a:endParaRPr lang="en-US" sz="3600" dirty="0"/>
          </a:p>
        </p:txBody>
      </p:sp>
      <p:sp>
        <p:nvSpPr>
          <p:cNvPr id="3" name="Text 1"/>
          <p:cNvSpPr txBox="1"/>
          <p:nvPr/>
        </p:nvSpPr>
        <p:spPr>
          <a:xfrm>
            <a:off x="777240" y="192024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一</a:t>
            </a:r>
            <a:endParaRPr lang="en-US" sz="2200" dirty="0"/>
          </a:p>
        </p:txBody>
      </p:sp>
      <p:sp>
        <p:nvSpPr>
          <p:cNvPr id="4" name="Text 2"/>
          <p:cNvSpPr txBox="1"/>
          <p:nvPr/>
        </p:nvSpPr>
        <p:spPr>
          <a:xfrm>
            <a:off x="1325880" y="187452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自身の強み</a:t>
            </a:r>
            <a:endParaRPr lang="en-US" sz="1600" dirty="0"/>
          </a:p>
        </p:txBody>
      </p:sp>
      <p:sp>
        <p:nvSpPr>
          <p:cNvPr id="5" name="Text 3"/>
          <p:cNvSpPr txBox="1"/>
          <p:nvPr/>
        </p:nvSpPr>
        <p:spPr>
          <a:xfrm>
            <a:off x="1325880" y="225856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ファッション心理学を学び、AIも使って商品をつくる</a:t>
            </a:r>
            <a:endParaRPr lang="en-US" sz="1200" dirty="0"/>
          </a:p>
        </p:txBody>
      </p:sp>
      <p:sp>
        <p:nvSpPr>
          <p:cNvPr id="6" name="Text 4"/>
          <p:cNvSpPr txBox="1"/>
          <p:nvPr/>
        </p:nvSpPr>
        <p:spPr>
          <a:xfrm>
            <a:off x="777240" y="297180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二</a:t>
            </a:r>
            <a:endParaRPr lang="en-US" sz="2200" dirty="0"/>
          </a:p>
        </p:txBody>
      </p:sp>
      <p:sp>
        <p:nvSpPr>
          <p:cNvPr id="7" name="Text 5"/>
          <p:cNvSpPr txBox="1"/>
          <p:nvPr/>
        </p:nvSpPr>
        <p:spPr>
          <a:xfrm>
            <a:off x="1325880" y="292608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SNSの発信</a:t>
            </a:r>
            <a:endParaRPr lang="en-US" sz="1600" dirty="0"/>
          </a:p>
        </p:txBody>
      </p:sp>
      <p:sp>
        <p:nvSpPr>
          <p:cNvPr id="8" name="Text 6"/>
          <p:cNvSpPr txBox="1"/>
          <p:nvPr/>
        </p:nvSpPr>
        <p:spPr>
          <a:xfrm>
            <a:off x="1325880" y="331012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インスタグラムを中心に情報を届ける</a:t>
            </a:r>
            <a:endParaRPr lang="en-US" sz="1200" dirty="0"/>
          </a:p>
        </p:txBody>
      </p:sp>
      <p:sp>
        <p:nvSpPr>
          <p:cNvPr id="9" name="Text 7"/>
          <p:cNvSpPr txBox="1"/>
          <p:nvPr/>
        </p:nvSpPr>
        <p:spPr>
          <a:xfrm>
            <a:off x="777240" y="402336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三</a:t>
            </a:r>
            <a:endParaRPr lang="en-US" sz="2200" dirty="0"/>
          </a:p>
        </p:txBody>
      </p:sp>
      <p:sp>
        <p:nvSpPr>
          <p:cNvPr id="10" name="Text 8"/>
          <p:cNvSpPr txBox="1"/>
          <p:nvPr/>
        </p:nvSpPr>
        <p:spPr>
          <a:xfrm>
            <a:off x="1325880" y="397764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動画</a:t>
            </a:r>
            <a:endParaRPr lang="en-US" sz="1600" dirty="0"/>
          </a:p>
        </p:txBody>
      </p:sp>
      <p:sp>
        <p:nvSpPr>
          <p:cNvPr id="11" name="Text 9"/>
          <p:cNvSpPr txBox="1"/>
          <p:nvPr/>
        </p:nvSpPr>
        <p:spPr>
          <a:xfrm>
            <a:off x="1325880" y="436168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リールをはじめとした動画の制作</a:t>
            </a:r>
            <a:endParaRPr lang="en-US" sz="1200" dirty="0"/>
          </a:p>
        </p:txBody>
      </p:sp>
      <p:sp>
        <p:nvSpPr>
          <p:cNvPr id="12" name="Text 10"/>
          <p:cNvSpPr txBox="1"/>
          <p:nvPr/>
        </p:nvSpPr>
        <p:spPr>
          <a:xfrm>
            <a:off x="777240" y="507492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四</a:t>
            </a:r>
            <a:endParaRPr lang="en-US" sz="2200" dirty="0"/>
          </a:p>
        </p:txBody>
      </p:sp>
      <p:sp>
        <p:nvSpPr>
          <p:cNvPr id="13" name="Text 11"/>
          <p:cNvSpPr txBox="1"/>
          <p:nvPr/>
        </p:nvSpPr>
        <p:spPr>
          <a:xfrm>
            <a:off x="1325880" y="502920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集客動線</a:t>
            </a:r>
            <a:endParaRPr lang="en-US" sz="1600" dirty="0"/>
          </a:p>
        </p:txBody>
      </p:sp>
      <p:sp>
        <p:nvSpPr>
          <p:cNvPr id="14" name="Text 12"/>
          <p:cNvSpPr txBox="1"/>
          <p:nvPr/>
        </p:nvSpPr>
        <p:spPr>
          <a:xfrm>
            <a:off x="1325880" y="541324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お客さまが集まる道を設計する。ここでもAI</a:t>
            </a:r>
            <a:endParaRPr lang="en-US" sz="1200" dirty="0"/>
          </a:p>
        </p:txBody>
      </p:sp>
      <p:sp>
        <p:nvSpPr>
          <p:cNvPr id="15" name="Text 13"/>
          <p:cNvSpPr txBox="1"/>
          <p:nvPr/>
        </p:nvSpPr>
        <p:spPr>
          <a:xfrm>
            <a:off x="6263640" y="192024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五</a:t>
            </a:r>
            <a:endParaRPr lang="en-US" sz="2200" dirty="0"/>
          </a:p>
        </p:txBody>
      </p:sp>
      <p:sp>
        <p:nvSpPr>
          <p:cNvPr id="16" name="Text 14"/>
          <p:cNvSpPr txBox="1"/>
          <p:nvPr/>
        </p:nvSpPr>
        <p:spPr>
          <a:xfrm>
            <a:off x="6812280" y="187452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LP・バナー</a:t>
            </a:r>
            <a:endParaRPr lang="en-US" sz="1600" dirty="0"/>
          </a:p>
        </p:txBody>
      </p:sp>
      <p:sp>
        <p:nvSpPr>
          <p:cNvPr id="17" name="Text 15"/>
          <p:cNvSpPr txBox="1"/>
          <p:nvPr/>
        </p:nvSpPr>
        <p:spPr>
          <a:xfrm>
            <a:off x="6812280" y="225856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申し込みページとバナーの制作。AIで時間を縮める</a:t>
            </a:r>
            <a:endParaRPr lang="en-US" sz="1200" dirty="0"/>
          </a:p>
        </p:txBody>
      </p:sp>
      <p:sp>
        <p:nvSpPr>
          <p:cNvPr id="18" name="Text 16"/>
          <p:cNvSpPr txBox="1"/>
          <p:nvPr/>
        </p:nvSpPr>
        <p:spPr>
          <a:xfrm>
            <a:off x="6263640" y="297180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六</a:t>
            </a:r>
            <a:endParaRPr lang="en-US" sz="2200" dirty="0"/>
          </a:p>
        </p:txBody>
      </p:sp>
      <p:sp>
        <p:nvSpPr>
          <p:cNvPr id="19" name="Text 17"/>
          <p:cNvSpPr txBox="1"/>
          <p:nvPr/>
        </p:nvSpPr>
        <p:spPr>
          <a:xfrm>
            <a:off x="6812280" y="292608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セールス</a:t>
            </a:r>
            <a:endParaRPr lang="en-US" sz="1600" dirty="0"/>
          </a:p>
        </p:txBody>
      </p:sp>
      <p:sp>
        <p:nvSpPr>
          <p:cNvPr id="20" name="Text 18"/>
          <p:cNvSpPr txBox="1"/>
          <p:nvPr/>
        </p:nvSpPr>
        <p:spPr>
          <a:xfrm>
            <a:off x="6812280" y="331012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売る技術</a:t>
            </a:r>
            <a:endParaRPr lang="en-US" sz="1200" dirty="0"/>
          </a:p>
        </p:txBody>
      </p:sp>
      <p:sp>
        <p:nvSpPr>
          <p:cNvPr id="21" name="Text 19"/>
          <p:cNvSpPr txBox="1"/>
          <p:nvPr/>
        </p:nvSpPr>
        <p:spPr>
          <a:xfrm>
            <a:off x="6263640" y="402336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七</a:t>
            </a:r>
            <a:endParaRPr lang="en-US" sz="2200" dirty="0"/>
          </a:p>
        </p:txBody>
      </p:sp>
      <p:sp>
        <p:nvSpPr>
          <p:cNvPr id="22" name="Text 20"/>
          <p:cNvSpPr txBox="1"/>
          <p:nvPr/>
        </p:nvSpPr>
        <p:spPr>
          <a:xfrm>
            <a:off x="6812280" y="397764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コーチング</a:t>
            </a:r>
            <a:endParaRPr lang="en-US" sz="1600" dirty="0"/>
          </a:p>
        </p:txBody>
      </p:sp>
      <p:sp>
        <p:nvSpPr>
          <p:cNvPr id="23" name="Text 21"/>
          <p:cNvSpPr txBox="1"/>
          <p:nvPr/>
        </p:nvSpPr>
        <p:spPr>
          <a:xfrm>
            <a:off x="6812280" y="436168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お客さまとご自分に向き合う技術</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AIは、何をしてくれるのか</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AIは、ゼロから何かを作る道具ではありません。</a:t>
            </a:r>
            <a:endParaRPr lang="en-US" sz="1400" dirty="0"/>
          </a:p>
        </p:txBody>
      </p:sp>
      <p:sp>
        <p:nvSpPr>
          <p:cNvPr id="4" name="Shape 2"/>
          <p:cNvSpPr/>
          <p:nvPr/>
        </p:nvSpPr>
        <p:spPr>
          <a:xfrm>
            <a:off x="777240" y="1920240"/>
            <a:ext cx="10698480" cy="1371600"/>
          </a:xfrm>
          <a:prstGeom prst="rect">
            <a:avLst/>
          </a:prstGeom>
          <a:solidFill>
            <a:srgbClr val="FFFFFF"/>
          </a:solidFill>
          <a:ln w="12700">
            <a:solidFill>
              <a:srgbClr val="E0D6D2"/>
            </a:solidFill>
            <a:prstDash val="solid"/>
          </a:ln>
        </p:spPr>
      </p:sp>
      <p:sp>
        <p:nvSpPr>
          <p:cNvPr id="5" name="Text 3"/>
          <p:cNvSpPr txBox="1"/>
          <p:nvPr/>
        </p:nvSpPr>
        <p:spPr>
          <a:xfrm>
            <a:off x="1143000" y="2240280"/>
            <a:ext cx="10058400" cy="822960"/>
          </a:xfrm>
          <a:prstGeom prst="rect">
            <a:avLst/>
          </a:prstGeom>
          <a:noFill/>
          <a:ln/>
        </p:spPr>
        <p:txBody>
          <a:bodyPr wrap="square" lIns="0" tIns="0" rIns="0" bIns="0" rtlCol="0" anchor="ctr"/>
          <a:lstStyle/>
          <a:p>
            <a:pPr indent="0" marL="0">
              <a:lnSpc>
                <a:spcPts val="3400"/>
              </a:lnSpc>
              <a:buNone/>
            </a:pPr>
            <a:r>
              <a:rPr lang="en-US" sz="1900" dirty="0">
                <a:solidFill>
                  <a:srgbClr val="332B29"/>
                </a:solidFill>
                <a:latin typeface="Cambria" pitchFamily="34" charset="0"/>
                <a:ea typeface="Cambria" pitchFamily="34" charset="-122"/>
                <a:cs typeface="Cambria" pitchFamily="34" charset="-120"/>
              </a:rPr>
              <a:t>自分の中にすでにあるものを、投稿文・画像・教材に展開してくれる共同制作者です。</a:t>
            </a:r>
            <a:endParaRPr lang="en-US" sz="1900" dirty="0"/>
          </a:p>
          <a:p>
            <a:pPr indent="0" marL="0">
              <a:lnSpc>
                <a:spcPts val="3400"/>
              </a:lnSpc>
              <a:buNone/>
            </a:pPr>
            <a:r>
              <a:rPr lang="en-US" sz="1900" dirty="0">
                <a:solidFill>
                  <a:srgbClr val="332B29"/>
                </a:solidFill>
                <a:latin typeface="Cambria" pitchFamily="34" charset="0"/>
                <a:ea typeface="Cambria" pitchFamily="34" charset="-122"/>
                <a:cs typeface="Cambria" pitchFamily="34" charset="-120"/>
              </a:rPr>
              <a:t>素材は、あなたの人生の中にあります。</a:t>
            </a:r>
            <a:endParaRPr lang="en-US" sz="1900" dirty="0"/>
          </a:p>
        </p:txBody>
      </p:sp>
      <p:sp>
        <p:nvSpPr>
          <p:cNvPr id="6" name="Text 4"/>
          <p:cNvSpPr txBox="1"/>
          <p:nvPr/>
        </p:nvSpPr>
        <p:spPr>
          <a:xfrm>
            <a:off x="777240" y="3703320"/>
            <a:ext cx="5120640" cy="41148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画像生成・アイデア出し</a:t>
            </a:r>
            <a:endParaRPr lang="en-US" sz="1600" dirty="0"/>
          </a:p>
        </p:txBody>
      </p:sp>
      <p:sp>
        <p:nvSpPr>
          <p:cNvPr id="7" name="Text 5"/>
          <p:cNvSpPr txBox="1"/>
          <p:nvPr/>
        </p:nvSpPr>
        <p:spPr>
          <a:xfrm>
            <a:off x="6035040" y="3703320"/>
            <a:ext cx="5394960" cy="41148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ChatGPT／Claude</a:t>
            </a:r>
            <a:endParaRPr lang="en-US" sz="1600" dirty="0"/>
          </a:p>
        </p:txBody>
      </p:sp>
      <p:sp>
        <p:nvSpPr>
          <p:cNvPr id="8" name="Shape 6"/>
          <p:cNvSpPr/>
          <p:nvPr/>
        </p:nvSpPr>
        <p:spPr>
          <a:xfrm>
            <a:off x="731520" y="4251960"/>
            <a:ext cx="10698480" cy="0"/>
          </a:xfrm>
          <a:prstGeom prst="line">
            <a:avLst/>
          </a:prstGeom>
          <a:noFill/>
          <a:ln w="12700">
            <a:solidFill>
              <a:srgbClr val="E0D6D2"/>
            </a:solidFill>
            <a:prstDash val="solid"/>
          </a:ln>
        </p:spPr>
      </p:sp>
      <p:sp>
        <p:nvSpPr>
          <p:cNvPr id="9" name="Text 7"/>
          <p:cNvSpPr txBox="1"/>
          <p:nvPr/>
        </p:nvSpPr>
        <p:spPr>
          <a:xfrm>
            <a:off x="777240" y="4572000"/>
            <a:ext cx="5120640" cy="41148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動画編集・リール作成</a:t>
            </a:r>
            <a:endParaRPr lang="en-US" sz="1600" dirty="0"/>
          </a:p>
        </p:txBody>
      </p:sp>
      <p:sp>
        <p:nvSpPr>
          <p:cNvPr id="10" name="Text 8"/>
          <p:cNvSpPr txBox="1"/>
          <p:nvPr/>
        </p:nvSpPr>
        <p:spPr>
          <a:xfrm>
            <a:off x="6035040" y="4572000"/>
            <a:ext cx="5394960" cy="41148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Claude Code</a:t>
            </a:r>
            <a:endParaRPr lang="en-US" sz="1600" dirty="0"/>
          </a:p>
        </p:txBody>
      </p:sp>
      <p:sp>
        <p:nvSpPr>
          <p:cNvPr id="11" name="Shape 9"/>
          <p:cNvSpPr/>
          <p:nvPr/>
        </p:nvSpPr>
        <p:spPr>
          <a:xfrm>
            <a:off x="731520" y="5120640"/>
            <a:ext cx="10698480" cy="0"/>
          </a:xfrm>
          <a:prstGeom prst="line">
            <a:avLst/>
          </a:prstGeom>
          <a:noFill/>
          <a:ln w="12700">
            <a:solidFill>
              <a:srgbClr val="E0D6D2"/>
            </a:solidFill>
            <a:prstDash val="solid"/>
          </a:ln>
        </p:spPr>
      </p:sp>
      <p:sp>
        <p:nvSpPr>
          <p:cNvPr id="12" name="Text 10"/>
          <p:cNvSpPr txBox="1"/>
          <p:nvPr/>
        </p:nvSpPr>
        <p:spPr>
          <a:xfrm>
            <a:off x="777240" y="5440680"/>
            <a:ext cx="5120640" cy="41148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LP作成・アプリ作成</a:t>
            </a:r>
            <a:endParaRPr lang="en-US" sz="1600" dirty="0"/>
          </a:p>
        </p:txBody>
      </p:sp>
      <p:sp>
        <p:nvSpPr>
          <p:cNvPr id="13" name="Text 11"/>
          <p:cNvSpPr txBox="1"/>
          <p:nvPr/>
        </p:nvSpPr>
        <p:spPr>
          <a:xfrm>
            <a:off x="6035040" y="5440680"/>
            <a:ext cx="5394960" cy="41148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Claude Code／Codex</a:t>
            </a:r>
            <a:endParaRPr lang="en-US" sz="1600" dirty="0"/>
          </a:p>
        </p:txBody>
      </p:sp>
      <p:sp>
        <p:nvSpPr>
          <p:cNvPr id="14" name="Shape 12"/>
          <p:cNvSpPr/>
          <p:nvPr/>
        </p:nvSpPr>
        <p:spPr>
          <a:xfrm>
            <a:off x="731520" y="5989320"/>
            <a:ext cx="10698480" cy="0"/>
          </a:xfrm>
          <a:prstGeom prst="line">
            <a:avLst/>
          </a:prstGeom>
          <a:noFill/>
          <a:ln w="12700">
            <a:solidFill>
              <a:srgbClr val="E0D6D2"/>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6ヶ月のロードマップ</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1年かかることを、6ヶ月に凝縮しています。</a:t>
            </a:r>
            <a:endParaRPr lang="en-US" sz="1400" dirty="0"/>
          </a:p>
        </p:txBody>
      </p:sp>
      <p:sp>
        <p:nvSpPr>
          <p:cNvPr id="4" name="Shape 2"/>
          <p:cNvSpPr/>
          <p:nvPr/>
        </p:nvSpPr>
        <p:spPr>
          <a:xfrm>
            <a:off x="777240" y="1965960"/>
            <a:ext cx="5120640" cy="3291840"/>
          </a:xfrm>
          <a:prstGeom prst="rect">
            <a:avLst/>
          </a:prstGeom>
          <a:solidFill>
            <a:srgbClr val="FFFFFF"/>
          </a:solidFill>
          <a:ln w="12700">
            <a:solidFill>
              <a:srgbClr val="E0D6D2"/>
            </a:solidFill>
            <a:prstDash val="solid"/>
          </a:ln>
        </p:spPr>
      </p:sp>
      <p:sp>
        <p:nvSpPr>
          <p:cNvPr id="5" name="Text 3"/>
          <p:cNvSpPr txBox="1"/>
          <p:nvPr/>
        </p:nvSpPr>
        <p:spPr>
          <a:xfrm>
            <a:off x="1097280" y="2240280"/>
            <a:ext cx="4572000" cy="50292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1 〜 4ヶ月</a:t>
            </a:r>
            <a:endParaRPr lang="en-US" sz="2600" dirty="0"/>
          </a:p>
        </p:txBody>
      </p:sp>
      <p:sp>
        <p:nvSpPr>
          <p:cNvPr id="6" name="Text 4"/>
          <p:cNvSpPr txBox="1"/>
          <p:nvPr/>
        </p:nvSpPr>
        <p:spPr>
          <a:xfrm>
            <a:off x="1097280" y="2788920"/>
            <a:ext cx="457200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土台をつくる</a:t>
            </a:r>
            <a:endParaRPr lang="en-US" sz="1500" dirty="0"/>
          </a:p>
        </p:txBody>
      </p:sp>
      <p:sp>
        <p:nvSpPr>
          <p:cNvPr id="7" name="Text 5"/>
          <p:cNvSpPr txBox="1"/>
          <p:nvPr/>
        </p:nvSpPr>
        <p:spPr>
          <a:xfrm>
            <a:off x="1097280" y="3246120"/>
            <a:ext cx="4572000" cy="2377440"/>
          </a:xfrm>
          <a:prstGeom prst="rect">
            <a:avLst/>
          </a:prstGeom>
          <a:noFill/>
          <a:ln/>
        </p:spPr>
        <p:txBody>
          <a:bodyPr wrap="square" lIns="0" tIns="0" rIns="0" bIns="0" rtlCol="0" anchor="t"/>
          <a:lstStyle/>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インスタマーケティング</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ファッション心理学</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コーチング</a:t>
            </a:r>
            <a:endParaRPr lang="en-US" sz="1400" dirty="0"/>
          </a:p>
          <a:p>
            <a:pPr indent="0" marL="0">
              <a:lnSpc>
                <a:spcPts val="2400"/>
              </a:lnSpc>
              <a:buNone/>
            </a:pP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売れる商品と、仕組みの土台をつくります。</a:t>
            </a:r>
            <a:endParaRPr lang="en-US" sz="1400" dirty="0"/>
          </a:p>
        </p:txBody>
      </p:sp>
      <p:sp>
        <p:nvSpPr>
          <p:cNvPr id="8" name="Shape 6"/>
          <p:cNvSpPr/>
          <p:nvPr/>
        </p:nvSpPr>
        <p:spPr>
          <a:xfrm>
            <a:off x="6355080" y="1965960"/>
            <a:ext cx="5120640" cy="3291840"/>
          </a:xfrm>
          <a:prstGeom prst="rect">
            <a:avLst/>
          </a:prstGeom>
          <a:solidFill>
            <a:srgbClr val="FFFFFF"/>
          </a:solidFill>
          <a:ln w="12700">
            <a:solidFill>
              <a:srgbClr val="E0D6D2"/>
            </a:solidFill>
            <a:prstDash val="solid"/>
          </a:ln>
        </p:spPr>
      </p:sp>
      <p:sp>
        <p:nvSpPr>
          <p:cNvPr id="9" name="Text 7"/>
          <p:cNvSpPr txBox="1"/>
          <p:nvPr/>
        </p:nvSpPr>
        <p:spPr>
          <a:xfrm>
            <a:off x="6675120" y="2240280"/>
            <a:ext cx="4572000" cy="50292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5 〜 6ヶ月</a:t>
            </a:r>
            <a:endParaRPr lang="en-US" sz="2600" dirty="0"/>
          </a:p>
        </p:txBody>
      </p:sp>
      <p:sp>
        <p:nvSpPr>
          <p:cNvPr id="10" name="Text 8"/>
          <p:cNvSpPr txBox="1"/>
          <p:nvPr/>
        </p:nvSpPr>
        <p:spPr>
          <a:xfrm>
            <a:off x="6675120" y="2788920"/>
            <a:ext cx="457200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売れる仕組みにする</a:t>
            </a:r>
            <a:endParaRPr lang="en-US" sz="1500" dirty="0"/>
          </a:p>
        </p:txBody>
      </p:sp>
      <p:sp>
        <p:nvSpPr>
          <p:cNvPr id="11" name="Text 9"/>
          <p:cNvSpPr txBox="1"/>
          <p:nvPr/>
        </p:nvSpPr>
        <p:spPr>
          <a:xfrm>
            <a:off x="6675120" y="3246120"/>
            <a:ext cx="4572000" cy="2011680"/>
          </a:xfrm>
          <a:prstGeom prst="rect">
            <a:avLst/>
          </a:prstGeom>
          <a:noFill/>
          <a:ln/>
        </p:spPr>
        <p:txBody>
          <a:bodyPr wrap="square" lIns="0" tIns="0" rIns="0" bIns="0" rtlCol="0" anchor="t"/>
          <a:lstStyle/>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はじめての販売に向けて動く</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プロモーションの強化</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売れる仕組み化</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ビジネスの改善と加速</a:t>
            </a:r>
            <a:endParaRPr lang="en-US" sz="1400" dirty="0"/>
          </a:p>
        </p:txBody>
      </p:sp>
      <p:sp>
        <p:nvSpPr>
          <p:cNvPr id="12" name="Text 10"/>
          <p:cNvSpPr txBox="1"/>
          <p:nvPr/>
        </p:nvSpPr>
        <p:spPr>
          <a:xfrm>
            <a:off x="777240" y="5577840"/>
            <a:ext cx="10698480" cy="457200"/>
          </a:xfrm>
          <a:prstGeom prst="rect">
            <a:avLst/>
          </a:prstGeom>
          <a:noFill/>
          <a:ln/>
        </p:spPr>
        <p:txBody>
          <a:bodyPr wrap="square" lIns="0" tIns="0" rIns="0" bIns="0" rtlCol="0" anchor="ctr"/>
          <a:lstStyle/>
          <a:p>
            <a:pPr indent="0" marL="0">
              <a:buNone/>
            </a:pPr>
            <a:r>
              <a:rPr lang="en-US" sz="1500" dirty="0">
                <a:solidFill>
                  <a:srgbClr val="6A5A5E"/>
                </a:solidFill>
                <a:latin typeface="Calibri" pitchFamily="34" charset="0"/>
                <a:ea typeface="Calibri" pitchFamily="34" charset="-122"/>
                <a:cs typeface="Calibri" pitchFamily="34" charset="-120"/>
              </a:rPr>
              <a:t>3ヶ月で区切っても構いません。そこまででも、売るものは手元に残ります。</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一</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お名前と数字は、ご本人の許可をいただいて載せています。</a:t>
            </a:r>
            <a:endParaRPr lang="en-US" sz="1400" dirty="0"/>
          </a:p>
        </p:txBody>
      </p:sp>
      <p:sp>
        <p:nvSpPr>
          <p:cNvPr id="4" name="Text 2"/>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sp>
        <p:nvSpPr>
          <p:cNvPr id="5" name="Text 3"/>
          <p:cNvSpPr txBox="1"/>
          <p:nvPr/>
        </p:nvSpPr>
        <p:spPr>
          <a:xfrm>
            <a:off x="777240" y="1828800"/>
            <a:ext cx="301752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船渡恭子 様（50代）</a:t>
            </a:r>
            <a:endParaRPr lang="en-US" sz="1700" dirty="0"/>
          </a:p>
        </p:txBody>
      </p:sp>
      <p:sp>
        <p:nvSpPr>
          <p:cNvPr id="6" name="Text 4"/>
          <p:cNvSpPr txBox="1"/>
          <p:nvPr/>
        </p:nvSpPr>
        <p:spPr>
          <a:xfrm>
            <a:off x="777240" y="2194560"/>
            <a:ext cx="301752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帽子コーディネーター／デザイナー</a:t>
            </a:r>
            <a:endParaRPr lang="en-US" sz="1100" dirty="0"/>
          </a:p>
        </p:txBody>
      </p:sp>
      <p:sp>
        <p:nvSpPr>
          <p:cNvPr id="7" name="Text 5"/>
          <p:cNvSpPr txBox="1"/>
          <p:nvPr/>
        </p:nvSpPr>
        <p:spPr>
          <a:xfrm>
            <a:off x="77724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8" name="Text 6"/>
          <p:cNvSpPr txBox="1"/>
          <p:nvPr/>
        </p:nvSpPr>
        <p:spPr>
          <a:xfrm>
            <a:off x="777240" y="2880360"/>
            <a:ext cx="301752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帽子でビジネスができるのか、不安がいっぱいでした。</a:t>
            </a:r>
            <a:endParaRPr lang="en-US" sz="1150" dirty="0"/>
          </a:p>
        </p:txBody>
      </p:sp>
      <p:sp>
        <p:nvSpPr>
          <p:cNvPr id="9" name="Text 7"/>
          <p:cNvSpPr txBox="1"/>
          <p:nvPr/>
        </p:nvSpPr>
        <p:spPr>
          <a:xfrm>
            <a:off x="77724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0" name="Text 8"/>
          <p:cNvSpPr txBox="1"/>
          <p:nvPr/>
        </p:nvSpPr>
        <p:spPr>
          <a:xfrm>
            <a:off x="777240" y="4005072"/>
            <a:ext cx="301752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帽子ブランドを立ち上げ、オンラインストアを運営。</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初のポップアップショップで7桁を達成。</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フォロワーは5,000から19,000へ。</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ライブをすれば必ず売れる状況が続いています。</a:t>
            </a:r>
            <a:endParaRPr lang="en-US" sz="1200" dirty="0"/>
          </a:p>
        </p:txBody>
      </p:sp>
      <p:pic>
        <p:nvPicPr>
          <p:cNvPr id="11" name="Image 0" descr="preencoded.png">    </p:cNvPr>
          <p:cNvPicPr>
            <a:picLocks noChangeAspect="1"/>
          </p:cNvPicPr>
          <p:nvPr/>
        </p:nvPicPr>
        <p:blipFill>
          <a:blip r:embed="rId1"/>
          <a:stretch>
            <a:fillRect/>
          </a:stretch>
        </p:blipFill>
        <p:spPr>
          <a:xfrm>
            <a:off x="4023360" y="1965960"/>
            <a:ext cx="1600200" cy="2128266"/>
          </a:xfrm>
          <a:prstGeom prst="rect">
            <a:avLst/>
          </a:prstGeom>
        </p:spPr>
      </p:pic>
      <p:sp>
        <p:nvSpPr>
          <p:cNvPr id="12" name="Text 9"/>
          <p:cNvSpPr txBox="1"/>
          <p:nvPr/>
        </p:nvSpPr>
        <p:spPr>
          <a:xfrm>
            <a:off x="5760720" y="1828800"/>
            <a:ext cx="301752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冨永彩心 さん（50代）</a:t>
            </a:r>
            <a:endParaRPr lang="en-US" sz="1700" dirty="0"/>
          </a:p>
        </p:txBody>
      </p:sp>
      <p:sp>
        <p:nvSpPr>
          <p:cNvPr id="13" name="Text 10"/>
          <p:cNvSpPr txBox="1"/>
          <p:nvPr/>
        </p:nvSpPr>
        <p:spPr>
          <a:xfrm>
            <a:off x="5760720" y="2194560"/>
            <a:ext cx="301752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ブランディングスタイリスト</a:t>
            </a:r>
            <a:endParaRPr lang="en-US" sz="1100" dirty="0"/>
          </a:p>
        </p:txBody>
      </p:sp>
      <p:sp>
        <p:nvSpPr>
          <p:cNvPr id="14" name="Text 11"/>
          <p:cNvSpPr txBox="1"/>
          <p:nvPr/>
        </p:nvSpPr>
        <p:spPr>
          <a:xfrm>
            <a:off x="576072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15" name="Text 12"/>
          <p:cNvSpPr txBox="1"/>
          <p:nvPr/>
        </p:nvSpPr>
        <p:spPr>
          <a:xfrm>
            <a:off x="5760720" y="2880360"/>
            <a:ext cx="301752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集客は得意でしたが、3,000円の商品は売れても高額が難しく、コーチングを学びました。</a:t>
            </a:r>
            <a:endParaRPr lang="en-US" sz="1150" dirty="0"/>
          </a:p>
        </p:txBody>
      </p:sp>
      <p:sp>
        <p:nvSpPr>
          <p:cNvPr id="16" name="Text 13"/>
          <p:cNvSpPr txBox="1"/>
          <p:nvPr/>
        </p:nvSpPr>
        <p:spPr>
          <a:xfrm>
            <a:off x="576072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7" name="Text 14"/>
          <p:cNvSpPr txBox="1"/>
          <p:nvPr/>
        </p:nvSpPr>
        <p:spPr>
          <a:xfrm>
            <a:off x="5760720" y="4005072"/>
            <a:ext cx="301752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30万円程度から7桁に。</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インスタ 7.2万人。</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2024年3月に書籍も出版されました。</a:t>
            </a:r>
            <a:endParaRPr lang="en-US" sz="1200" dirty="0"/>
          </a:p>
        </p:txBody>
      </p:sp>
      <p:pic>
        <p:nvPicPr>
          <p:cNvPr id="18" name="Image 1" descr="preencoded.png">    </p:cNvPr>
          <p:cNvPicPr>
            <a:picLocks noChangeAspect="1"/>
          </p:cNvPicPr>
          <p:nvPr/>
        </p:nvPicPr>
        <p:blipFill>
          <a:blip r:embed="rId2"/>
          <a:stretch>
            <a:fillRect/>
          </a:stretch>
        </p:blipFill>
        <p:spPr>
          <a:xfrm>
            <a:off x="9006840" y="1965960"/>
            <a:ext cx="1600200" cy="212826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二</a:t>
            </a:r>
            <a:endParaRPr lang="en-US" sz="3600" dirty="0"/>
          </a:p>
        </p:txBody>
      </p:sp>
      <p:sp>
        <p:nvSpPr>
          <p:cNvPr id="3" name="Text 1"/>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sp>
        <p:nvSpPr>
          <p:cNvPr id="4" name="Text 2"/>
          <p:cNvSpPr txBox="1"/>
          <p:nvPr/>
        </p:nvSpPr>
        <p:spPr>
          <a:xfrm>
            <a:off x="777240" y="1828800"/>
            <a:ext cx="420624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元地陽子 様（40代）</a:t>
            </a:r>
            <a:endParaRPr lang="en-US" sz="1700" dirty="0"/>
          </a:p>
        </p:txBody>
      </p:sp>
      <p:sp>
        <p:nvSpPr>
          <p:cNvPr id="5" name="Text 3"/>
          <p:cNvSpPr txBox="1"/>
          <p:nvPr/>
        </p:nvSpPr>
        <p:spPr>
          <a:xfrm>
            <a:off x="777240" y="2194560"/>
            <a:ext cx="420624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神戸・ファッションスタイリスト／セレクトショップ経営</a:t>
            </a:r>
            <a:endParaRPr lang="en-US" sz="1100" dirty="0"/>
          </a:p>
        </p:txBody>
      </p:sp>
      <p:sp>
        <p:nvSpPr>
          <p:cNvPr id="6" name="Text 4"/>
          <p:cNvSpPr txBox="1"/>
          <p:nvPr/>
        </p:nvSpPr>
        <p:spPr>
          <a:xfrm>
            <a:off x="77724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7" name="Text 5"/>
          <p:cNvSpPr txBox="1"/>
          <p:nvPr/>
        </p:nvSpPr>
        <p:spPr>
          <a:xfrm>
            <a:off x="777240" y="2880360"/>
            <a:ext cx="420624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はじめは、何をすれば良いのか分かりませんでした。ファッション心理学とコーチングが必要だと思い、入りました。</a:t>
            </a:r>
            <a:endParaRPr lang="en-US" sz="1150" dirty="0"/>
          </a:p>
        </p:txBody>
      </p:sp>
      <p:sp>
        <p:nvSpPr>
          <p:cNvPr id="8" name="Text 6"/>
          <p:cNvSpPr txBox="1"/>
          <p:nvPr/>
        </p:nvSpPr>
        <p:spPr>
          <a:xfrm>
            <a:off x="77724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9" name="Text 7"/>
          <p:cNvSpPr txBox="1"/>
          <p:nvPr/>
        </p:nvSpPr>
        <p:spPr>
          <a:xfrm>
            <a:off x="777240" y="4005072"/>
            <a:ext cx="420624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アクセサリーブランドを立ち上げ、初月から20万円以上。</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YouTube 4万人以上／インスタ 2.1万人。</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いまはアパレルも作り、ライブで完売しています。</a:t>
            </a:r>
            <a:endParaRPr lang="en-US" sz="1200" dirty="0"/>
          </a:p>
          <a:p>
            <a:pPr indent="0" marL="0">
              <a:lnSpc>
                <a:spcPts val="1900"/>
              </a:lnSpc>
              <a:buNone/>
            </a:pP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「行動するということが、本当に重要です」</a:t>
            </a:r>
            <a:endParaRPr lang="en-US" sz="1200" dirty="0"/>
          </a:p>
        </p:txBody>
      </p:sp>
      <p:sp>
        <p:nvSpPr>
          <p:cNvPr id="10" name="Text 8"/>
          <p:cNvSpPr txBox="1"/>
          <p:nvPr/>
        </p:nvSpPr>
        <p:spPr>
          <a:xfrm>
            <a:off x="6583680" y="1828800"/>
            <a:ext cx="365760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岩高要子 さん</a:t>
            </a:r>
            <a:endParaRPr lang="en-US" sz="1700" dirty="0"/>
          </a:p>
        </p:txBody>
      </p:sp>
      <p:sp>
        <p:nvSpPr>
          <p:cNvPr id="11" name="Text 9"/>
          <p:cNvSpPr txBox="1"/>
          <p:nvPr/>
        </p:nvSpPr>
        <p:spPr>
          <a:xfrm>
            <a:off x="6583680" y="2194560"/>
            <a:ext cx="365760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神戸・セレクトショップ3店舗経営／専務取締役</a:t>
            </a:r>
            <a:endParaRPr lang="en-US" sz="1100" dirty="0"/>
          </a:p>
        </p:txBody>
      </p:sp>
      <p:sp>
        <p:nvSpPr>
          <p:cNvPr id="12" name="Text 10"/>
          <p:cNvSpPr txBox="1"/>
          <p:nvPr/>
        </p:nvSpPr>
        <p:spPr>
          <a:xfrm>
            <a:off x="658368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13" name="Text 11"/>
          <p:cNvSpPr txBox="1"/>
          <p:nvPr/>
        </p:nvSpPr>
        <p:spPr>
          <a:xfrm>
            <a:off x="6583680" y="2880360"/>
            <a:ext cx="365760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コロナで来店が減り、独自にインスタをやっていましたが、成果が出ませんでした。</a:t>
            </a:r>
            <a:endParaRPr lang="en-US" sz="1150" dirty="0"/>
          </a:p>
        </p:txBody>
      </p:sp>
      <p:sp>
        <p:nvSpPr>
          <p:cNvPr id="14" name="Text 12"/>
          <p:cNvSpPr txBox="1"/>
          <p:nvPr/>
        </p:nvSpPr>
        <p:spPr>
          <a:xfrm>
            <a:off x="658368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5" name="Text 13"/>
          <p:cNvSpPr txBox="1"/>
          <p:nvPr/>
        </p:nvSpPr>
        <p:spPr>
          <a:xfrm>
            <a:off x="6583680" y="4005072"/>
            <a:ext cx="365760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スタッフ全員でインスタ運用を受講。</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インスタ経由の問い合わせと購入が急増し、</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海外からのご注文も。</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売上はコロナ前以上になりました。</a:t>
            </a:r>
            <a:endParaRPr lang="en-US" sz="1200" dirty="0"/>
          </a:p>
        </p:txBody>
      </p:sp>
      <p:pic>
        <p:nvPicPr>
          <p:cNvPr id="16" name="Image 0" descr="preencoded.png">    </p:cNvPr>
          <p:cNvPicPr>
            <a:picLocks noChangeAspect="1"/>
          </p:cNvPicPr>
          <p:nvPr/>
        </p:nvPicPr>
        <p:blipFill>
          <a:blip r:embed="rId1"/>
          <a:stretch>
            <a:fillRect/>
          </a:stretch>
        </p:blipFill>
        <p:spPr>
          <a:xfrm>
            <a:off x="10469880" y="1965960"/>
            <a:ext cx="1463040" cy="194584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三</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「資格はあるのに、仕事にならない」ところから始まった方です。</a:t>
            </a:r>
            <a:endParaRPr lang="en-US" sz="1400" dirty="0"/>
          </a:p>
        </p:txBody>
      </p:sp>
      <p:sp>
        <p:nvSpPr>
          <p:cNvPr id="4" name="Text 2"/>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sp>
        <p:nvSpPr>
          <p:cNvPr id="5" name="Text 3"/>
          <p:cNvSpPr txBox="1"/>
          <p:nvPr/>
        </p:nvSpPr>
        <p:spPr>
          <a:xfrm>
            <a:off x="777240" y="1828800"/>
            <a:ext cx="457200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鈴木 様（50代）</a:t>
            </a:r>
            <a:endParaRPr lang="en-US" sz="1700" dirty="0"/>
          </a:p>
        </p:txBody>
      </p:sp>
      <p:sp>
        <p:nvSpPr>
          <p:cNvPr id="6" name="Text 4"/>
          <p:cNvSpPr txBox="1"/>
          <p:nvPr/>
        </p:nvSpPr>
        <p:spPr>
          <a:xfrm>
            <a:off x="777240" y="2194560"/>
            <a:ext cx="457200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魅力開花セールスコーチ／元・会社員</a:t>
            </a:r>
            <a:endParaRPr lang="en-US" sz="1100" dirty="0"/>
          </a:p>
        </p:txBody>
      </p:sp>
      <p:sp>
        <p:nvSpPr>
          <p:cNvPr id="7" name="Text 5"/>
          <p:cNvSpPr txBox="1"/>
          <p:nvPr/>
        </p:nvSpPr>
        <p:spPr>
          <a:xfrm>
            <a:off x="77724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8" name="Text 6"/>
          <p:cNvSpPr txBox="1"/>
          <p:nvPr/>
        </p:nvSpPr>
        <p:spPr>
          <a:xfrm>
            <a:off x="777240" y="2880360"/>
            <a:ext cx="457200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イメージコンサルタントで起業する人が増え、どう差別化するか、プロとしてやっていく自信がないことが悩みでした。（スタイリストやアパレルの経験がなかったので）</a:t>
            </a:r>
            <a:endParaRPr lang="en-US" sz="1150" dirty="0"/>
          </a:p>
        </p:txBody>
      </p:sp>
      <p:sp>
        <p:nvSpPr>
          <p:cNvPr id="9" name="Text 7"/>
          <p:cNvSpPr txBox="1"/>
          <p:nvPr/>
        </p:nvSpPr>
        <p:spPr>
          <a:xfrm>
            <a:off x="77724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0" name="Text 8"/>
          <p:cNvSpPr txBox="1"/>
          <p:nvPr/>
        </p:nvSpPr>
        <p:spPr>
          <a:xfrm>
            <a:off x="777240" y="4005072"/>
            <a:ext cx="457200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自分の経歴と強みを洗い出すうちに、会社員時代の経験を活かした商品が作れると分かりました。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ファッションにこだわらない、新しい商品ができました。</a:t>
            </a:r>
            <a:endParaRPr lang="en-US" sz="1200" dirty="0"/>
          </a:p>
          <a:p>
            <a:pPr indent="0" marL="0">
              <a:lnSpc>
                <a:spcPts val="1900"/>
              </a:lnSpc>
              <a:buNone/>
            </a:pP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「起業家として出発する土台づくりができました」</a:t>
            </a:r>
            <a:endParaRPr lang="en-US" sz="1200" dirty="0"/>
          </a:p>
        </p:txBody>
      </p:sp>
      <p:sp>
        <p:nvSpPr>
          <p:cNvPr id="11" name="Text 9"/>
          <p:cNvSpPr txBox="1"/>
          <p:nvPr/>
        </p:nvSpPr>
        <p:spPr>
          <a:xfrm>
            <a:off x="6400800" y="1828800"/>
            <a:ext cx="493776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石田 様（50代）</a:t>
            </a:r>
            <a:endParaRPr lang="en-US" sz="1700" dirty="0"/>
          </a:p>
        </p:txBody>
      </p:sp>
      <p:sp>
        <p:nvSpPr>
          <p:cNvPr id="12" name="Text 10"/>
          <p:cNvSpPr txBox="1"/>
          <p:nvPr/>
        </p:nvSpPr>
        <p:spPr>
          <a:xfrm>
            <a:off x="6400800" y="2194560"/>
            <a:ext cx="493776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ウェルビーイングファッション®︎スタイリスト</a:t>
            </a:r>
            <a:endParaRPr lang="en-US" sz="1100" dirty="0"/>
          </a:p>
        </p:txBody>
      </p:sp>
      <p:sp>
        <p:nvSpPr>
          <p:cNvPr id="13" name="Text 11"/>
          <p:cNvSpPr txBox="1"/>
          <p:nvPr/>
        </p:nvSpPr>
        <p:spPr>
          <a:xfrm>
            <a:off x="640080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14" name="Text 12"/>
          <p:cNvSpPr txBox="1"/>
          <p:nvPr/>
        </p:nvSpPr>
        <p:spPr>
          <a:xfrm>
            <a:off x="6400800" y="2880360"/>
            <a:ext cx="493776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ウェルビーイングファッションを広めたいと思っていましたが、ビジネスの方法が分かりませんでした。インスタもLINEもLPも知りませんでした。</a:t>
            </a:r>
            <a:endParaRPr lang="en-US" sz="1150" dirty="0"/>
          </a:p>
        </p:txBody>
      </p:sp>
      <p:sp>
        <p:nvSpPr>
          <p:cNvPr id="15" name="Text 13"/>
          <p:cNvSpPr txBox="1"/>
          <p:nvPr/>
        </p:nvSpPr>
        <p:spPr>
          <a:xfrm>
            <a:off x="640080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6" name="Text 14"/>
          <p:cNvSpPr txBox="1"/>
          <p:nvPr/>
        </p:nvSpPr>
        <p:spPr>
          <a:xfrm>
            <a:off x="6400800" y="4005072"/>
            <a:ext cx="493776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ファッション心理学で、感じていたことの裏付けが得られました。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1DAY講座を一緒に開催し、バックエンドも販売できました。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商標登録も取られています。</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四</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パートから始めて、いまはご自分のお仕事にされています。</a:t>
            </a:r>
            <a:endParaRPr lang="en-US" sz="1400" dirty="0"/>
          </a:p>
        </p:txBody>
      </p:sp>
      <p:sp>
        <p:nvSpPr>
          <p:cNvPr id="4" name="Text 2"/>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pic>
        <p:nvPicPr>
          <p:cNvPr id="5" name="Image 0" descr="preencoded.png">    </p:cNvPr>
          <p:cNvPicPr>
            <a:picLocks noChangeAspect="1"/>
          </p:cNvPicPr>
          <p:nvPr/>
        </p:nvPicPr>
        <p:blipFill>
          <a:blip r:embed="rId1"/>
          <a:stretch>
            <a:fillRect/>
          </a:stretch>
        </p:blipFill>
        <p:spPr>
          <a:xfrm>
            <a:off x="8686800" y="1920240"/>
            <a:ext cx="2743200" cy="3657600"/>
          </a:xfrm>
          <a:prstGeom prst="rect">
            <a:avLst/>
          </a:prstGeom>
        </p:spPr>
      </p:pic>
      <p:sp>
        <p:nvSpPr>
          <p:cNvPr id="6" name="Text 3"/>
          <p:cNvSpPr txBox="1"/>
          <p:nvPr/>
        </p:nvSpPr>
        <p:spPr>
          <a:xfrm>
            <a:off x="777240" y="1828800"/>
            <a:ext cx="713232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中島ようこ 様（40代・ママ起業家）</a:t>
            </a:r>
            <a:endParaRPr lang="en-US" sz="1700" dirty="0"/>
          </a:p>
        </p:txBody>
      </p:sp>
      <p:sp>
        <p:nvSpPr>
          <p:cNvPr id="7" name="Text 4"/>
          <p:cNvSpPr txBox="1"/>
          <p:nvPr/>
        </p:nvSpPr>
        <p:spPr>
          <a:xfrm>
            <a:off x="777240" y="2194560"/>
            <a:ext cx="713232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パーソナルスタイリスト（熊本）</a:t>
            </a:r>
            <a:endParaRPr lang="en-US" sz="1100" dirty="0"/>
          </a:p>
        </p:txBody>
      </p:sp>
      <p:sp>
        <p:nvSpPr>
          <p:cNvPr id="8" name="Text 5"/>
          <p:cNvSpPr txBox="1"/>
          <p:nvPr/>
        </p:nvSpPr>
        <p:spPr>
          <a:xfrm>
            <a:off x="77724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9" name="Text 6"/>
          <p:cNvSpPr txBox="1"/>
          <p:nvPr/>
        </p:nvSpPr>
        <p:spPr>
          <a:xfrm>
            <a:off x="777240" y="2880360"/>
            <a:ext cx="713232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起業で何から始めて良いのか分からず、アパレル系の企業でパートとして働いていました。</a:t>
            </a:r>
            <a:endParaRPr lang="en-US" sz="1150" dirty="0"/>
          </a:p>
        </p:txBody>
      </p:sp>
      <p:sp>
        <p:nvSpPr>
          <p:cNvPr id="10" name="Text 7"/>
          <p:cNvSpPr txBox="1"/>
          <p:nvPr/>
        </p:nvSpPr>
        <p:spPr>
          <a:xfrm>
            <a:off x="77724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1" name="Text 8"/>
          <p:cNvSpPr txBox="1"/>
          <p:nvPr/>
        </p:nvSpPr>
        <p:spPr>
          <a:xfrm>
            <a:off x="777240" y="4005072"/>
            <a:ext cx="713232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マスター講座で、コーチング・ファッション心理学・インスタマーケティングを学びました。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商品を作り、パーソナルスタイリストとしてモニターから始めました。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フォロワーもLINE登録者も増え、月収は会社員のころを超えました。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お子さんお二人を育てながら、いまも活動されています。</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五</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短いお声もいただいています。</a:t>
            </a:r>
            <a:endParaRPr lang="en-US" sz="1400" dirty="0"/>
          </a:p>
        </p:txBody>
      </p:sp>
      <p:sp>
        <p:nvSpPr>
          <p:cNvPr id="4" name="Text 2"/>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sp>
        <p:nvSpPr>
          <p:cNvPr id="5" name="Text 3"/>
          <p:cNvSpPr txBox="1"/>
          <p:nvPr/>
        </p:nvSpPr>
        <p:spPr>
          <a:xfrm>
            <a:off x="777240" y="187452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Kさん</a:t>
            </a:r>
            <a:endParaRPr lang="en-US" sz="1500" dirty="0"/>
          </a:p>
        </p:txBody>
      </p:sp>
      <p:sp>
        <p:nvSpPr>
          <p:cNvPr id="6" name="Text 4"/>
          <p:cNvSpPr txBox="1"/>
          <p:nvPr/>
        </p:nvSpPr>
        <p:spPr>
          <a:xfrm>
            <a:off x="777240" y="218541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服飾大学卒業後 ZARA 勤務／現在フリーデザイナー</a:t>
            </a:r>
            <a:endParaRPr lang="en-US" sz="1050" dirty="0"/>
          </a:p>
        </p:txBody>
      </p:sp>
      <p:sp>
        <p:nvSpPr>
          <p:cNvPr id="7" name="Text 5"/>
          <p:cNvSpPr txBox="1"/>
          <p:nvPr/>
        </p:nvSpPr>
        <p:spPr>
          <a:xfrm>
            <a:off x="777240" y="249631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最新の情報でびっくりすることが多いです。私の強みに合わせたブランディングをしてくださるので、本当にためになりました。</a:t>
            </a:r>
            <a:endParaRPr lang="en-US" sz="1150" dirty="0"/>
          </a:p>
        </p:txBody>
      </p:sp>
      <p:sp>
        <p:nvSpPr>
          <p:cNvPr id="8" name="Shape 6"/>
          <p:cNvSpPr/>
          <p:nvPr/>
        </p:nvSpPr>
        <p:spPr>
          <a:xfrm>
            <a:off x="777240" y="3172968"/>
            <a:ext cx="5120640" cy="0"/>
          </a:xfrm>
          <a:prstGeom prst="line">
            <a:avLst/>
          </a:prstGeom>
          <a:noFill/>
          <a:ln w="12700">
            <a:solidFill>
              <a:srgbClr val="E0D6D2"/>
            </a:solidFill>
            <a:prstDash val="solid"/>
          </a:ln>
        </p:spPr>
      </p:sp>
      <p:sp>
        <p:nvSpPr>
          <p:cNvPr id="9" name="Text 7"/>
          <p:cNvSpPr txBox="1"/>
          <p:nvPr/>
        </p:nvSpPr>
        <p:spPr>
          <a:xfrm>
            <a:off x="6355080" y="187452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Sさん</a:t>
            </a:r>
            <a:endParaRPr lang="en-US" sz="1500" dirty="0"/>
          </a:p>
        </p:txBody>
      </p:sp>
      <p:sp>
        <p:nvSpPr>
          <p:cNvPr id="10" name="Text 8"/>
          <p:cNvSpPr txBox="1"/>
          <p:nvPr/>
        </p:nvSpPr>
        <p:spPr>
          <a:xfrm>
            <a:off x="6355080" y="218541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スタイリスト／イメージコンサルタント</a:t>
            </a:r>
            <a:endParaRPr lang="en-US" sz="1050" dirty="0"/>
          </a:p>
        </p:txBody>
      </p:sp>
      <p:sp>
        <p:nvSpPr>
          <p:cNvPr id="11" name="Text 9"/>
          <p:cNvSpPr txBox="1"/>
          <p:nvPr/>
        </p:nvSpPr>
        <p:spPr>
          <a:xfrm>
            <a:off x="6355080" y="249631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どんなメニューで展開したらよいのか迷っていましたが、方向性がはっきりしました。商品作りが斬新で、学びに役立ちました。</a:t>
            </a:r>
            <a:endParaRPr lang="en-US" sz="1150" dirty="0"/>
          </a:p>
        </p:txBody>
      </p:sp>
      <p:sp>
        <p:nvSpPr>
          <p:cNvPr id="12" name="Shape 10"/>
          <p:cNvSpPr/>
          <p:nvPr/>
        </p:nvSpPr>
        <p:spPr>
          <a:xfrm>
            <a:off x="6355080" y="3172968"/>
            <a:ext cx="5120640" cy="0"/>
          </a:xfrm>
          <a:prstGeom prst="line">
            <a:avLst/>
          </a:prstGeom>
          <a:noFill/>
          <a:ln w="12700">
            <a:solidFill>
              <a:srgbClr val="E0D6D2"/>
            </a:solidFill>
            <a:prstDash val="solid"/>
          </a:ln>
        </p:spPr>
      </p:sp>
      <p:sp>
        <p:nvSpPr>
          <p:cNvPr id="13" name="Text 11"/>
          <p:cNvSpPr txBox="1"/>
          <p:nvPr/>
        </p:nvSpPr>
        <p:spPr>
          <a:xfrm>
            <a:off x="777240" y="329184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Tさん</a:t>
            </a:r>
            <a:endParaRPr lang="en-US" sz="1500" dirty="0"/>
          </a:p>
        </p:txBody>
      </p:sp>
      <p:sp>
        <p:nvSpPr>
          <p:cNvPr id="14" name="Text 12"/>
          <p:cNvSpPr txBox="1"/>
          <p:nvPr/>
        </p:nvSpPr>
        <p:spPr>
          <a:xfrm>
            <a:off x="777240" y="360273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セレクトショップ オーナー</a:t>
            </a:r>
            <a:endParaRPr lang="en-US" sz="1050" dirty="0"/>
          </a:p>
        </p:txBody>
      </p:sp>
      <p:sp>
        <p:nvSpPr>
          <p:cNvPr id="15" name="Text 13"/>
          <p:cNvSpPr txBox="1"/>
          <p:nvPr/>
        </p:nvSpPr>
        <p:spPr>
          <a:xfrm>
            <a:off x="777240" y="391363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コーチングでモチベーションが上がりました。ショップの商品をネットで販売する方法を学び、売上も上がりました。</a:t>
            </a:r>
            <a:endParaRPr lang="en-US" sz="1150" dirty="0"/>
          </a:p>
        </p:txBody>
      </p:sp>
      <p:sp>
        <p:nvSpPr>
          <p:cNvPr id="16" name="Shape 14"/>
          <p:cNvSpPr/>
          <p:nvPr/>
        </p:nvSpPr>
        <p:spPr>
          <a:xfrm>
            <a:off x="777240" y="4590288"/>
            <a:ext cx="5120640" cy="0"/>
          </a:xfrm>
          <a:prstGeom prst="line">
            <a:avLst/>
          </a:prstGeom>
          <a:noFill/>
          <a:ln w="12700">
            <a:solidFill>
              <a:srgbClr val="E0D6D2"/>
            </a:solidFill>
            <a:prstDash val="solid"/>
          </a:ln>
        </p:spPr>
      </p:sp>
      <p:sp>
        <p:nvSpPr>
          <p:cNvPr id="17" name="Text 15"/>
          <p:cNvSpPr txBox="1"/>
          <p:nvPr/>
        </p:nvSpPr>
        <p:spPr>
          <a:xfrm>
            <a:off x="6355080" y="329184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Mさん</a:t>
            </a:r>
            <a:endParaRPr lang="en-US" sz="1500" dirty="0"/>
          </a:p>
        </p:txBody>
      </p:sp>
      <p:sp>
        <p:nvSpPr>
          <p:cNvPr id="18" name="Text 16"/>
          <p:cNvSpPr txBox="1"/>
          <p:nvPr/>
        </p:nvSpPr>
        <p:spPr>
          <a:xfrm>
            <a:off x="6355080" y="360273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外資系IT 勤務</a:t>
            </a:r>
            <a:endParaRPr lang="en-US" sz="1050" dirty="0"/>
          </a:p>
        </p:txBody>
      </p:sp>
      <p:sp>
        <p:nvSpPr>
          <p:cNvPr id="19" name="Text 17"/>
          <p:cNvSpPr txBox="1"/>
          <p:nvPr/>
        </p:nvSpPr>
        <p:spPr>
          <a:xfrm>
            <a:off x="6355080" y="391363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副業を考えて受講しました。学んでいるうちに、コンテストのファイナリストになるなど、思わぬ成果が出ています。</a:t>
            </a:r>
            <a:endParaRPr lang="en-US" sz="1150" dirty="0"/>
          </a:p>
        </p:txBody>
      </p:sp>
      <p:sp>
        <p:nvSpPr>
          <p:cNvPr id="20" name="Shape 18"/>
          <p:cNvSpPr/>
          <p:nvPr/>
        </p:nvSpPr>
        <p:spPr>
          <a:xfrm>
            <a:off x="6355080" y="4590288"/>
            <a:ext cx="5120640" cy="0"/>
          </a:xfrm>
          <a:prstGeom prst="line">
            <a:avLst/>
          </a:prstGeom>
          <a:noFill/>
          <a:ln w="12700">
            <a:solidFill>
              <a:srgbClr val="E0D6D2"/>
            </a:solidFill>
            <a:prstDash val="solid"/>
          </a:ln>
        </p:spPr>
      </p:sp>
      <p:sp>
        <p:nvSpPr>
          <p:cNvPr id="21" name="Text 19"/>
          <p:cNvSpPr txBox="1"/>
          <p:nvPr/>
        </p:nvSpPr>
        <p:spPr>
          <a:xfrm>
            <a:off x="777240" y="470916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松田れい 様（20代）</a:t>
            </a:r>
            <a:endParaRPr lang="en-US" sz="1500" dirty="0"/>
          </a:p>
        </p:txBody>
      </p:sp>
      <p:sp>
        <p:nvSpPr>
          <p:cNvPr id="22" name="Text 20"/>
          <p:cNvSpPr txBox="1"/>
          <p:nvPr/>
        </p:nvSpPr>
        <p:spPr>
          <a:xfrm>
            <a:off x="777240" y="502005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ブランディングプロデューサー</a:t>
            </a:r>
            <a:endParaRPr lang="en-US" sz="1050" dirty="0"/>
          </a:p>
        </p:txBody>
      </p:sp>
      <p:sp>
        <p:nvSpPr>
          <p:cNvPr id="23" name="Text 21"/>
          <p:cNvSpPr txBox="1"/>
          <p:nvPr/>
        </p:nvSpPr>
        <p:spPr>
          <a:xfrm>
            <a:off x="777240" y="533095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ファッションについて言語化できるようになりました。副業で始めましたが、本職をやめて複業でビジネスを展開し始めました。</a:t>
            </a:r>
            <a:endParaRPr lang="en-US" sz="1150" dirty="0"/>
          </a:p>
        </p:txBody>
      </p:sp>
      <p:sp>
        <p:nvSpPr>
          <p:cNvPr id="24" name="Shape 22"/>
          <p:cNvSpPr/>
          <p:nvPr/>
        </p:nvSpPr>
        <p:spPr>
          <a:xfrm>
            <a:off x="777240" y="6007608"/>
            <a:ext cx="5120640" cy="0"/>
          </a:xfrm>
          <a:prstGeom prst="line">
            <a:avLst/>
          </a:prstGeom>
          <a:noFill/>
          <a:ln w="12700">
            <a:solidFill>
              <a:srgbClr val="E0D6D2"/>
            </a:solidFill>
            <a:prstDash val="solid"/>
          </a:ln>
        </p:spPr>
      </p:sp>
      <p:sp>
        <p:nvSpPr>
          <p:cNvPr id="25" name="Text 23"/>
          <p:cNvSpPr txBox="1"/>
          <p:nvPr/>
        </p:nvSpPr>
        <p:spPr>
          <a:xfrm>
            <a:off x="6355080" y="470916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西尾 様（40代）</a:t>
            </a:r>
            <a:endParaRPr lang="en-US" sz="1500" dirty="0"/>
          </a:p>
        </p:txBody>
      </p:sp>
      <p:sp>
        <p:nvSpPr>
          <p:cNvPr id="26" name="Text 24"/>
          <p:cNvSpPr txBox="1"/>
          <p:nvPr/>
        </p:nvSpPr>
        <p:spPr>
          <a:xfrm>
            <a:off x="6355080" y="502005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ひとり起業家のためのセールスコーチ</a:t>
            </a:r>
            <a:endParaRPr lang="en-US" sz="1050" dirty="0"/>
          </a:p>
        </p:txBody>
      </p:sp>
      <p:sp>
        <p:nvSpPr>
          <p:cNvPr id="27" name="Text 25"/>
          <p:cNvSpPr txBox="1"/>
          <p:nvPr/>
        </p:nvSpPr>
        <p:spPr>
          <a:xfrm>
            <a:off x="6355080" y="533095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LINEステップ、集客、コーチングを教えていただき、50万円の収益に。その後すぐに7桁を超えました。</a:t>
            </a:r>
            <a:endParaRPr lang="en-US" sz="1150" dirty="0"/>
          </a:p>
        </p:txBody>
      </p:sp>
      <p:sp>
        <p:nvSpPr>
          <p:cNvPr id="28" name="Shape 26"/>
          <p:cNvSpPr/>
          <p:nvPr/>
        </p:nvSpPr>
        <p:spPr>
          <a:xfrm>
            <a:off x="6355080" y="6007608"/>
            <a:ext cx="5120640" cy="0"/>
          </a:xfrm>
          <a:prstGeom prst="line">
            <a:avLst/>
          </a:prstGeom>
          <a:noFill/>
          <a:ln w="12700">
            <a:solidFill>
              <a:srgbClr val="E0D6D2"/>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行き先で選んでください</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3つは上下ではありません。着きたい場所が違うだけです。</a:t>
            </a:r>
            <a:endParaRPr lang="en-US" sz="1400" dirty="0"/>
          </a:p>
        </p:txBody>
      </p:sp>
      <p:sp>
        <p:nvSpPr>
          <p:cNvPr id="4" name="Text 2"/>
          <p:cNvSpPr txBox="1"/>
          <p:nvPr/>
        </p:nvSpPr>
        <p:spPr>
          <a:xfrm>
            <a:off x="777240" y="2148840"/>
            <a:ext cx="640080" cy="548640"/>
          </a:xfrm>
          <a:prstGeom prst="rect">
            <a:avLst/>
          </a:prstGeom>
          <a:noFill/>
          <a:ln/>
        </p:spPr>
        <p:txBody>
          <a:bodyPr wrap="square" lIns="0" tIns="0" rIns="0" bIns="0" rtlCol="0" anchor="ctr"/>
          <a:lstStyle/>
          <a:p>
            <a:pPr indent="0" marL="0">
              <a:buNone/>
            </a:pPr>
            <a:r>
              <a:rPr lang="en-US" sz="3000" b="1" dirty="0">
                <a:solidFill>
                  <a:srgbClr val="A26769"/>
                </a:solidFill>
                <a:latin typeface="Cambria" pitchFamily="34" charset="0"/>
                <a:ea typeface="Cambria" pitchFamily="34" charset="-122"/>
                <a:cs typeface="Cambria" pitchFamily="34" charset="-120"/>
              </a:rPr>
              <a:t>一</a:t>
            </a:r>
            <a:endParaRPr lang="en-US" sz="3000" dirty="0"/>
          </a:p>
        </p:txBody>
      </p:sp>
      <p:sp>
        <p:nvSpPr>
          <p:cNvPr id="5" name="Text 3"/>
          <p:cNvSpPr txBox="1"/>
          <p:nvPr/>
        </p:nvSpPr>
        <p:spPr>
          <a:xfrm>
            <a:off x="1554480" y="2011680"/>
            <a:ext cx="5669280" cy="457200"/>
          </a:xfrm>
          <a:prstGeom prst="rect">
            <a:avLst/>
          </a:prstGeom>
          <a:noFill/>
          <a:ln/>
        </p:spPr>
        <p:txBody>
          <a:bodyPr wrap="square" lIns="0" tIns="0" rIns="0" bIns="0" rtlCol="0" anchor="ctr"/>
          <a:lstStyle/>
          <a:p>
            <a:pPr indent="0" marL="0">
              <a:buNone/>
            </a:pPr>
            <a:r>
              <a:rPr lang="en-US" sz="2200" b="1" dirty="0">
                <a:solidFill>
                  <a:srgbClr val="332B29"/>
                </a:solidFill>
                <a:latin typeface="Cambria" pitchFamily="34" charset="0"/>
                <a:ea typeface="Cambria" pitchFamily="34" charset="-122"/>
                <a:cs typeface="Cambria" pitchFamily="34" charset="-120"/>
              </a:rPr>
              <a:t>発信ができるようになる</a:t>
            </a:r>
            <a:endParaRPr lang="en-US" sz="2200" dirty="0"/>
          </a:p>
        </p:txBody>
      </p:sp>
      <p:sp>
        <p:nvSpPr>
          <p:cNvPr id="6" name="Text 4"/>
          <p:cNvSpPr txBox="1"/>
          <p:nvPr/>
        </p:nvSpPr>
        <p:spPr>
          <a:xfrm>
            <a:off x="1572768" y="2514600"/>
            <a:ext cx="566928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お仕事にしなくて大丈夫です</a:t>
            </a:r>
            <a:endParaRPr lang="en-US" sz="1300" dirty="0"/>
          </a:p>
        </p:txBody>
      </p:sp>
      <p:sp>
        <p:nvSpPr>
          <p:cNvPr id="7" name="Text 5"/>
          <p:cNvSpPr txBox="1"/>
          <p:nvPr/>
        </p:nvSpPr>
        <p:spPr>
          <a:xfrm>
            <a:off x="7498080" y="2194560"/>
            <a:ext cx="3931920" cy="457200"/>
          </a:xfrm>
          <a:prstGeom prst="rect">
            <a:avLst/>
          </a:prstGeom>
          <a:noFill/>
          <a:ln/>
        </p:spPr>
        <p:txBody>
          <a:bodyPr wrap="square" lIns="0" tIns="0" rIns="0" bIns="0" rtlCol="0" anchor="ctr"/>
          <a:lstStyle/>
          <a:p>
            <a:pPr algn="r" indent="0" marL="0">
              <a:buNone/>
            </a:pPr>
            <a:r>
              <a:rPr lang="en-US" sz="1400" b="1" dirty="0">
                <a:solidFill>
                  <a:srgbClr val="6D2E46"/>
                </a:solidFill>
                <a:latin typeface="Calibri" pitchFamily="34" charset="0"/>
                <a:ea typeface="Calibri" pitchFamily="34" charset="-122"/>
                <a:cs typeface="Calibri" pitchFamily="34" charset="-120"/>
              </a:rPr>
              <a:t>3ヶ月／オンラインのみ</a:t>
            </a:r>
            <a:endParaRPr lang="en-US" sz="1400" dirty="0"/>
          </a:p>
        </p:txBody>
      </p:sp>
      <p:sp>
        <p:nvSpPr>
          <p:cNvPr id="8" name="Shape 6"/>
          <p:cNvSpPr/>
          <p:nvPr/>
        </p:nvSpPr>
        <p:spPr>
          <a:xfrm>
            <a:off x="731520" y="3063240"/>
            <a:ext cx="10698480" cy="0"/>
          </a:xfrm>
          <a:prstGeom prst="line">
            <a:avLst/>
          </a:prstGeom>
          <a:noFill/>
          <a:ln w="12700">
            <a:solidFill>
              <a:srgbClr val="E0D6D2"/>
            </a:solidFill>
            <a:prstDash val="solid"/>
          </a:ln>
        </p:spPr>
      </p:sp>
      <p:sp>
        <p:nvSpPr>
          <p:cNvPr id="9" name="Text 7"/>
          <p:cNvSpPr txBox="1"/>
          <p:nvPr/>
        </p:nvSpPr>
        <p:spPr>
          <a:xfrm>
            <a:off x="777240" y="3520440"/>
            <a:ext cx="640080" cy="548640"/>
          </a:xfrm>
          <a:prstGeom prst="rect">
            <a:avLst/>
          </a:prstGeom>
          <a:noFill/>
          <a:ln/>
        </p:spPr>
        <p:txBody>
          <a:bodyPr wrap="square" lIns="0" tIns="0" rIns="0" bIns="0" rtlCol="0" anchor="ctr"/>
          <a:lstStyle/>
          <a:p>
            <a:pPr indent="0" marL="0">
              <a:buNone/>
            </a:pPr>
            <a:r>
              <a:rPr lang="en-US" sz="3000" b="1" dirty="0">
                <a:solidFill>
                  <a:srgbClr val="A26769"/>
                </a:solidFill>
                <a:latin typeface="Cambria" pitchFamily="34" charset="0"/>
                <a:ea typeface="Cambria" pitchFamily="34" charset="-122"/>
                <a:cs typeface="Cambria" pitchFamily="34" charset="-120"/>
              </a:rPr>
              <a:t>二</a:t>
            </a:r>
            <a:endParaRPr lang="en-US" sz="3000" dirty="0"/>
          </a:p>
        </p:txBody>
      </p:sp>
      <p:sp>
        <p:nvSpPr>
          <p:cNvPr id="10" name="Text 8"/>
          <p:cNvSpPr txBox="1"/>
          <p:nvPr/>
        </p:nvSpPr>
        <p:spPr>
          <a:xfrm>
            <a:off x="1554480" y="3383280"/>
            <a:ext cx="5669280" cy="457200"/>
          </a:xfrm>
          <a:prstGeom prst="rect">
            <a:avLst/>
          </a:prstGeom>
          <a:noFill/>
          <a:ln/>
        </p:spPr>
        <p:txBody>
          <a:bodyPr wrap="square" lIns="0" tIns="0" rIns="0" bIns="0" rtlCol="0" anchor="ctr"/>
          <a:lstStyle/>
          <a:p>
            <a:pPr indent="0" marL="0">
              <a:buNone/>
            </a:pPr>
            <a:r>
              <a:rPr lang="en-US" sz="2200" b="1" dirty="0">
                <a:solidFill>
                  <a:srgbClr val="332B29"/>
                </a:solidFill>
                <a:latin typeface="Cambria" pitchFamily="34" charset="0"/>
                <a:ea typeface="Cambria" pitchFamily="34" charset="-122"/>
                <a:cs typeface="Cambria" pitchFamily="34" charset="-120"/>
              </a:rPr>
              <a:t>売るものを決めて、形にする</a:t>
            </a:r>
            <a:endParaRPr lang="en-US" sz="2200" dirty="0"/>
          </a:p>
        </p:txBody>
      </p:sp>
      <p:sp>
        <p:nvSpPr>
          <p:cNvPr id="11" name="Text 9"/>
          <p:cNvSpPr txBox="1"/>
          <p:nvPr/>
        </p:nvSpPr>
        <p:spPr>
          <a:xfrm>
            <a:off x="1572768" y="3886200"/>
            <a:ext cx="566928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ファッション心理学から商品をつくる</a:t>
            </a:r>
            <a:endParaRPr lang="en-US" sz="1300" dirty="0"/>
          </a:p>
        </p:txBody>
      </p:sp>
      <p:sp>
        <p:nvSpPr>
          <p:cNvPr id="12" name="Text 10"/>
          <p:cNvSpPr txBox="1"/>
          <p:nvPr/>
        </p:nvSpPr>
        <p:spPr>
          <a:xfrm>
            <a:off x="7498080" y="3566160"/>
            <a:ext cx="3931920" cy="457200"/>
          </a:xfrm>
          <a:prstGeom prst="rect">
            <a:avLst/>
          </a:prstGeom>
          <a:noFill/>
          <a:ln/>
        </p:spPr>
        <p:txBody>
          <a:bodyPr wrap="square" lIns="0" tIns="0" rIns="0" bIns="0" rtlCol="0" anchor="ctr"/>
          <a:lstStyle/>
          <a:p>
            <a:pPr algn="r" indent="0" marL="0">
              <a:buNone/>
            </a:pPr>
            <a:r>
              <a:rPr lang="en-US" sz="1400" b="1" dirty="0">
                <a:solidFill>
                  <a:srgbClr val="6D2E46"/>
                </a:solidFill>
                <a:latin typeface="Calibri" pitchFamily="34" charset="0"/>
                <a:ea typeface="Calibri" pitchFamily="34" charset="-122"/>
                <a:cs typeface="Calibri" pitchFamily="34" charset="-120"/>
              </a:rPr>
              <a:t>3ヶ月／オンライン＋対面1回</a:t>
            </a:r>
            <a:endParaRPr lang="en-US" sz="1400" dirty="0"/>
          </a:p>
        </p:txBody>
      </p:sp>
      <p:sp>
        <p:nvSpPr>
          <p:cNvPr id="13" name="Shape 11"/>
          <p:cNvSpPr/>
          <p:nvPr/>
        </p:nvSpPr>
        <p:spPr>
          <a:xfrm>
            <a:off x="731520" y="4434840"/>
            <a:ext cx="10698480" cy="0"/>
          </a:xfrm>
          <a:prstGeom prst="line">
            <a:avLst/>
          </a:prstGeom>
          <a:noFill/>
          <a:ln w="12700">
            <a:solidFill>
              <a:srgbClr val="E0D6D2"/>
            </a:solidFill>
            <a:prstDash val="solid"/>
          </a:ln>
        </p:spPr>
      </p:sp>
      <p:sp>
        <p:nvSpPr>
          <p:cNvPr id="14" name="Text 12"/>
          <p:cNvSpPr txBox="1"/>
          <p:nvPr/>
        </p:nvSpPr>
        <p:spPr>
          <a:xfrm>
            <a:off x="777240" y="4892040"/>
            <a:ext cx="640080" cy="548640"/>
          </a:xfrm>
          <a:prstGeom prst="rect">
            <a:avLst/>
          </a:prstGeom>
          <a:noFill/>
          <a:ln/>
        </p:spPr>
        <p:txBody>
          <a:bodyPr wrap="square" lIns="0" tIns="0" rIns="0" bIns="0" rtlCol="0" anchor="ctr"/>
          <a:lstStyle/>
          <a:p>
            <a:pPr indent="0" marL="0">
              <a:buNone/>
            </a:pPr>
            <a:r>
              <a:rPr lang="en-US" sz="3000" b="1" dirty="0">
                <a:solidFill>
                  <a:srgbClr val="A26769"/>
                </a:solidFill>
                <a:latin typeface="Cambria" pitchFamily="34" charset="0"/>
                <a:ea typeface="Cambria" pitchFamily="34" charset="-122"/>
                <a:cs typeface="Cambria" pitchFamily="34" charset="-120"/>
              </a:rPr>
              <a:t>三</a:t>
            </a:r>
            <a:endParaRPr lang="en-US" sz="3000" dirty="0"/>
          </a:p>
        </p:txBody>
      </p:sp>
      <p:sp>
        <p:nvSpPr>
          <p:cNvPr id="15" name="Text 13"/>
          <p:cNvSpPr txBox="1"/>
          <p:nvPr/>
        </p:nvSpPr>
        <p:spPr>
          <a:xfrm>
            <a:off x="1554480" y="4754880"/>
            <a:ext cx="5669280" cy="457200"/>
          </a:xfrm>
          <a:prstGeom prst="rect">
            <a:avLst/>
          </a:prstGeom>
          <a:noFill/>
          <a:ln/>
        </p:spPr>
        <p:txBody>
          <a:bodyPr wrap="square" lIns="0" tIns="0" rIns="0" bIns="0" rtlCol="0" anchor="ctr"/>
          <a:lstStyle/>
          <a:p>
            <a:pPr indent="0" marL="0">
              <a:buNone/>
            </a:pPr>
            <a:r>
              <a:rPr lang="en-US" sz="2200" b="1" dirty="0">
                <a:solidFill>
                  <a:srgbClr val="332B29"/>
                </a:solidFill>
                <a:latin typeface="Cambria" pitchFamily="34" charset="0"/>
                <a:ea typeface="Cambria" pitchFamily="34" charset="-122"/>
                <a:cs typeface="Cambria" pitchFamily="34" charset="-120"/>
              </a:rPr>
              <a:t>売れるところまで、作りきる</a:t>
            </a:r>
            <a:endParaRPr lang="en-US" sz="2200" dirty="0"/>
          </a:p>
        </p:txBody>
      </p:sp>
      <p:sp>
        <p:nvSpPr>
          <p:cNvPr id="16" name="Text 14"/>
          <p:cNvSpPr txBox="1"/>
          <p:nvPr/>
        </p:nvSpPr>
        <p:spPr>
          <a:xfrm>
            <a:off x="1572768" y="5257800"/>
            <a:ext cx="566928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販売の動線と自動化まで</a:t>
            </a:r>
            <a:endParaRPr lang="en-US" sz="1300" dirty="0"/>
          </a:p>
        </p:txBody>
      </p:sp>
      <p:sp>
        <p:nvSpPr>
          <p:cNvPr id="17" name="Text 15"/>
          <p:cNvSpPr txBox="1"/>
          <p:nvPr/>
        </p:nvSpPr>
        <p:spPr>
          <a:xfrm>
            <a:off x="7498080" y="4937760"/>
            <a:ext cx="3931920" cy="457200"/>
          </a:xfrm>
          <a:prstGeom prst="rect">
            <a:avLst/>
          </a:prstGeom>
          <a:noFill/>
          <a:ln/>
        </p:spPr>
        <p:txBody>
          <a:bodyPr wrap="square" lIns="0" tIns="0" rIns="0" bIns="0" rtlCol="0" anchor="ctr"/>
          <a:lstStyle/>
          <a:p>
            <a:pPr algn="r" indent="0" marL="0">
              <a:buNone/>
            </a:pPr>
            <a:r>
              <a:rPr lang="en-US" sz="1400" b="1" dirty="0">
                <a:solidFill>
                  <a:srgbClr val="6D2E46"/>
                </a:solidFill>
                <a:latin typeface="Calibri" pitchFamily="34" charset="0"/>
                <a:ea typeface="Calibri" pitchFamily="34" charset="-122"/>
                <a:cs typeface="Calibri" pitchFamily="34" charset="-120"/>
              </a:rPr>
              <a:t>6ヶ月／オンライン＋対面2回</a:t>
            </a:r>
            <a:endParaRPr lang="en-US" sz="1400" dirty="0"/>
          </a:p>
        </p:txBody>
      </p:sp>
      <p:sp>
        <p:nvSpPr>
          <p:cNvPr id="18" name="Shape 16"/>
          <p:cNvSpPr/>
          <p:nvPr/>
        </p:nvSpPr>
        <p:spPr>
          <a:xfrm>
            <a:off x="731520" y="5806440"/>
            <a:ext cx="10698480" cy="0"/>
          </a:xfrm>
          <a:prstGeom prst="line">
            <a:avLst/>
          </a:prstGeom>
          <a:noFill/>
          <a:ln w="12700">
            <a:solidFill>
              <a:srgbClr val="E0D6D2"/>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この講座は、あなたが主語です</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いちばん先に、これをお伝えしておきます。</a:t>
            </a:r>
            <a:endParaRPr lang="en-US" sz="1400" dirty="0"/>
          </a:p>
        </p:txBody>
      </p:sp>
      <p:sp>
        <p:nvSpPr>
          <p:cNvPr id="4" name="Text 2"/>
          <p:cNvSpPr txBox="1"/>
          <p:nvPr/>
        </p:nvSpPr>
        <p:spPr>
          <a:xfrm>
            <a:off x="777240" y="1828800"/>
            <a:ext cx="10698480" cy="41148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発信の内容も、作る商品も、決めるのはご本人です。</a:t>
            </a:r>
            <a:endParaRPr lang="en-US" sz="1600" dirty="0"/>
          </a:p>
        </p:txBody>
      </p:sp>
      <p:sp>
        <p:nvSpPr>
          <p:cNvPr id="5" name="Text 3"/>
          <p:cNvSpPr txBox="1"/>
          <p:nvPr/>
        </p:nvSpPr>
        <p:spPr>
          <a:xfrm>
            <a:off x="777240" y="2240280"/>
            <a:ext cx="10698480" cy="41148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この講座でお渡しするのは、考え方と手順です。そして、ご自分で作られたものを見て、お返事をします。</a:t>
            </a:r>
            <a:endParaRPr lang="en-US" sz="1400" dirty="0"/>
          </a:p>
        </p:txBody>
      </p:sp>
      <p:sp>
        <p:nvSpPr>
          <p:cNvPr id="6" name="Text 4"/>
          <p:cNvSpPr txBox="1"/>
          <p:nvPr/>
        </p:nvSpPr>
        <p:spPr>
          <a:xfrm>
            <a:off x="777240" y="2880360"/>
            <a:ext cx="5029200" cy="411480"/>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この講座ですること</a:t>
            </a:r>
            <a:endParaRPr lang="en-US" sz="2000" dirty="0"/>
          </a:p>
        </p:txBody>
      </p:sp>
      <p:sp>
        <p:nvSpPr>
          <p:cNvPr id="7" name="Text 5"/>
          <p:cNvSpPr txBox="1"/>
          <p:nvPr/>
        </p:nvSpPr>
        <p:spPr>
          <a:xfrm>
            <a:off x="777240" y="3383280"/>
            <a:ext cx="5029200" cy="2377440"/>
          </a:xfrm>
          <a:prstGeom prst="rect">
            <a:avLst/>
          </a:prstGeom>
          <a:noFill/>
          <a:ln/>
        </p:spPr>
        <p:txBody>
          <a:bodyPr wrap="square" lIns="0" tIns="0" rIns="0" bIns="0" rtlCol="0" anchor="t"/>
          <a:lstStyle/>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講義と対面ワークショップ／教材</a:t>
            </a:r>
            <a:endParaRPr lang="en-US" sz="1350" dirty="0"/>
          </a:p>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動画講座の会員サイト（受講期間中）</a:t>
            </a:r>
            <a:endParaRPr lang="en-US" sz="1350" dirty="0"/>
          </a:p>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ご質問へのお返事（48時間以内・受講期間中）</a:t>
            </a:r>
            <a:endParaRPr lang="en-US" sz="1350" dirty="0"/>
          </a:p>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ご自分で作られたものへの助言</a:t>
            </a:r>
            <a:endParaRPr lang="en-US" sz="1350" dirty="0"/>
          </a:p>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次の一手のご提案</a:t>
            </a:r>
            <a:endParaRPr lang="en-US" sz="1350" dirty="0"/>
          </a:p>
        </p:txBody>
      </p:sp>
      <p:sp>
        <p:nvSpPr>
          <p:cNvPr id="8" name="Shape 6"/>
          <p:cNvSpPr/>
          <p:nvPr/>
        </p:nvSpPr>
        <p:spPr>
          <a:xfrm>
            <a:off x="6126480" y="2880360"/>
            <a:ext cx="0" cy="2286000"/>
          </a:xfrm>
          <a:prstGeom prst="line">
            <a:avLst/>
          </a:prstGeom>
          <a:noFill/>
          <a:ln w="12700">
            <a:solidFill>
              <a:srgbClr val="E0D6D2"/>
            </a:solidFill>
            <a:prstDash val="solid"/>
          </a:ln>
        </p:spPr>
      </p:sp>
      <p:sp>
        <p:nvSpPr>
          <p:cNvPr id="9" name="Text 7"/>
          <p:cNvSpPr txBox="1"/>
          <p:nvPr/>
        </p:nvSpPr>
        <p:spPr>
          <a:xfrm>
            <a:off x="6583680" y="2880360"/>
            <a:ext cx="484632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この講座ではしないこと</a:t>
            </a:r>
            <a:endParaRPr lang="en-US" sz="2000" dirty="0"/>
          </a:p>
        </p:txBody>
      </p:sp>
      <p:sp>
        <p:nvSpPr>
          <p:cNvPr id="10" name="Text 8"/>
          <p:cNvSpPr txBox="1"/>
          <p:nvPr/>
        </p:nvSpPr>
        <p:spPr>
          <a:xfrm>
            <a:off x="6583680" y="3383280"/>
            <a:ext cx="4846320" cy="2377440"/>
          </a:xfrm>
          <a:prstGeom prst="rect">
            <a:avLst/>
          </a:prstGeom>
          <a:noFill/>
          <a:ln/>
        </p:spPr>
        <p:txBody>
          <a:bodyPr wrap="square" lIns="0" tIns="0" rIns="0" bIns="0" rtlCol="0" anchor="t"/>
          <a:lstStyle/>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代わりに市場や競合を調べること</a:t>
            </a:r>
            <a:endParaRPr lang="en-US" sz="1350" dirty="0"/>
          </a:p>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代わりに事業計画や商品企画を立てること</a:t>
            </a:r>
            <a:endParaRPr lang="en-US" sz="1350" dirty="0"/>
          </a:p>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代わりに投稿・動画・LP・申込ページを作り続けること</a:t>
            </a:r>
            <a:endParaRPr lang="en-US" sz="1350" dirty="0"/>
          </a:p>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代わりに販売や営業、お客さま対応をすること</a:t>
            </a:r>
            <a:endParaRPr lang="en-US" sz="1350" dirty="0"/>
          </a:p>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毎日の行動をひとつずつ指示し続けること</a:t>
            </a:r>
            <a:endParaRPr lang="en-US" sz="1350" dirty="0"/>
          </a:p>
        </p:txBody>
      </p:sp>
      <p:sp>
        <p:nvSpPr>
          <p:cNvPr id="11" name="Shape 9"/>
          <p:cNvSpPr/>
          <p:nvPr/>
        </p:nvSpPr>
        <p:spPr>
          <a:xfrm>
            <a:off x="731520" y="5440680"/>
            <a:ext cx="10698480" cy="0"/>
          </a:xfrm>
          <a:prstGeom prst="line">
            <a:avLst/>
          </a:prstGeom>
          <a:noFill/>
          <a:ln w="12700">
            <a:solidFill>
              <a:srgbClr val="E0D6D2"/>
            </a:solidFill>
            <a:prstDash val="solid"/>
          </a:ln>
        </p:spPr>
      </p:sp>
      <p:sp>
        <p:nvSpPr>
          <p:cNvPr id="12" name="Text 10"/>
          <p:cNvSpPr txBox="1"/>
          <p:nvPr/>
        </p:nvSpPr>
        <p:spPr>
          <a:xfrm>
            <a:off x="777240" y="5623560"/>
            <a:ext cx="1069848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手を抜いているのではありません。代わりにやってしまうと、講座が終わったあとに、ご自分では動けなくなるからです。</a:t>
            </a:r>
            <a:endParaRPr lang="en-US" sz="1400" dirty="0"/>
          </a:p>
        </p:txBody>
      </p:sp>
      <p:sp>
        <p:nvSpPr>
          <p:cNvPr id="13" name="Text 11"/>
          <p:cNvSpPr txBox="1"/>
          <p:nvPr/>
        </p:nvSpPr>
        <p:spPr>
          <a:xfrm>
            <a:off x="777240" y="6035040"/>
            <a:ext cx="10698480" cy="411480"/>
          </a:xfrm>
          <a:prstGeom prst="rect">
            <a:avLst/>
          </a:prstGeom>
          <a:noFill/>
          <a:ln/>
        </p:spPr>
        <p:txBody>
          <a:bodyPr wrap="square" lIns="0" tIns="0" rIns="0" bIns="0" rtlCol="0" anchor="ctr"/>
          <a:lstStyle/>
          <a:p>
            <a:pPr indent="0" marL="0">
              <a:buNone/>
            </a:pPr>
            <a:r>
              <a:rPr lang="en-US" sz="1400" b="1" dirty="0">
                <a:solidFill>
                  <a:srgbClr val="6D2E46"/>
                </a:solidFill>
                <a:latin typeface="Calibri" pitchFamily="34" charset="0"/>
                <a:ea typeface="Calibri" pitchFamily="34" charset="-122"/>
                <a:cs typeface="Calibri" pitchFamily="34" charset="-120"/>
              </a:rPr>
              <a:t>目指しているのは、終わったあと、ご自分ひとりで続けられる状態です。くわしくは利用規約に書いています。</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77240" y="457200"/>
            <a:ext cx="731520" cy="731520"/>
          </a:xfrm>
          <a:prstGeom prst="rect">
            <a:avLst/>
          </a:prstGeom>
          <a:noFill/>
          <a:ln/>
        </p:spPr>
        <p:txBody>
          <a:bodyPr wrap="square" lIns="0" tIns="0" rIns="0" bIns="0" rtlCol="0" anchor="ctr"/>
          <a:lstStyle/>
          <a:p>
            <a:pPr indent="0" marL="0">
              <a:buNone/>
            </a:pPr>
            <a:r>
              <a:rPr lang="en-US" sz="3600" b="1" dirty="0">
                <a:solidFill>
                  <a:srgbClr val="A26769"/>
                </a:solidFill>
                <a:latin typeface="Cambria" pitchFamily="34" charset="0"/>
                <a:ea typeface="Cambria" pitchFamily="34" charset="-122"/>
                <a:cs typeface="Cambria" pitchFamily="34" charset="-120"/>
              </a:rPr>
              <a:t>一</a:t>
            </a:r>
            <a:endParaRPr lang="en-US" sz="3600" dirty="0"/>
          </a:p>
        </p:txBody>
      </p:sp>
      <p:sp>
        <p:nvSpPr>
          <p:cNvPr id="3" name="Text 1"/>
          <p:cNvSpPr txBox="1"/>
          <p:nvPr/>
        </p:nvSpPr>
        <p:spPr>
          <a:xfrm>
            <a:off x="1600200" y="457200"/>
            <a:ext cx="6949440" cy="77724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はじめてのAI発信インスタ講座</a:t>
            </a:r>
            <a:endParaRPr lang="en-US" sz="2600" dirty="0"/>
          </a:p>
        </p:txBody>
      </p:sp>
      <p:sp>
        <p:nvSpPr>
          <p:cNvPr id="4" name="Text 2"/>
          <p:cNvSpPr txBox="1"/>
          <p:nvPr/>
        </p:nvSpPr>
        <p:spPr>
          <a:xfrm>
            <a:off x="1627632" y="1234440"/>
            <a:ext cx="6949440" cy="32004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3ヶ月／オンラインのみ</a:t>
            </a:r>
            <a:endParaRPr lang="en-US" sz="1300" dirty="0"/>
          </a:p>
        </p:txBody>
      </p:sp>
      <p:sp>
        <p:nvSpPr>
          <p:cNvPr id="5" name="Text 3"/>
          <p:cNvSpPr txBox="1"/>
          <p:nvPr/>
        </p:nvSpPr>
        <p:spPr>
          <a:xfrm>
            <a:off x="8778240" y="502920"/>
            <a:ext cx="2651760" cy="640080"/>
          </a:xfrm>
          <a:prstGeom prst="rect">
            <a:avLst/>
          </a:prstGeom>
          <a:noFill/>
          <a:ln/>
        </p:spPr>
        <p:txBody>
          <a:bodyPr wrap="square" lIns="0" tIns="0" rIns="0" bIns="0" rtlCol="0" anchor="ctr"/>
          <a:lstStyle/>
          <a:p>
            <a:pPr algn="r" indent="0" marL="0">
              <a:buNone/>
            </a:pPr>
            <a:r>
              <a:rPr lang="en-US" sz="3000" b="1" dirty="0">
                <a:solidFill>
                  <a:srgbClr val="6D2E46"/>
                </a:solidFill>
                <a:latin typeface="Cambria" pitchFamily="34" charset="0"/>
                <a:ea typeface="Cambria" pitchFamily="34" charset="-122"/>
                <a:cs typeface="Cambria" pitchFamily="34" charset="-120"/>
              </a:rPr>
              <a:t>100,000円</a:t>
            </a:r>
            <a:endParaRPr lang="en-US" sz="3000" dirty="0"/>
          </a:p>
        </p:txBody>
      </p:sp>
      <p:sp>
        <p:nvSpPr>
          <p:cNvPr id="6" name="Text 4"/>
          <p:cNvSpPr txBox="1"/>
          <p:nvPr/>
        </p:nvSpPr>
        <p:spPr>
          <a:xfrm>
            <a:off x="8778240" y="1188720"/>
            <a:ext cx="2651760" cy="320040"/>
          </a:xfrm>
          <a:prstGeom prst="rect">
            <a:avLst/>
          </a:prstGeom>
          <a:noFill/>
          <a:ln/>
        </p:spPr>
        <p:txBody>
          <a:bodyPr wrap="square" lIns="0" tIns="0" rIns="0" bIns="0" rtlCol="0" anchor="ctr"/>
          <a:lstStyle/>
          <a:p>
            <a:pPr algn="r" indent="0" marL="0">
              <a:buNone/>
            </a:pPr>
            <a:r>
              <a:rPr lang="en-US" sz="1200" dirty="0">
                <a:solidFill>
                  <a:srgbClr val="A26769"/>
                </a:solidFill>
                <a:latin typeface="Calibri" pitchFamily="34" charset="0"/>
                <a:ea typeface="Calibri" pitchFamily="34" charset="-122"/>
                <a:cs typeface="Calibri" pitchFamily="34" charset="-120"/>
              </a:rPr>
              <a:t>モニター価格</a:t>
            </a:r>
            <a:endParaRPr lang="en-US" sz="1200" dirty="0"/>
          </a:p>
        </p:txBody>
      </p:sp>
      <p:sp>
        <p:nvSpPr>
          <p:cNvPr id="7" name="Shape 5"/>
          <p:cNvSpPr/>
          <p:nvPr/>
        </p:nvSpPr>
        <p:spPr>
          <a:xfrm>
            <a:off x="731520" y="1783080"/>
            <a:ext cx="10698480" cy="0"/>
          </a:xfrm>
          <a:prstGeom prst="line">
            <a:avLst/>
          </a:prstGeom>
          <a:noFill/>
          <a:ln w="12700">
            <a:solidFill>
              <a:srgbClr val="E0D6D2"/>
            </a:solidFill>
            <a:prstDash val="solid"/>
          </a:ln>
        </p:spPr>
      </p:sp>
      <p:sp>
        <p:nvSpPr>
          <p:cNvPr id="8" name="Text 6"/>
          <p:cNvSpPr txBox="1"/>
          <p:nvPr/>
        </p:nvSpPr>
        <p:spPr>
          <a:xfrm>
            <a:off x="777240" y="2103120"/>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オンライン講座</a:t>
            </a:r>
            <a:endParaRPr lang="en-US" sz="1300" dirty="0"/>
          </a:p>
        </p:txBody>
      </p:sp>
      <p:sp>
        <p:nvSpPr>
          <p:cNvPr id="9" name="Text 7"/>
          <p:cNvSpPr txBox="1"/>
          <p:nvPr/>
        </p:nvSpPr>
        <p:spPr>
          <a:xfrm>
            <a:off x="2743200" y="2103120"/>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計6回（1回90分）</a:t>
            </a:r>
            <a:endParaRPr lang="en-US" sz="1300" dirty="0"/>
          </a:p>
        </p:txBody>
      </p:sp>
      <p:sp>
        <p:nvSpPr>
          <p:cNvPr id="10" name="Text 8"/>
          <p:cNvSpPr txBox="1"/>
          <p:nvPr/>
        </p:nvSpPr>
        <p:spPr>
          <a:xfrm>
            <a:off x="777240" y="2761488"/>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対面ワークショップ</a:t>
            </a:r>
            <a:endParaRPr lang="en-US" sz="1300" dirty="0"/>
          </a:p>
        </p:txBody>
      </p:sp>
      <p:sp>
        <p:nvSpPr>
          <p:cNvPr id="11" name="Text 9"/>
          <p:cNvSpPr txBox="1"/>
          <p:nvPr/>
        </p:nvSpPr>
        <p:spPr>
          <a:xfrm>
            <a:off x="2743200" y="2761488"/>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なし</a:t>
            </a:r>
            <a:endParaRPr lang="en-US" sz="1300" dirty="0"/>
          </a:p>
        </p:txBody>
      </p:sp>
      <p:sp>
        <p:nvSpPr>
          <p:cNvPr id="12" name="Text 10"/>
          <p:cNvSpPr txBox="1"/>
          <p:nvPr/>
        </p:nvSpPr>
        <p:spPr>
          <a:xfrm>
            <a:off x="777240" y="3419856"/>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合計の時間</a:t>
            </a:r>
            <a:endParaRPr lang="en-US" sz="1300" dirty="0"/>
          </a:p>
        </p:txBody>
      </p:sp>
      <p:sp>
        <p:nvSpPr>
          <p:cNvPr id="13" name="Text 11"/>
          <p:cNvSpPr txBox="1"/>
          <p:nvPr/>
        </p:nvSpPr>
        <p:spPr>
          <a:xfrm>
            <a:off x="2743200" y="3419856"/>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9時間</a:t>
            </a:r>
            <a:endParaRPr lang="en-US" sz="1300" dirty="0"/>
          </a:p>
        </p:txBody>
      </p:sp>
      <p:sp>
        <p:nvSpPr>
          <p:cNvPr id="14" name="Shape 12"/>
          <p:cNvSpPr/>
          <p:nvPr/>
        </p:nvSpPr>
        <p:spPr>
          <a:xfrm>
            <a:off x="5943600" y="2057400"/>
            <a:ext cx="0" cy="1828800"/>
          </a:xfrm>
          <a:prstGeom prst="line">
            <a:avLst/>
          </a:prstGeom>
          <a:noFill/>
          <a:ln w="12700">
            <a:solidFill>
              <a:srgbClr val="E0D6D2"/>
            </a:solidFill>
            <a:prstDash val="solid"/>
          </a:ln>
        </p:spPr>
      </p:sp>
      <p:sp>
        <p:nvSpPr>
          <p:cNvPr id="15" name="Text 13"/>
          <p:cNvSpPr txBox="1"/>
          <p:nvPr/>
        </p:nvSpPr>
        <p:spPr>
          <a:xfrm>
            <a:off x="6400800" y="2011680"/>
            <a:ext cx="5029200" cy="2011680"/>
          </a:xfrm>
          <a:prstGeom prst="rect">
            <a:avLst/>
          </a:prstGeom>
          <a:noFill/>
          <a:ln/>
        </p:spPr>
        <p:txBody>
          <a:bodyPr wrap="square" lIns="0" tIns="0" rIns="0" bIns="0" rtlCol="0" anchor="t"/>
          <a:lstStyle/>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好きなファッションを、ご自分の言葉にして、発信の形にする3ヶ月です。</a:t>
            </a:r>
            <a:endParaRPr lang="en-US" sz="1400" dirty="0"/>
          </a:p>
          <a:p>
            <a:pPr indent="0" marL="0">
              <a:lnSpc>
                <a:spcPts val="2500"/>
              </a:lnSpc>
              <a:buNone/>
            </a:pP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これは起業の講座ではありません。販売の仕組みは扱いません。</a:t>
            </a: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お仕事にされなくても大丈夫です。そこまででも、十分に意味があります。</a:t>
            </a:r>
            <a:endParaRPr lang="en-US" sz="1400" dirty="0"/>
          </a:p>
        </p:txBody>
      </p:sp>
      <p:sp>
        <p:nvSpPr>
          <p:cNvPr id="16" name="Shape 14"/>
          <p:cNvSpPr/>
          <p:nvPr/>
        </p:nvSpPr>
        <p:spPr>
          <a:xfrm>
            <a:off x="731520" y="4434840"/>
            <a:ext cx="10698480" cy="0"/>
          </a:xfrm>
          <a:prstGeom prst="line">
            <a:avLst/>
          </a:prstGeom>
          <a:noFill/>
          <a:ln w="12700">
            <a:solidFill>
              <a:srgbClr val="E0D6D2"/>
            </a:solidFill>
            <a:prstDash val="solid"/>
          </a:ln>
        </p:spPr>
      </p:sp>
      <p:sp>
        <p:nvSpPr>
          <p:cNvPr id="17" name="Text 15"/>
          <p:cNvSpPr txBox="1"/>
          <p:nvPr/>
        </p:nvSpPr>
        <p:spPr>
          <a:xfrm>
            <a:off x="777240" y="4617720"/>
            <a:ext cx="10698480" cy="457200"/>
          </a:xfrm>
          <a:prstGeom prst="rect">
            <a:avLst/>
          </a:prstGeom>
          <a:noFill/>
          <a:ln/>
        </p:spPr>
        <p:txBody>
          <a:bodyPr wrap="square" lIns="0" tIns="0" rIns="0" bIns="0" rtlCol="0" anchor="ctr"/>
          <a:lstStyle/>
          <a:p>
            <a:pPr indent="0" marL="0">
              <a:buNone/>
            </a:pPr>
            <a:r>
              <a:rPr lang="en-US" sz="1200" dirty="0">
                <a:solidFill>
                  <a:srgbClr val="6D2E46"/>
                </a:solidFill>
                <a:latin typeface="Calibri" pitchFamily="34" charset="0"/>
                <a:ea typeface="Calibri" pitchFamily="34" charset="-122"/>
                <a:cs typeface="Calibri" pitchFamily="34" charset="-120"/>
              </a:rPr>
              <a:t>全コース共通　質問し放題（48時間以内）／会員サイトとアーカイブ（受講期間中）／セルフコーチング／受講生の勉強会／動画撮影会1回</a:t>
            </a:r>
            <a:endParaRPr lang="en-US" sz="1200" dirty="0"/>
          </a:p>
        </p:txBody>
      </p:sp>
      <p:sp>
        <p:nvSpPr>
          <p:cNvPr id="18" name="Text 16"/>
          <p:cNvSpPr txBox="1"/>
          <p:nvPr/>
        </p:nvSpPr>
        <p:spPr>
          <a:xfrm>
            <a:off x="777240" y="49834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質問し放題は、ご自分の実践についてのご質問にお答えするものです（受講期間中）。制作の代行は含みません。</a:t>
            </a:r>
            <a:endParaRPr lang="en-US" sz="1100" dirty="0"/>
          </a:p>
        </p:txBody>
      </p:sp>
      <p:sp>
        <p:nvSpPr>
          <p:cNvPr id="19" name="Text 17"/>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i="1" dirty="0">
                <a:solidFill>
                  <a:srgbClr val="6A5A5E"/>
                </a:solidFill>
                <a:latin typeface="Calibri" pitchFamily="34" charset="0"/>
                <a:ea typeface="Calibri" pitchFamily="34" charset="-122"/>
                <a:cs typeface="Calibri" pitchFamily="34" charset="-120"/>
              </a:rPr>
              <a:t>今回がはじめての開講なので、モニター価格です。受講後に感想をお聞かせください。</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77240" y="457200"/>
            <a:ext cx="731520" cy="731520"/>
          </a:xfrm>
          <a:prstGeom prst="rect">
            <a:avLst/>
          </a:prstGeom>
          <a:noFill/>
          <a:ln/>
        </p:spPr>
        <p:txBody>
          <a:bodyPr wrap="square" lIns="0" tIns="0" rIns="0" bIns="0" rtlCol="0" anchor="ctr"/>
          <a:lstStyle/>
          <a:p>
            <a:pPr indent="0" marL="0">
              <a:buNone/>
            </a:pPr>
            <a:r>
              <a:rPr lang="en-US" sz="3600" b="1" dirty="0">
                <a:solidFill>
                  <a:srgbClr val="A26769"/>
                </a:solidFill>
                <a:latin typeface="Cambria" pitchFamily="34" charset="0"/>
                <a:ea typeface="Cambria" pitchFamily="34" charset="-122"/>
                <a:cs typeface="Cambria" pitchFamily="34" charset="-120"/>
              </a:rPr>
              <a:t>二</a:t>
            </a:r>
            <a:endParaRPr lang="en-US" sz="3600" dirty="0"/>
          </a:p>
        </p:txBody>
      </p:sp>
      <p:sp>
        <p:nvSpPr>
          <p:cNvPr id="3" name="Text 1"/>
          <p:cNvSpPr txBox="1"/>
          <p:nvPr/>
        </p:nvSpPr>
        <p:spPr>
          <a:xfrm>
            <a:off x="1600200" y="457200"/>
            <a:ext cx="6949440" cy="77724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ファッション心理学AI活用　商品づくり講座</a:t>
            </a:r>
            <a:endParaRPr lang="en-US" sz="2600" dirty="0"/>
          </a:p>
        </p:txBody>
      </p:sp>
      <p:sp>
        <p:nvSpPr>
          <p:cNvPr id="4" name="Text 2"/>
          <p:cNvSpPr txBox="1"/>
          <p:nvPr/>
        </p:nvSpPr>
        <p:spPr>
          <a:xfrm>
            <a:off x="1627632" y="1234440"/>
            <a:ext cx="6949440" cy="32004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3ヶ月／オンライン＋対面</a:t>
            </a:r>
            <a:endParaRPr lang="en-US" sz="1300" dirty="0"/>
          </a:p>
        </p:txBody>
      </p:sp>
      <p:sp>
        <p:nvSpPr>
          <p:cNvPr id="5" name="Text 3"/>
          <p:cNvSpPr txBox="1"/>
          <p:nvPr/>
        </p:nvSpPr>
        <p:spPr>
          <a:xfrm>
            <a:off x="8778240" y="502920"/>
            <a:ext cx="2651760" cy="640080"/>
          </a:xfrm>
          <a:prstGeom prst="rect">
            <a:avLst/>
          </a:prstGeom>
          <a:noFill/>
          <a:ln/>
        </p:spPr>
        <p:txBody>
          <a:bodyPr wrap="square" lIns="0" tIns="0" rIns="0" bIns="0" rtlCol="0" anchor="ctr"/>
          <a:lstStyle/>
          <a:p>
            <a:pPr algn="r" indent="0" marL="0">
              <a:buNone/>
            </a:pPr>
            <a:r>
              <a:rPr lang="en-US" sz="3000" b="1" dirty="0">
                <a:solidFill>
                  <a:srgbClr val="6D2E46"/>
                </a:solidFill>
                <a:latin typeface="Cambria" pitchFamily="34" charset="0"/>
                <a:ea typeface="Cambria" pitchFamily="34" charset="-122"/>
                <a:cs typeface="Cambria" pitchFamily="34" charset="-120"/>
              </a:rPr>
              <a:t>330,000円</a:t>
            </a:r>
            <a:endParaRPr lang="en-US" sz="3000" dirty="0"/>
          </a:p>
        </p:txBody>
      </p:sp>
      <p:sp>
        <p:nvSpPr>
          <p:cNvPr id="6" name="Shape 4"/>
          <p:cNvSpPr/>
          <p:nvPr/>
        </p:nvSpPr>
        <p:spPr>
          <a:xfrm>
            <a:off x="731520" y="1783080"/>
            <a:ext cx="10698480" cy="0"/>
          </a:xfrm>
          <a:prstGeom prst="line">
            <a:avLst/>
          </a:prstGeom>
          <a:noFill/>
          <a:ln w="12700">
            <a:solidFill>
              <a:srgbClr val="E0D6D2"/>
            </a:solidFill>
            <a:prstDash val="solid"/>
          </a:ln>
        </p:spPr>
      </p:sp>
      <p:sp>
        <p:nvSpPr>
          <p:cNvPr id="7" name="Text 5"/>
          <p:cNvSpPr txBox="1"/>
          <p:nvPr/>
        </p:nvSpPr>
        <p:spPr>
          <a:xfrm>
            <a:off x="777240" y="2103120"/>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オンライン講座</a:t>
            </a:r>
            <a:endParaRPr lang="en-US" sz="1300" dirty="0"/>
          </a:p>
        </p:txBody>
      </p:sp>
      <p:sp>
        <p:nvSpPr>
          <p:cNvPr id="8" name="Text 6"/>
          <p:cNvSpPr txBox="1"/>
          <p:nvPr/>
        </p:nvSpPr>
        <p:spPr>
          <a:xfrm>
            <a:off x="2743200" y="2103120"/>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計6回（1回90分）</a:t>
            </a:r>
            <a:endParaRPr lang="en-US" sz="1300" dirty="0"/>
          </a:p>
        </p:txBody>
      </p:sp>
      <p:sp>
        <p:nvSpPr>
          <p:cNvPr id="9" name="Text 7"/>
          <p:cNvSpPr txBox="1"/>
          <p:nvPr/>
        </p:nvSpPr>
        <p:spPr>
          <a:xfrm>
            <a:off x="777240" y="2761488"/>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対面ワークショップ</a:t>
            </a:r>
            <a:endParaRPr lang="en-US" sz="1300" dirty="0"/>
          </a:p>
        </p:txBody>
      </p:sp>
      <p:sp>
        <p:nvSpPr>
          <p:cNvPr id="10" name="Text 8"/>
          <p:cNvSpPr txBox="1"/>
          <p:nvPr/>
        </p:nvSpPr>
        <p:spPr>
          <a:xfrm>
            <a:off x="2743200" y="2761488"/>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1回（10:00-15:00）</a:t>
            </a:r>
            <a:endParaRPr lang="en-US" sz="1300" dirty="0"/>
          </a:p>
        </p:txBody>
      </p:sp>
      <p:sp>
        <p:nvSpPr>
          <p:cNvPr id="11" name="Text 9"/>
          <p:cNvSpPr txBox="1"/>
          <p:nvPr/>
        </p:nvSpPr>
        <p:spPr>
          <a:xfrm>
            <a:off x="777240" y="3419856"/>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合計の時間</a:t>
            </a:r>
            <a:endParaRPr lang="en-US" sz="1300" dirty="0"/>
          </a:p>
        </p:txBody>
      </p:sp>
      <p:sp>
        <p:nvSpPr>
          <p:cNvPr id="12" name="Text 10"/>
          <p:cNvSpPr txBox="1"/>
          <p:nvPr/>
        </p:nvSpPr>
        <p:spPr>
          <a:xfrm>
            <a:off x="2743200" y="3419856"/>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14時間</a:t>
            </a:r>
            <a:endParaRPr lang="en-US" sz="1300" dirty="0"/>
          </a:p>
        </p:txBody>
      </p:sp>
      <p:sp>
        <p:nvSpPr>
          <p:cNvPr id="13" name="Shape 11"/>
          <p:cNvSpPr/>
          <p:nvPr/>
        </p:nvSpPr>
        <p:spPr>
          <a:xfrm>
            <a:off x="5943600" y="2057400"/>
            <a:ext cx="0" cy="1828800"/>
          </a:xfrm>
          <a:prstGeom prst="line">
            <a:avLst/>
          </a:prstGeom>
          <a:noFill/>
          <a:ln w="12700">
            <a:solidFill>
              <a:srgbClr val="E0D6D2"/>
            </a:solidFill>
            <a:prstDash val="solid"/>
          </a:ln>
        </p:spPr>
      </p:sp>
      <p:sp>
        <p:nvSpPr>
          <p:cNvPr id="14" name="Text 12"/>
          <p:cNvSpPr txBox="1"/>
          <p:nvPr/>
        </p:nvSpPr>
        <p:spPr>
          <a:xfrm>
            <a:off x="6400800" y="2011680"/>
            <a:ext cx="5029200" cy="2011680"/>
          </a:xfrm>
          <a:prstGeom prst="rect">
            <a:avLst/>
          </a:prstGeom>
          <a:noFill/>
          <a:ln/>
        </p:spPr>
        <p:txBody>
          <a:bodyPr wrap="square" lIns="0" tIns="0" rIns="0" bIns="0" rtlCol="0" anchor="t"/>
          <a:lstStyle/>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まず、ファッション心理学を学びます。</a:t>
            </a: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「似合う」とは何が起きているのか。人はなぜ服を選び、なぜ迷うのか。</a:t>
            </a:r>
            <a:endParaRPr lang="en-US" sz="1400" dirty="0"/>
          </a:p>
          <a:p>
            <a:pPr indent="0" marL="0">
              <a:lnSpc>
                <a:spcPts val="2500"/>
              </a:lnSpc>
              <a:buNone/>
            </a:pP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そのうえで、それを材料にして、ご自分の商品をつくります。</a:t>
            </a:r>
            <a:endParaRPr lang="en-US" sz="1400" dirty="0"/>
          </a:p>
        </p:txBody>
      </p:sp>
      <p:sp>
        <p:nvSpPr>
          <p:cNvPr id="15" name="Shape 13"/>
          <p:cNvSpPr/>
          <p:nvPr/>
        </p:nvSpPr>
        <p:spPr>
          <a:xfrm>
            <a:off x="731520" y="4434840"/>
            <a:ext cx="10698480" cy="0"/>
          </a:xfrm>
          <a:prstGeom prst="line">
            <a:avLst/>
          </a:prstGeom>
          <a:noFill/>
          <a:ln w="12700">
            <a:solidFill>
              <a:srgbClr val="E0D6D2"/>
            </a:solidFill>
            <a:prstDash val="solid"/>
          </a:ln>
        </p:spPr>
      </p:sp>
      <p:sp>
        <p:nvSpPr>
          <p:cNvPr id="16" name="Text 14"/>
          <p:cNvSpPr txBox="1"/>
          <p:nvPr/>
        </p:nvSpPr>
        <p:spPr>
          <a:xfrm>
            <a:off x="777240" y="4617720"/>
            <a:ext cx="10698480" cy="457200"/>
          </a:xfrm>
          <a:prstGeom prst="rect">
            <a:avLst/>
          </a:prstGeom>
          <a:noFill/>
          <a:ln/>
        </p:spPr>
        <p:txBody>
          <a:bodyPr wrap="square" lIns="0" tIns="0" rIns="0" bIns="0" rtlCol="0" anchor="ctr"/>
          <a:lstStyle/>
          <a:p>
            <a:pPr indent="0" marL="0">
              <a:buNone/>
            </a:pPr>
            <a:r>
              <a:rPr lang="en-US" sz="1200" dirty="0">
                <a:solidFill>
                  <a:srgbClr val="6D2E46"/>
                </a:solidFill>
                <a:latin typeface="Calibri" pitchFamily="34" charset="0"/>
                <a:ea typeface="Calibri" pitchFamily="34" charset="-122"/>
                <a:cs typeface="Calibri" pitchFamily="34" charset="-120"/>
              </a:rPr>
              <a:t>全コース共通　質問し放題（48時間以内）／会員サイトとアーカイブ（受講期間中）／セルフコーチング／受講生の勉強会／動画撮影会1回</a:t>
            </a:r>
            <a:endParaRPr lang="en-US" sz="1200" dirty="0"/>
          </a:p>
        </p:txBody>
      </p:sp>
      <p:sp>
        <p:nvSpPr>
          <p:cNvPr id="17" name="Text 15"/>
          <p:cNvSpPr txBox="1"/>
          <p:nvPr/>
        </p:nvSpPr>
        <p:spPr>
          <a:xfrm>
            <a:off x="777240" y="49834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質問し放題は、ご自分の実践についてのご質問にお答えするものです（受講期間中）。制作の代行は含みません。</a:t>
            </a:r>
            <a:endParaRPr lang="en-US" sz="1100" dirty="0"/>
          </a:p>
        </p:txBody>
      </p:sp>
      <p:sp>
        <p:nvSpPr>
          <p:cNvPr id="18" name="Text 16"/>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i="1" dirty="0">
                <a:solidFill>
                  <a:srgbClr val="6A5A5E"/>
                </a:solidFill>
                <a:latin typeface="Calibri" pitchFamily="34" charset="0"/>
                <a:ea typeface="Calibri" pitchFamily="34" charset="-122"/>
                <a:cs typeface="Calibri" pitchFamily="34" charset="-120"/>
              </a:rPr>
              <a:t>知識を仕入れて終わりにしません。3ヶ月で、売るものが決まります。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77240" y="457200"/>
            <a:ext cx="731520" cy="731520"/>
          </a:xfrm>
          <a:prstGeom prst="rect">
            <a:avLst/>
          </a:prstGeom>
          <a:noFill/>
          <a:ln/>
        </p:spPr>
        <p:txBody>
          <a:bodyPr wrap="square" lIns="0" tIns="0" rIns="0" bIns="0" rtlCol="0" anchor="ctr"/>
          <a:lstStyle/>
          <a:p>
            <a:pPr indent="0" marL="0">
              <a:buNone/>
            </a:pPr>
            <a:r>
              <a:rPr lang="en-US" sz="3600" b="1" dirty="0">
                <a:solidFill>
                  <a:srgbClr val="A26769"/>
                </a:solidFill>
                <a:latin typeface="Cambria" pitchFamily="34" charset="0"/>
                <a:ea typeface="Cambria" pitchFamily="34" charset="-122"/>
                <a:cs typeface="Cambria" pitchFamily="34" charset="-120"/>
              </a:rPr>
              <a:t>三</a:t>
            </a:r>
            <a:endParaRPr lang="en-US" sz="3600" dirty="0"/>
          </a:p>
        </p:txBody>
      </p:sp>
      <p:sp>
        <p:nvSpPr>
          <p:cNvPr id="3" name="Text 1"/>
          <p:cNvSpPr txBox="1"/>
          <p:nvPr/>
        </p:nvSpPr>
        <p:spPr>
          <a:xfrm>
            <a:off x="1600200" y="457200"/>
            <a:ext cx="6949440" cy="77724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ファッション起業AI活用　マスター講座</a:t>
            </a:r>
            <a:endParaRPr lang="en-US" sz="2600" dirty="0"/>
          </a:p>
        </p:txBody>
      </p:sp>
      <p:sp>
        <p:nvSpPr>
          <p:cNvPr id="4" name="Text 2"/>
          <p:cNvSpPr txBox="1"/>
          <p:nvPr/>
        </p:nvSpPr>
        <p:spPr>
          <a:xfrm>
            <a:off x="1627632" y="1234440"/>
            <a:ext cx="6949440" cy="32004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6ヶ月／オンライン＋対面</a:t>
            </a:r>
            <a:endParaRPr lang="en-US" sz="1300" dirty="0"/>
          </a:p>
        </p:txBody>
      </p:sp>
      <p:sp>
        <p:nvSpPr>
          <p:cNvPr id="5" name="Text 3"/>
          <p:cNvSpPr txBox="1"/>
          <p:nvPr/>
        </p:nvSpPr>
        <p:spPr>
          <a:xfrm>
            <a:off x="8778240" y="502920"/>
            <a:ext cx="2651760" cy="640080"/>
          </a:xfrm>
          <a:prstGeom prst="rect">
            <a:avLst/>
          </a:prstGeom>
          <a:noFill/>
          <a:ln/>
        </p:spPr>
        <p:txBody>
          <a:bodyPr wrap="square" lIns="0" tIns="0" rIns="0" bIns="0" rtlCol="0" anchor="ctr"/>
          <a:lstStyle/>
          <a:p>
            <a:pPr algn="r" indent="0" marL="0">
              <a:buNone/>
            </a:pPr>
            <a:r>
              <a:rPr lang="en-US" sz="3000" b="1" dirty="0">
                <a:solidFill>
                  <a:srgbClr val="6D2E46"/>
                </a:solidFill>
                <a:latin typeface="Cambria" pitchFamily="34" charset="0"/>
                <a:ea typeface="Cambria" pitchFamily="34" charset="-122"/>
                <a:cs typeface="Cambria" pitchFamily="34" charset="-120"/>
              </a:rPr>
              <a:t>550,000円</a:t>
            </a:r>
            <a:endParaRPr lang="en-US" sz="3000" dirty="0"/>
          </a:p>
        </p:txBody>
      </p:sp>
      <p:sp>
        <p:nvSpPr>
          <p:cNvPr id="6" name="Text 4"/>
          <p:cNvSpPr txBox="1"/>
          <p:nvPr/>
        </p:nvSpPr>
        <p:spPr>
          <a:xfrm>
            <a:off x="8778240" y="1188720"/>
            <a:ext cx="2651760" cy="320040"/>
          </a:xfrm>
          <a:prstGeom prst="rect">
            <a:avLst/>
          </a:prstGeom>
          <a:noFill/>
          <a:ln/>
        </p:spPr>
        <p:txBody>
          <a:bodyPr wrap="square" lIns="0" tIns="0" rIns="0" bIns="0" rtlCol="0" anchor="ctr"/>
          <a:lstStyle/>
          <a:p>
            <a:pPr algn="r" indent="0" marL="0">
              <a:buNone/>
            </a:pPr>
            <a:r>
              <a:rPr lang="en-US" sz="1200" dirty="0">
                <a:solidFill>
                  <a:srgbClr val="A26769"/>
                </a:solidFill>
                <a:latin typeface="Calibri" pitchFamily="34" charset="0"/>
                <a:ea typeface="Calibri" pitchFamily="34" charset="-122"/>
                <a:cs typeface="Calibri" pitchFamily="34" charset="-120"/>
              </a:rPr>
              <a:t>定員 5名</a:t>
            </a:r>
            <a:endParaRPr lang="en-US" sz="1200" dirty="0"/>
          </a:p>
        </p:txBody>
      </p:sp>
      <p:sp>
        <p:nvSpPr>
          <p:cNvPr id="7" name="Shape 5"/>
          <p:cNvSpPr/>
          <p:nvPr/>
        </p:nvSpPr>
        <p:spPr>
          <a:xfrm>
            <a:off x="731520" y="1783080"/>
            <a:ext cx="10698480" cy="0"/>
          </a:xfrm>
          <a:prstGeom prst="line">
            <a:avLst/>
          </a:prstGeom>
          <a:noFill/>
          <a:ln w="12700">
            <a:solidFill>
              <a:srgbClr val="E0D6D2"/>
            </a:solidFill>
            <a:prstDash val="solid"/>
          </a:ln>
        </p:spPr>
      </p:sp>
      <p:sp>
        <p:nvSpPr>
          <p:cNvPr id="8" name="Text 6"/>
          <p:cNvSpPr txBox="1"/>
          <p:nvPr/>
        </p:nvSpPr>
        <p:spPr>
          <a:xfrm>
            <a:off x="777240" y="2103120"/>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オンライン講座</a:t>
            </a:r>
            <a:endParaRPr lang="en-US" sz="1300" dirty="0"/>
          </a:p>
        </p:txBody>
      </p:sp>
      <p:sp>
        <p:nvSpPr>
          <p:cNvPr id="9" name="Text 7"/>
          <p:cNvSpPr txBox="1"/>
          <p:nvPr/>
        </p:nvSpPr>
        <p:spPr>
          <a:xfrm>
            <a:off x="2743200" y="2103120"/>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計12回（1回90分）</a:t>
            </a:r>
            <a:endParaRPr lang="en-US" sz="1300" dirty="0"/>
          </a:p>
        </p:txBody>
      </p:sp>
      <p:sp>
        <p:nvSpPr>
          <p:cNvPr id="10" name="Text 8"/>
          <p:cNvSpPr txBox="1"/>
          <p:nvPr/>
        </p:nvSpPr>
        <p:spPr>
          <a:xfrm>
            <a:off x="777240" y="2761488"/>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対面ワークショップ</a:t>
            </a:r>
            <a:endParaRPr lang="en-US" sz="1300" dirty="0"/>
          </a:p>
        </p:txBody>
      </p:sp>
      <p:sp>
        <p:nvSpPr>
          <p:cNvPr id="11" name="Text 9"/>
          <p:cNvSpPr txBox="1"/>
          <p:nvPr/>
        </p:nvSpPr>
        <p:spPr>
          <a:xfrm>
            <a:off x="2743200" y="2761488"/>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2回（各10:00-15:00）</a:t>
            </a:r>
            <a:endParaRPr lang="en-US" sz="1300" dirty="0"/>
          </a:p>
        </p:txBody>
      </p:sp>
      <p:sp>
        <p:nvSpPr>
          <p:cNvPr id="12" name="Text 10"/>
          <p:cNvSpPr txBox="1"/>
          <p:nvPr/>
        </p:nvSpPr>
        <p:spPr>
          <a:xfrm>
            <a:off x="777240" y="3419856"/>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合計の時間</a:t>
            </a:r>
            <a:endParaRPr lang="en-US" sz="1300" dirty="0"/>
          </a:p>
        </p:txBody>
      </p:sp>
      <p:sp>
        <p:nvSpPr>
          <p:cNvPr id="13" name="Text 11"/>
          <p:cNvSpPr txBox="1"/>
          <p:nvPr/>
        </p:nvSpPr>
        <p:spPr>
          <a:xfrm>
            <a:off x="2743200" y="3419856"/>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28時間</a:t>
            </a:r>
            <a:endParaRPr lang="en-US" sz="1300" dirty="0"/>
          </a:p>
        </p:txBody>
      </p:sp>
      <p:sp>
        <p:nvSpPr>
          <p:cNvPr id="14" name="Shape 12"/>
          <p:cNvSpPr/>
          <p:nvPr/>
        </p:nvSpPr>
        <p:spPr>
          <a:xfrm>
            <a:off x="5943600" y="2057400"/>
            <a:ext cx="0" cy="1828800"/>
          </a:xfrm>
          <a:prstGeom prst="line">
            <a:avLst/>
          </a:prstGeom>
          <a:noFill/>
          <a:ln w="12700">
            <a:solidFill>
              <a:srgbClr val="E0D6D2"/>
            </a:solidFill>
            <a:prstDash val="solid"/>
          </a:ln>
        </p:spPr>
      </p:sp>
      <p:sp>
        <p:nvSpPr>
          <p:cNvPr id="15" name="Text 13"/>
          <p:cNvSpPr txBox="1"/>
          <p:nvPr/>
        </p:nvSpPr>
        <p:spPr>
          <a:xfrm>
            <a:off x="6400800" y="2011680"/>
            <a:ext cx="5029200" cy="2011680"/>
          </a:xfrm>
          <a:prstGeom prst="rect">
            <a:avLst/>
          </a:prstGeom>
          <a:noFill/>
          <a:ln/>
        </p:spPr>
        <p:txBody>
          <a:bodyPr wrap="square" lIns="0" tIns="0" rIns="0" bIns="0" rtlCol="0" anchor="t"/>
          <a:lstStyle/>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前半の3ヶ月　ファッション心理学を学び、商品をつくる</a:t>
            </a: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後半の3ヶ月　販売の動線をつくり、自動化する</a:t>
            </a:r>
            <a:endParaRPr lang="en-US" sz="1400" dirty="0"/>
          </a:p>
          <a:p>
            <a:pPr indent="0" marL="0">
              <a:lnSpc>
                <a:spcPts val="2500"/>
              </a:lnSpc>
              <a:buNone/>
            </a:pP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UTAGE・公式LINEを使った申し込みの仕組み、コーチングセールスまで。</a:t>
            </a:r>
            <a:endParaRPr lang="en-US" sz="1400" dirty="0"/>
          </a:p>
        </p:txBody>
      </p:sp>
      <p:sp>
        <p:nvSpPr>
          <p:cNvPr id="16" name="Shape 14"/>
          <p:cNvSpPr/>
          <p:nvPr/>
        </p:nvSpPr>
        <p:spPr>
          <a:xfrm>
            <a:off x="731520" y="4434840"/>
            <a:ext cx="10698480" cy="0"/>
          </a:xfrm>
          <a:prstGeom prst="line">
            <a:avLst/>
          </a:prstGeom>
          <a:noFill/>
          <a:ln w="12700">
            <a:solidFill>
              <a:srgbClr val="E0D6D2"/>
            </a:solidFill>
            <a:prstDash val="solid"/>
          </a:ln>
        </p:spPr>
      </p:sp>
      <p:sp>
        <p:nvSpPr>
          <p:cNvPr id="17" name="Text 15"/>
          <p:cNvSpPr txBox="1"/>
          <p:nvPr/>
        </p:nvSpPr>
        <p:spPr>
          <a:xfrm>
            <a:off x="777240" y="4617720"/>
            <a:ext cx="10698480" cy="457200"/>
          </a:xfrm>
          <a:prstGeom prst="rect">
            <a:avLst/>
          </a:prstGeom>
          <a:noFill/>
          <a:ln/>
        </p:spPr>
        <p:txBody>
          <a:bodyPr wrap="square" lIns="0" tIns="0" rIns="0" bIns="0" rtlCol="0" anchor="ctr"/>
          <a:lstStyle/>
          <a:p>
            <a:pPr indent="0" marL="0">
              <a:buNone/>
            </a:pPr>
            <a:r>
              <a:rPr lang="en-US" sz="1200" dirty="0">
                <a:solidFill>
                  <a:srgbClr val="6D2E46"/>
                </a:solidFill>
                <a:latin typeface="Calibri" pitchFamily="34" charset="0"/>
                <a:ea typeface="Calibri" pitchFamily="34" charset="-122"/>
                <a:cs typeface="Calibri" pitchFamily="34" charset="-120"/>
              </a:rPr>
              <a:t>全コース共通　質問し放題（48時間以内）／会員サイトとアーカイブ（受講期間中）／セルフコーチング／受講生の勉強会／動画撮影会1回</a:t>
            </a:r>
            <a:endParaRPr lang="en-US" sz="1200" dirty="0"/>
          </a:p>
        </p:txBody>
      </p:sp>
      <p:sp>
        <p:nvSpPr>
          <p:cNvPr id="18" name="Text 16"/>
          <p:cNvSpPr txBox="1"/>
          <p:nvPr/>
        </p:nvSpPr>
        <p:spPr>
          <a:xfrm>
            <a:off x="777240" y="49834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質問し放題は、ご自分の実践についてのご質問にお答えするものです（受講期間中）。制作の代行は含みません。</a:t>
            </a:r>
            <a:endParaRPr lang="en-US" sz="1100" dirty="0"/>
          </a:p>
        </p:txBody>
      </p:sp>
      <p:sp>
        <p:nvSpPr>
          <p:cNvPr id="19" name="Text 17"/>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i="1" dirty="0">
                <a:solidFill>
                  <a:srgbClr val="6A5A5E"/>
                </a:solidFill>
                <a:latin typeface="Calibri" pitchFamily="34" charset="0"/>
                <a:ea typeface="Calibri" pitchFamily="34" charset="-122"/>
                <a:cs typeface="Calibri" pitchFamily="34" charset="-120"/>
              </a:rPr>
              <a:t>お一人ずつに目が届く形にしたいので、5名までにしています。</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講座の中身</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5つに分かれています。「三」はこの全部、「二」は一と二と五の一部です。</a:t>
            </a:r>
            <a:endParaRPr lang="en-US" sz="1400" dirty="0"/>
          </a:p>
        </p:txBody>
      </p:sp>
      <p:sp>
        <p:nvSpPr>
          <p:cNvPr id="4" name="Text 2"/>
          <p:cNvSpPr txBox="1"/>
          <p:nvPr/>
        </p:nvSpPr>
        <p:spPr>
          <a:xfrm>
            <a:off x="777240" y="18562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一</a:t>
            </a:r>
            <a:endParaRPr lang="en-US" sz="2000" dirty="0"/>
          </a:p>
        </p:txBody>
      </p:sp>
      <p:sp>
        <p:nvSpPr>
          <p:cNvPr id="5" name="Text 3"/>
          <p:cNvSpPr txBox="1"/>
          <p:nvPr/>
        </p:nvSpPr>
        <p:spPr>
          <a:xfrm>
            <a:off x="1325880" y="18288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商品作成とマーケティング基礎</a:t>
            </a:r>
            <a:endParaRPr lang="en-US" sz="1500" dirty="0"/>
          </a:p>
        </p:txBody>
      </p:sp>
      <p:sp>
        <p:nvSpPr>
          <p:cNvPr id="6" name="Text 4"/>
          <p:cNvSpPr txBox="1"/>
          <p:nvPr/>
        </p:nvSpPr>
        <p:spPr>
          <a:xfrm>
            <a:off x="4480560" y="18288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ポジショニング／マーケティング概論／リサーチと自己分析／商品作成と説明用パワポ／LP作成／コピーライティング／AI</a:t>
            </a:r>
            <a:endParaRPr lang="en-US" sz="1150" dirty="0"/>
          </a:p>
        </p:txBody>
      </p:sp>
      <p:sp>
        <p:nvSpPr>
          <p:cNvPr id="7" name="Shape 5"/>
          <p:cNvSpPr/>
          <p:nvPr/>
        </p:nvSpPr>
        <p:spPr>
          <a:xfrm>
            <a:off x="731520" y="2633472"/>
            <a:ext cx="10698480" cy="0"/>
          </a:xfrm>
          <a:prstGeom prst="line">
            <a:avLst/>
          </a:prstGeom>
          <a:noFill/>
          <a:ln w="12700">
            <a:solidFill>
              <a:srgbClr val="E0D6D2"/>
            </a:solidFill>
            <a:prstDash val="solid"/>
          </a:ln>
        </p:spPr>
      </p:sp>
      <p:sp>
        <p:nvSpPr>
          <p:cNvPr id="8" name="Text 6"/>
          <p:cNvSpPr txBox="1"/>
          <p:nvPr/>
        </p:nvSpPr>
        <p:spPr>
          <a:xfrm>
            <a:off x="777240" y="27706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二</a:t>
            </a:r>
            <a:endParaRPr lang="en-US" sz="2000" dirty="0"/>
          </a:p>
        </p:txBody>
      </p:sp>
      <p:sp>
        <p:nvSpPr>
          <p:cNvPr id="9" name="Text 7"/>
          <p:cNvSpPr txBox="1"/>
          <p:nvPr/>
        </p:nvSpPr>
        <p:spPr>
          <a:xfrm>
            <a:off x="1325880" y="27432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インスタ企画</a:t>
            </a:r>
            <a:endParaRPr lang="en-US" sz="1500" dirty="0"/>
          </a:p>
        </p:txBody>
      </p:sp>
      <p:sp>
        <p:nvSpPr>
          <p:cNvPr id="10" name="Text 8"/>
          <p:cNvSpPr txBox="1"/>
          <p:nvPr/>
        </p:nvSpPr>
        <p:spPr>
          <a:xfrm>
            <a:off x="4480560" y="27432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アルゴリズム／AI活用・EDITS／インサイト分析／競合リサーチ／動画撮影／動画編集／シナリオの書き方</a:t>
            </a:r>
            <a:endParaRPr lang="en-US" sz="1150" dirty="0"/>
          </a:p>
        </p:txBody>
      </p:sp>
      <p:sp>
        <p:nvSpPr>
          <p:cNvPr id="11" name="Shape 9"/>
          <p:cNvSpPr/>
          <p:nvPr/>
        </p:nvSpPr>
        <p:spPr>
          <a:xfrm>
            <a:off x="731520" y="3547872"/>
            <a:ext cx="10698480" cy="0"/>
          </a:xfrm>
          <a:prstGeom prst="line">
            <a:avLst/>
          </a:prstGeom>
          <a:noFill/>
          <a:ln w="12700">
            <a:solidFill>
              <a:srgbClr val="E0D6D2"/>
            </a:solidFill>
            <a:prstDash val="solid"/>
          </a:ln>
        </p:spPr>
      </p:sp>
      <p:sp>
        <p:nvSpPr>
          <p:cNvPr id="12" name="Text 10"/>
          <p:cNvSpPr txBox="1"/>
          <p:nvPr/>
        </p:nvSpPr>
        <p:spPr>
          <a:xfrm>
            <a:off x="777240" y="36850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三</a:t>
            </a:r>
            <a:endParaRPr lang="en-US" sz="2000" dirty="0"/>
          </a:p>
        </p:txBody>
      </p:sp>
      <p:sp>
        <p:nvSpPr>
          <p:cNvPr id="13" name="Text 11"/>
          <p:cNvSpPr txBox="1"/>
          <p:nvPr/>
        </p:nvSpPr>
        <p:spPr>
          <a:xfrm>
            <a:off x="1325880" y="36576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動線設計</a:t>
            </a:r>
            <a:endParaRPr lang="en-US" sz="1500" dirty="0"/>
          </a:p>
        </p:txBody>
      </p:sp>
      <p:sp>
        <p:nvSpPr>
          <p:cNvPr id="14" name="Text 12"/>
          <p:cNvSpPr txBox="1"/>
          <p:nvPr/>
        </p:nvSpPr>
        <p:spPr>
          <a:xfrm>
            <a:off x="4480560" y="36576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公式LINEのプレゼント作成（PDF・教育動画）／エルメとの連携／LINEステップ</a:t>
            </a:r>
            <a:endParaRPr lang="en-US" sz="1150" dirty="0"/>
          </a:p>
        </p:txBody>
      </p:sp>
      <p:sp>
        <p:nvSpPr>
          <p:cNvPr id="15" name="Shape 13"/>
          <p:cNvSpPr/>
          <p:nvPr/>
        </p:nvSpPr>
        <p:spPr>
          <a:xfrm>
            <a:off x="731520" y="4462272"/>
            <a:ext cx="10698480" cy="0"/>
          </a:xfrm>
          <a:prstGeom prst="line">
            <a:avLst/>
          </a:prstGeom>
          <a:noFill/>
          <a:ln w="12700">
            <a:solidFill>
              <a:srgbClr val="E0D6D2"/>
            </a:solidFill>
            <a:prstDash val="solid"/>
          </a:ln>
        </p:spPr>
      </p:sp>
      <p:sp>
        <p:nvSpPr>
          <p:cNvPr id="16" name="Text 14"/>
          <p:cNvSpPr txBox="1"/>
          <p:nvPr/>
        </p:nvSpPr>
        <p:spPr>
          <a:xfrm>
            <a:off x="777240" y="45994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四</a:t>
            </a:r>
            <a:endParaRPr lang="en-US" sz="2000" dirty="0"/>
          </a:p>
        </p:txBody>
      </p:sp>
      <p:sp>
        <p:nvSpPr>
          <p:cNvPr id="17" name="Text 15"/>
          <p:cNvSpPr txBox="1"/>
          <p:nvPr/>
        </p:nvSpPr>
        <p:spPr>
          <a:xfrm>
            <a:off x="1325880" y="45720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商品販売</a:t>
            </a:r>
            <a:endParaRPr lang="en-US" sz="1500" dirty="0"/>
          </a:p>
        </p:txBody>
      </p:sp>
      <p:sp>
        <p:nvSpPr>
          <p:cNvPr id="18" name="Text 16"/>
          <p:cNvSpPr txBox="1"/>
          <p:nvPr/>
        </p:nvSpPr>
        <p:spPr>
          <a:xfrm>
            <a:off x="4480560" y="45720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セミナー・個別相談の企画／教育動画／バックエンド販売／資料作成／セールスの方法</a:t>
            </a:r>
            <a:endParaRPr lang="en-US" sz="1150" dirty="0"/>
          </a:p>
        </p:txBody>
      </p:sp>
      <p:sp>
        <p:nvSpPr>
          <p:cNvPr id="19" name="Shape 17"/>
          <p:cNvSpPr/>
          <p:nvPr/>
        </p:nvSpPr>
        <p:spPr>
          <a:xfrm>
            <a:off x="731520" y="5376672"/>
            <a:ext cx="10698480" cy="0"/>
          </a:xfrm>
          <a:prstGeom prst="line">
            <a:avLst/>
          </a:prstGeom>
          <a:noFill/>
          <a:ln w="12700">
            <a:solidFill>
              <a:srgbClr val="E0D6D2"/>
            </a:solidFill>
            <a:prstDash val="solid"/>
          </a:ln>
        </p:spPr>
      </p:sp>
      <p:sp>
        <p:nvSpPr>
          <p:cNvPr id="20" name="Text 18"/>
          <p:cNvSpPr txBox="1"/>
          <p:nvPr/>
        </p:nvSpPr>
        <p:spPr>
          <a:xfrm>
            <a:off x="777240" y="55138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五</a:t>
            </a:r>
            <a:endParaRPr lang="en-US" sz="2000" dirty="0"/>
          </a:p>
        </p:txBody>
      </p:sp>
      <p:sp>
        <p:nvSpPr>
          <p:cNvPr id="21" name="Text 19"/>
          <p:cNvSpPr txBox="1"/>
          <p:nvPr/>
        </p:nvSpPr>
        <p:spPr>
          <a:xfrm>
            <a:off x="1325880" y="54864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コーチング × ファッション心理学</a:t>
            </a:r>
            <a:endParaRPr lang="en-US" sz="1500" dirty="0"/>
          </a:p>
        </p:txBody>
      </p:sp>
      <p:sp>
        <p:nvSpPr>
          <p:cNvPr id="22" name="Text 20"/>
          <p:cNvSpPr txBox="1"/>
          <p:nvPr/>
        </p:nvSpPr>
        <p:spPr>
          <a:xfrm>
            <a:off x="4480560" y="54864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コーチング（自己管理・目標設定・セールス）／ファッション理論（素材・デザイン・シルエット・ブランド・色）／ファッション心理学（心理スケール・潜在意識・規範・流行・ライフスタイル・印象管理）</a:t>
            </a:r>
            <a:endParaRPr lang="en-US" sz="1150" dirty="0"/>
          </a:p>
        </p:txBody>
      </p:sp>
      <p:sp>
        <p:nvSpPr>
          <p:cNvPr id="23" name="Shape 21"/>
          <p:cNvSpPr/>
          <p:nvPr/>
        </p:nvSpPr>
        <p:spPr>
          <a:xfrm>
            <a:off x="731520" y="6291072"/>
            <a:ext cx="10698480" cy="0"/>
          </a:xfrm>
          <a:prstGeom prst="line">
            <a:avLst/>
          </a:prstGeom>
          <a:noFill/>
          <a:ln w="12700">
            <a:solidFill>
              <a:srgbClr val="E0D6D2"/>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各回の内容　AI × SNSマーケティング</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全11回。内容と回数は変わることがあります。</a:t>
            </a:r>
            <a:endParaRPr lang="en-US" sz="1400" dirty="0"/>
          </a:p>
        </p:txBody>
      </p:sp>
      <p:sp>
        <p:nvSpPr>
          <p:cNvPr id="4" name="Text 2"/>
          <p:cNvSpPr txBox="1"/>
          <p:nvPr/>
        </p:nvSpPr>
        <p:spPr>
          <a:xfrm>
            <a:off x="777240" y="1874520"/>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1</a:t>
            </a:r>
            <a:endParaRPr lang="en-US" sz="1500" dirty="0"/>
          </a:p>
        </p:txBody>
      </p:sp>
      <p:sp>
        <p:nvSpPr>
          <p:cNvPr id="5" name="Text 3"/>
          <p:cNvSpPr txBox="1"/>
          <p:nvPr/>
        </p:nvSpPr>
        <p:spPr>
          <a:xfrm>
            <a:off x="1463040" y="1874520"/>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ポジショニングとマーケティングの仕組み／競合リサーチ</a:t>
            </a:r>
            <a:endParaRPr lang="en-US" sz="1250" dirty="0"/>
          </a:p>
        </p:txBody>
      </p:sp>
      <p:sp>
        <p:nvSpPr>
          <p:cNvPr id="6" name="Shape 4"/>
          <p:cNvSpPr/>
          <p:nvPr/>
        </p:nvSpPr>
        <p:spPr>
          <a:xfrm>
            <a:off x="777240" y="2423160"/>
            <a:ext cx="5120640" cy="0"/>
          </a:xfrm>
          <a:prstGeom prst="line">
            <a:avLst/>
          </a:prstGeom>
          <a:noFill/>
          <a:ln w="12700">
            <a:solidFill>
              <a:srgbClr val="E0D6D2"/>
            </a:solidFill>
            <a:prstDash val="solid"/>
          </a:ln>
        </p:spPr>
      </p:sp>
      <p:sp>
        <p:nvSpPr>
          <p:cNvPr id="7" name="Text 5"/>
          <p:cNvSpPr txBox="1"/>
          <p:nvPr/>
        </p:nvSpPr>
        <p:spPr>
          <a:xfrm>
            <a:off x="777240" y="2532888"/>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2</a:t>
            </a:r>
            <a:endParaRPr lang="en-US" sz="1500" dirty="0"/>
          </a:p>
        </p:txBody>
      </p:sp>
      <p:sp>
        <p:nvSpPr>
          <p:cNvPr id="8" name="Text 6"/>
          <p:cNvSpPr txBox="1"/>
          <p:nvPr/>
        </p:nvSpPr>
        <p:spPr>
          <a:xfrm>
            <a:off x="1463040" y="2532888"/>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ファッション理論とフロント企画の事例</a:t>
            </a:r>
            <a:endParaRPr lang="en-US" sz="1250" dirty="0"/>
          </a:p>
        </p:txBody>
      </p:sp>
      <p:sp>
        <p:nvSpPr>
          <p:cNvPr id="9" name="Shape 7"/>
          <p:cNvSpPr/>
          <p:nvPr/>
        </p:nvSpPr>
        <p:spPr>
          <a:xfrm>
            <a:off x="777240" y="3081528"/>
            <a:ext cx="5120640" cy="0"/>
          </a:xfrm>
          <a:prstGeom prst="line">
            <a:avLst/>
          </a:prstGeom>
          <a:noFill/>
          <a:ln w="12700">
            <a:solidFill>
              <a:srgbClr val="E0D6D2"/>
            </a:solidFill>
            <a:prstDash val="solid"/>
          </a:ln>
        </p:spPr>
      </p:sp>
      <p:sp>
        <p:nvSpPr>
          <p:cNvPr id="10" name="Text 8"/>
          <p:cNvSpPr txBox="1"/>
          <p:nvPr/>
        </p:nvSpPr>
        <p:spPr>
          <a:xfrm>
            <a:off x="777240" y="3191256"/>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3</a:t>
            </a:r>
            <a:endParaRPr lang="en-US" sz="1500" dirty="0"/>
          </a:p>
        </p:txBody>
      </p:sp>
      <p:sp>
        <p:nvSpPr>
          <p:cNvPr id="11" name="Text 9"/>
          <p:cNvSpPr txBox="1"/>
          <p:nvPr/>
        </p:nvSpPr>
        <p:spPr>
          <a:xfrm>
            <a:off x="1463040" y="3191256"/>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商品作成</a:t>
            </a:r>
            <a:endParaRPr lang="en-US" sz="1250" dirty="0"/>
          </a:p>
        </p:txBody>
      </p:sp>
      <p:sp>
        <p:nvSpPr>
          <p:cNvPr id="12" name="Shape 10"/>
          <p:cNvSpPr/>
          <p:nvPr/>
        </p:nvSpPr>
        <p:spPr>
          <a:xfrm>
            <a:off x="777240" y="3739896"/>
            <a:ext cx="5120640" cy="0"/>
          </a:xfrm>
          <a:prstGeom prst="line">
            <a:avLst/>
          </a:prstGeom>
          <a:noFill/>
          <a:ln w="12700">
            <a:solidFill>
              <a:srgbClr val="E0D6D2"/>
            </a:solidFill>
            <a:prstDash val="solid"/>
          </a:ln>
        </p:spPr>
      </p:sp>
      <p:sp>
        <p:nvSpPr>
          <p:cNvPr id="13" name="Text 11"/>
          <p:cNvSpPr txBox="1"/>
          <p:nvPr/>
        </p:nvSpPr>
        <p:spPr>
          <a:xfrm>
            <a:off x="777240" y="3849624"/>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4</a:t>
            </a:r>
            <a:endParaRPr lang="en-US" sz="1500" dirty="0"/>
          </a:p>
        </p:txBody>
      </p:sp>
      <p:sp>
        <p:nvSpPr>
          <p:cNvPr id="14" name="Text 12"/>
          <p:cNvSpPr txBox="1"/>
          <p:nvPr/>
        </p:nvSpPr>
        <p:spPr>
          <a:xfrm>
            <a:off x="1463040" y="3849624"/>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ChatGPTによる商品作成</a:t>
            </a:r>
            <a:endParaRPr lang="en-US" sz="1250" dirty="0"/>
          </a:p>
        </p:txBody>
      </p:sp>
      <p:sp>
        <p:nvSpPr>
          <p:cNvPr id="15" name="Shape 13"/>
          <p:cNvSpPr/>
          <p:nvPr/>
        </p:nvSpPr>
        <p:spPr>
          <a:xfrm>
            <a:off x="777240" y="4398264"/>
            <a:ext cx="5120640" cy="0"/>
          </a:xfrm>
          <a:prstGeom prst="line">
            <a:avLst/>
          </a:prstGeom>
          <a:noFill/>
          <a:ln w="12700">
            <a:solidFill>
              <a:srgbClr val="E0D6D2"/>
            </a:solidFill>
            <a:prstDash val="solid"/>
          </a:ln>
        </p:spPr>
      </p:sp>
      <p:sp>
        <p:nvSpPr>
          <p:cNvPr id="16" name="Text 14"/>
          <p:cNvSpPr txBox="1"/>
          <p:nvPr/>
        </p:nvSpPr>
        <p:spPr>
          <a:xfrm>
            <a:off x="777240" y="4507992"/>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5</a:t>
            </a:r>
            <a:endParaRPr lang="en-US" sz="1500" dirty="0"/>
          </a:p>
        </p:txBody>
      </p:sp>
      <p:sp>
        <p:nvSpPr>
          <p:cNvPr id="17" name="Text 15"/>
          <p:cNvSpPr txBox="1"/>
          <p:nvPr/>
        </p:nvSpPr>
        <p:spPr>
          <a:xfrm>
            <a:off x="1463040" y="4507992"/>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インスタグラムのアルゴリズム</a:t>
            </a:r>
            <a:endParaRPr lang="en-US" sz="1250" dirty="0"/>
          </a:p>
        </p:txBody>
      </p:sp>
      <p:sp>
        <p:nvSpPr>
          <p:cNvPr id="18" name="Shape 16"/>
          <p:cNvSpPr/>
          <p:nvPr/>
        </p:nvSpPr>
        <p:spPr>
          <a:xfrm>
            <a:off x="777240" y="5056632"/>
            <a:ext cx="5120640" cy="0"/>
          </a:xfrm>
          <a:prstGeom prst="line">
            <a:avLst/>
          </a:prstGeom>
          <a:noFill/>
          <a:ln w="12700">
            <a:solidFill>
              <a:srgbClr val="E0D6D2"/>
            </a:solidFill>
            <a:prstDash val="solid"/>
          </a:ln>
        </p:spPr>
      </p:sp>
      <p:sp>
        <p:nvSpPr>
          <p:cNvPr id="19" name="Text 17"/>
          <p:cNvSpPr txBox="1"/>
          <p:nvPr/>
        </p:nvSpPr>
        <p:spPr>
          <a:xfrm>
            <a:off x="777240" y="5166360"/>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6</a:t>
            </a:r>
            <a:endParaRPr lang="en-US" sz="1500" dirty="0"/>
          </a:p>
        </p:txBody>
      </p:sp>
      <p:sp>
        <p:nvSpPr>
          <p:cNvPr id="20" name="Text 18"/>
          <p:cNvSpPr txBox="1"/>
          <p:nvPr/>
        </p:nvSpPr>
        <p:spPr>
          <a:xfrm>
            <a:off x="1463040" y="5166360"/>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インスタのアカウント設計とシナリオ作成</a:t>
            </a:r>
            <a:endParaRPr lang="en-US" sz="1250" dirty="0"/>
          </a:p>
        </p:txBody>
      </p:sp>
      <p:sp>
        <p:nvSpPr>
          <p:cNvPr id="21" name="Shape 19"/>
          <p:cNvSpPr/>
          <p:nvPr/>
        </p:nvSpPr>
        <p:spPr>
          <a:xfrm>
            <a:off x="777240" y="5715000"/>
            <a:ext cx="5120640" cy="0"/>
          </a:xfrm>
          <a:prstGeom prst="line">
            <a:avLst/>
          </a:prstGeom>
          <a:noFill/>
          <a:ln w="12700">
            <a:solidFill>
              <a:srgbClr val="E0D6D2"/>
            </a:solidFill>
            <a:prstDash val="solid"/>
          </a:ln>
        </p:spPr>
      </p:sp>
      <p:sp>
        <p:nvSpPr>
          <p:cNvPr id="22" name="Text 20"/>
          <p:cNvSpPr txBox="1"/>
          <p:nvPr/>
        </p:nvSpPr>
        <p:spPr>
          <a:xfrm>
            <a:off x="6355080" y="1874520"/>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7</a:t>
            </a:r>
            <a:endParaRPr lang="en-US" sz="1500" dirty="0"/>
          </a:p>
        </p:txBody>
      </p:sp>
      <p:sp>
        <p:nvSpPr>
          <p:cNvPr id="23" name="Text 21"/>
          <p:cNvSpPr txBox="1"/>
          <p:nvPr/>
        </p:nvSpPr>
        <p:spPr>
          <a:xfrm>
            <a:off x="7040880" y="1874520"/>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リール・ストーリーズ・ライブ</a:t>
            </a:r>
            <a:endParaRPr lang="en-US" sz="1250" dirty="0"/>
          </a:p>
        </p:txBody>
      </p:sp>
      <p:sp>
        <p:nvSpPr>
          <p:cNvPr id="24" name="Shape 22"/>
          <p:cNvSpPr/>
          <p:nvPr/>
        </p:nvSpPr>
        <p:spPr>
          <a:xfrm>
            <a:off x="6355080" y="2423160"/>
            <a:ext cx="5120640" cy="0"/>
          </a:xfrm>
          <a:prstGeom prst="line">
            <a:avLst/>
          </a:prstGeom>
          <a:noFill/>
          <a:ln w="12700">
            <a:solidFill>
              <a:srgbClr val="E0D6D2"/>
            </a:solidFill>
            <a:prstDash val="solid"/>
          </a:ln>
        </p:spPr>
      </p:sp>
      <p:sp>
        <p:nvSpPr>
          <p:cNvPr id="25" name="Text 23"/>
          <p:cNvSpPr txBox="1"/>
          <p:nvPr/>
        </p:nvSpPr>
        <p:spPr>
          <a:xfrm>
            <a:off x="6355080" y="2532888"/>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8</a:t>
            </a:r>
            <a:endParaRPr lang="en-US" sz="1500" dirty="0"/>
          </a:p>
        </p:txBody>
      </p:sp>
      <p:sp>
        <p:nvSpPr>
          <p:cNvPr id="26" name="Text 24"/>
          <p:cNvSpPr txBox="1"/>
          <p:nvPr/>
        </p:nvSpPr>
        <p:spPr>
          <a:xfrm>
            <a:off x="7040880" y="2532888"/>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公式LINEとエルメの接続／LINEステップ／自動集客</a:t>
            </a:r>
            <a:endParaRPr lang="en-US" sz="1250" dirty="0"/>
          </a:p>
        </p:txBody>
      </p:sp>
      <p:sp>
        <p:nvSpPr>
          <p:cNvPr id="27" name="Shape 25"/>
          <p:cNvSpPr/>
          <p:nvPr/>
        </p:nvSpPr>
        <p:spPr>
          <a:xfrm>
            <a:off x="6355080" y="3081528"/>
            <a:ext cx="5120640" cy="0"/>
          </a:xfrm>
          <a:prstGeom prst="line">
            <a:avLst/>
          </a:prstGeom>
          <a:noFill/>
          <a:ln w="12700">
            <a:solidFill>
              <a:srgbClr val="E0D6D2"/>
            </a:solidFill>
            <a:prstDash val="solid"/>
          </a:ln>
        </p:spPr>
      </p:sp>
      <p:sp>
        <p:nvSpPr>
          <p:cNvPr id="28" name="Text 26"/>
          <p:cNvSpPr txBox="1"/>
          <p:nvPr/>
        </p:nvSpPr>
        <p:spPr>
          <a:xfrm>
            <a:off x="6355080" y="3191256"/>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9</a:t>
            </a:r>
            <a:endParaRPr lang="en-US" sz="1500" dirty="0"/>
          </a:p>
        </p:txBody>
      </p:sp>
      <p:sp>
        <p:nvSpPr>
          <p:cNvPr id="29" name="Text 27"/>
          <p:cNvSpPr txBox="1"/>
          <p:nvPr/>
        </p:nvSpPr>
        <p:spPr>
          <a:xfrm>
            <a:off x="7040880" y="3191256"/>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（調整回）</a:t>
            </a:r>
            <a:endParaRPr lang="en-US" sz="1250" dirty="0"/>
          </a:p>
        </p:txBody>
      </p:sp>
      <p:sp>
        <p:nvSpPr>
          <p:cNvPr id="30" name="Shape 28"/>
          <p:cNvSpPr/>
          <p:nvPr/>
        </p:nvSpPr>
        <p:spPr>
          <a:xfrm>
            <a:off x="6355080" y="3739896"/>
            <a:ext cx="5120640" cy="0"/>
          </a:xfrm>
          <a:prstGeom prst="line">
            <a:avLst/>
          </a:prstGeom>
          <a:noFill/>
          <a:ln w="12700">
            <a:solidFill>
              <a:srgbClr val="E0D6D2"/>
            </a:solidFill>
            <a:prstDash val="solid"/>
          </a:ln>
        </p:spPr>
      </p:sp>
      <p:sp>
        <p:nvSpPr>
          <p:cNvPr id="31" name="Text 29"/>
          <p:cNvSpPr txBox="1"/>
          <p:nvPr/>
        </p:nvSpPr>
        <p:spPr>
          <a:xfrm>
            <a:off x="6355080" y="3849624"/>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10</a:t>
            </a:r>
            <a:endParaRPr lang="en-US" sz="1500" dirty="0"/>
          </a:p>
        </p:txBody>
      </p:sp>
      <p:sp>
        <p:nvSpPr>
          <p:cNvPr id="32" name="Text 30"/>
          <p:cNvSpPr txBox="1"/>
          <p:nvPr/>
        </p:nvSpPr>
        <p:spPr>
          <a:xfrm>
            <a:off x="7040880" y="3849624"/>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コピーライティング</a:t>
            </a:r>
            <a:endParaRPr lang="en-US" sz="1250" dirty="0"/>
          </a:p>
        </p:txBody>
      </p:sp>
      <p:sp>
        <p:nvSpPr>
          <p:cNvPr id="33" name="Shape 31"/>
          <p:cNvSpPr/>
          <p:nvPr/>
        </p:nvSpPr>
        <p:spPr>
          <a:xfrm>
            <a:off x="6355080" y="4398264"/>
            <a:ext cx="5120640" cy="0"/>
          </a:xfrm>
          <a:prstGeom prst="line">
            <a:avLst/>
          </a:prstGeom>
          <a:noFill/>
          <a:ln w="12700">
            <a:solidFill>
              <a:srgbClr val="E0D6D2"/>
            </a:solidFill>
            <a:prstDash val="solid"/>
          </a:ln>
        </p:spPr>
      </p:sp>
      <p:sp>
        <p:nvSpPr>
          <p:cNvPr id="34" name="Text 32"/>
          <p:cNvSpPr txBox="1"/>
          <p:nvPr/>
        </p:nvSpPr>
        <p:spPr>
          <a:xfrm>
            <a:off x="6355080" y="4507992"/>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11</a:t>
            </a:r>
            <a:endParaRPr lang="en-US" sz="1500" dirty="0"/>
          </a:p>
        </p:txBody>
      </p:sp>
      <p:sp>
        <p:nvSpPr>
          <p:cNvPr id="35" name="Text 33"/>
          <p:cNvSpPr txBox="1"/>
          <p:nvPr/>
        </p:nvSpPr>
        <p:spPr>
          <a:xfrm>
            <a:off x="7040880" y="4507992"/>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ChatGPTとCanvaでLP作成</a:t>
            </a:r>
            <a:endParaRPr lang="en-US" sz="1250" dirty="0"/>
          </a:p>
        </p:txBody>
      </p:sp>
      <p:sp>
        <p:nvSpPr>
          <p:cNvPr id="36" name="Shape 34"/>
          <p:cNvSpPr/>
          <p:nvPr/>
        </p:nvSpPr>
        <p:spPr>
          <a:xfrm>
            <a:off x="6355080" y="5056632"/>
            <a:ext cx="5120640" cy="0"/>
          </a:xfrm>
          <a:prstGeom prst="line">
            <a:avLst/>
          </a:prstGeom>
          <a:noFill/>
          <a:ln w="12700">
            <a:solidFill>
              <a:srgbClr val="E0D6D2"/>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各回の内容　ファッション心理学 × コーチング</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全7回。内容と回数は変わることがあります。</a:t>
            </a:r>
            <a:endParaRPr lang="en-US" sz="1400" dirty="0"/>
          </a:p>
        </p:txBody>
      </p:sp>
      <p:sp>
        <p:nvSpPr>
          <p:cNvPr id="4" name="Text 2"/>
          <p:cNvSpPr txBox="1"/>
          <p:nvPr/>
        </p:nvSpPr>
        <p:spPr>
          <a:xfrm>
            <a:off x="777240" y="1920240"/>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1</a:t>
            </a:r>
            <a:endParaRPr lang="en-US" sz="1600" dirty="0"/>
          </a:p>
        </p:txBody>
      </p:sp>
      <p:sp>
        <p:nvSpPr>
          <p:cNvPr id="5" name="Text 3"/>
          <p:cNvSpPr txBox="1"/>
          <p:nvPr/>
        </p:nvSpPr>
        <p:spPr>
          <a:xfrm>
            <a:off x="1508760" y="1920240"/>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コーチングの基礎</a:t>
            </a:r>
            <a:endParaRPr lang="en-US" sz="1400" dirty="0"/>
          </a:p>
        </p:txBody>
      </p:sp>
      <p:sp>
        <p:nvSpPr>
          <p:cNvPr id="6" name="Shape 4"/>
          <p:cNvSpPr/>
          <p:nvPr/>
        </p:nvSpPr>
        <p:spPr>
          <a:xfrm>
            <a:off x="777240" y="2423160"/>
            <a:ext cx="7955280" cy="0"/>
          </a:xfrm>
          <a:prstGeom prst="line">
            <a:avLst/>
          </a:prstGeom>
          <a:noFill/>
          <a:ln w="12700">
            <a:solidFill>
              <a:srgbClr val="E0D6D2"/>
            </a:solidFill>
            <a:prstDash val="solid"/>
          </a:ln>
        </p:spPr>
      </p:sp>
      <p:sp>
        <p:nvSpPr>
          <p:cNvPr id="7" name="Text 5"/>
          <p:cNvSpPr txBox="1"/>
          <p:nvPr/>
        </p:nvSpPr>
        <p:spPr>
          <a:xfrm>
            <a:off x="777240" y="2523744"/>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2</a:t>
            </a:r>
            <a:endParaRPr lang="en-US" sz="1600" dirty="0"/>
          </a:p>
        </p:txBody>
      </p:sp>
      <p:sp>
        <p:nvSpPr>
          <p:cNvPr id="8" name="Text 6"/>
          <p:cNvSpPr txBox="1"/>
          <p:nvPr/>
        </p:nvSpPr>
        <p:spPr>
          <a:xfrm>
            <a:off x="1508760" y="2523744"/>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目標設定コーチング</a:t>
            </a:r>
            <a:endParaRPr lang="en-US" sz="1400" dirty="0"/>
          </a:p>
        </p:txBody>
      </p:sp>
      <p:sp>
        <p:nvSpPr>
          <p:cNvPr id="9" name="Shape 7"/>
          <p:cNvSpPr/>
          <p:nvPr/>
        </p:nvSpPr>
        <p:spPr>
          <a:xfrm>
            <a:off x="777240" y="3026664"/>
            <a:ext cx="7955280" cy="0"/>
          </a:xfrm>
          <a:prstGeom prst="line">
            <a:avLst/>
          </a:prstGeom>
          <a:noFill/>
          <a:ln w="12700">
            <a:solidFill>
              <a:srgbClr val="E0D6D2"/>
            </a:solidFill>
            <a:prstDash val="solid"/>
          </a:ln>
        </p:spPr>
      </p:sp>
      <p:sp>
        <p:nvSpPr>
          <p:cNvPr id="10" name="Text 8"/>
          <p:cNvSpPr txBox="1"/>
          <p:nvPr/>
        </p:nvSpPr>
        <p:spPr>
          <a:xfrm>
            <a:off x="777240" y="3127248"/>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3</a:t>
            </a:r>
            <a:endParaRPr lang="en-US" sz="1600" dirty="0"/>
          </a:p>
        </p:txBody>
      </p:sp>
      <p:sp>
        <p:nvSpPr>
          <p:cNvPr id="11" name="Text 9"/>
          <p:cNvSpPr txBox="1"/>
          <p:nvPr/>
        </p:nvSpPr>
        <p:spPr>
          <a:xfrm>
            <a:off x="1508760" y="3127248"/>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セールスコーチング</a:t>
            </a:r>
            <a:endParaRPr lang="en-US" sz="1400" dirty="0"/>
          </a:p>
        </p:txBody>
      </p:sp>
      <p:sp>
        <p:nvSpPr>
          <p:cNvPr id="12" name="Shape 10"/>
          <p:cNvSpPr/>
          <p:nvPr/>
        </p:nvSpPr>
        <p:spPr>
          <a:xfrm>
            <a:off x="777240" y="3630168"/>
            <a:ext cx="7955280" cy="0"/>
          </a:xfrm>
          <a:prstGeom prst="line">
            <a:avLst/>
          </a:prstGeom>
          <a:noFill/>
          <a:ln w="12700">
            <a:solidFill>
              <a:srgbClr val="E0D6D2"/>
            </a:solidFill>
            <a:prstDash val="solid"/>
          </a:ln>
        </p:spPr>
      </p:sp>
      <p:sp>
        <p:nvSpPr>
          <p:cNvPr id="13" name="Text 11"/>
          <p:cNvSpPr txBox="1"/>
          <p:nvPr/>
        </p:nvSpPr>
        <p:spPr>
          <a:xfrm>
            <a:off x="777240" y="3730752"/>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4</a:t>
            </a:r>
            <a:endParaRPr lang="en-US" sz="1600" dirty="0"/>
          </a:p>
        </p:txBody>
      </p:sp>
      <p:sp>
        <p:nvSpPr>
          <p:cNvPr id="14" name="Text 12"/>
          <p:cNvSpPr txBox="1"/>
          <p:nvPr/>
        </p:nvSpPr>
        <p:spPr>
          <a:xfrm>
            <a:off x="1508760" y="3730752"/>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ファッション心理学 一　自分を知る</a:t>
            </a:r>
            <a:endParaRPr lang="en-US" sz="1400" dirty="0"/>
          </a:p>
        </p:txBody>
      </p:sp>
      <p:sp>
        <p:nvSpPr>
          <p:cNvPr id="15" name="Shape 13"/>
          <p:cNvSpPr/>
          <p:nvPr/>
        </p:nvSpPr>
        <p:spPr>
          <a:xfrm>
            <a:off x="777240" y="4233672"/>
            <a:ext cx="7955280" cy="0"/>
          </a:xfrm>
          <a:prstGeom prst="line">
            <a:avLst/>
          </a:prstGeom>
          <a:noFill/>
          <a:ln w="12700">
            <a:solidFill>
              <a:srgbClr val="E0D6D2"/>
            </a:solidFill>
            <a:prstDash val="solid"/>
          </a:ln>
        </p:spPr>
      </p:sp>
      <p:sp>
        <p:nvSpPr>
          <p:cNvPr id="16" name="Text 14"/>
          <p:cNvSpPr txBox="1"/>
          <p:nvPr/>
        </p:nvSpPr>
        <p:spPr>
          <a:xfrm>
            <a:off x="777240" y="4334256"/>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5</a:t>
            </a:r>
            <a:endParaRPr lang="en-US" sz="1600" dirty="0"/>
          </a:p>
        </p:txBody>
      </p:sp>
      <p:sp>
        <p:nvSpPr>
          <p:cNvPr id="17" name="Text 15"/>
          <p:cNvSpPr txBox="1"/>
          <p:nvPr/>
        </p:nvSpPr>
        <p:spPr>
          <a:xfrm>
            <a:off x="1508760" y="4334256"/>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ファッション心理学 二　社会との関係</a:t>
            </a:r>
            <a:endParaRPr lang="en-US" sz="1400" dirty="0"/>
          </a:p>
        </p:txBody>
      </p:sp>
      <p:sp>
        <p:nvSpPr>
          <p:cNvPr id="18" name="Shape 16"/>
          <p:cNvSpPr/>
          <p:nvPr/>
        </p:nvSpPr>
        <p:spPr>
          <a:xfrm>
            <a:off x="777240" y="4837176"/>
            <a:ext cx="7955280" cy="0"/>
          </a:xfrm>
          <a:prstGeom prst="line">
            <a:avLst/>
          </a:prstGeom>
          <a:noFill/>
          <a:ln w="12700">
            <a:solidFill>
              <a:srgbClr val="E0D6D2"/>
            </a:solidFill>
            <a:prstDash val="solid"/>
          </a:ln>
        </p:spPr>
      </p:sp>
      <p:sp>
        <p:nvSpPr>
          <p:cNvPr id="19" name="Text 17"/>
          <p:cNvSpPr txBox="1"/>
          <p:nvPr/>
        </p:nvSpPr>
        <p:spPr>
          <a:xfrm>
            <a:off x="777240" y="4937760"/>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6</a:t>
            </a:r>
            <a:endParaRPr lang="en-US" sz="1600" dirty="0"/>
          </a:p>
        </p:txBody>
      </p:sp>
      <p:sp>
        <p:nvSpPr>
          <p:cNvPr id="20" name="Text 18"/>
          <p:cNvSpPr txBox="1"/>
          <p:nvPr/>
        </p:nvSpPr>
        <p:spPr>
          <a:xfrm>
            <a:off x="1508760" y="4937760"/>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ファッション心理学 三　他人との関係</a:t>
            </a:r>
            <a:endParaRPr lang="en-US" sz="1400" dirty="0"/>
          </a:p>
        </p:txBody>
      </p:sp>
      <p:sp>
        <p:nvSpPr>
          <p:cNvPr id="21" name="Shape 19"/>
          <p:cNvSpPr/>
          <p:nvPr/>
        </p:nvSpPr>
        <p:spPr>
          <a:xfrm>
            <a:off x="777240" y="5440680"/>
            <a:ext cx="7955280" cy="0"/>
          </a:xfrm>
          <a:prstGeom prst="line">
            <a:avLst/>
          </a:prstGeom>
          <a:noFill/>
          <a:ln w="12700">
            <a:solidFill>
              <a:srgbClr val="E0D6D2"/>
            </a:solidFill>
            <a:prstDash val="solid"/>
          </a:ln>
        </p:spPr>
      </p:sp>
      <p:sp>
        <p:nvSpPr>
          <p:cNvPr id="22" name="Text 20"/>
          <p:cNvSpPr txBox="1"/>
          <p:nvPr/>
        </p:nvSpPr>
        <p:spPr>
          <a:xfrm>
            <a:off x="777240" y="5541264"/>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7</a:t>
            </a:r>
            <a:endParaRPr lang="en-US" sz="1600" dirty="0"/>
          </a:p>
        </p:txBody>
      </p:sp>
      <p:sp>
        <p:nvSpPr>
          <p:cNvPr id="23" name="Text 21"/>
          <p:cNvSpPr txBox="1"/>
          <p:nvPr/>
        </p:nvSpPr>
        <p:spPr>
          <a:xfrm>
            <a:off x="1508760" y="5541264"/>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実践者の講演会</a:t>
            </a:r>
            <a:endParaRPr lang="en-US" sz="1400" dirty="0"/>
          </a:p>
        </p:txBody>
      </p:sp>
      <p:sp>
        <p:nvSpPr>
          <p:cNvPr id="24" name="Shape 22"/>
          <p:cNvSpPr/>
          <p:nvPr/>
        </p:nvSpPr>
        <p:spPr>
          <a:xfrm>
            <a:off x="777240" y="6044184"/>
            <a:ext cx="7955280" cy="0"/>
          </a:xfrm>
          <a:prstGeom prst="line">
            <a:avLst/>
          </a:prstGeom>
          <a:noFill/>
          <a:ln w="12700">
            <a:solidFill>
              <a:srgbClr val="E0D6D2"/>
            </a:solidFill>
            <a:prstDash val="solid"/>
          </a:ln>
        </p:spPr>
      </p:sp>
      <p:sp>
        <p:nvSpPr>
          <p:cNvPr id="25" name="Text 23"/>
          <p:cNvSpPr txBox="1"/>
          <p:nvPr/>
        </p:nvSpPr>
        <p:spPr>
          <a:xfrm>
            <a:off x="8961120" y="2377440"/>
            <a:ext cx="2468880" cy="914400"/>
          </a:xfrm>
          <a:prstGeom prst="rect">
            <a:avLst/>
          </a:prstGeom>
          <a:noFill/>
          <a:ln/>
        </p:spPr>
        <p:txBody>
          <a:bodyPr wrap="square" lIns="0" tIns="0" rIns="0" bIns="0" rtlCol="0" anchor="ctr"/>
          <a:lstStyle/>
          <a:p>
            <a:pPr indent="0" marL="0">
              <a:lnSpc>
                <a:spcPts val="2400"/>
              </a:lnSpc>
              <a:buNone/>
            </a:pPr>
            <a:r>
              <a:rPr lang="en-US" sz="1300" b="1" dirty="0">
                <a:solidFill>
                  <a:srgbClr val="6D2E46"/>
                </a:solidFill>
                <a:latin typeface="Calibri" pitchFamily="34" charset="0"/>
                <a:ea typeface="Calibri" pitchFamily="34" charset="-122"/>
                <a:cs typeface="Calibri" pitchFamily="34" charset="-120"/>
              </a:rPr>
              <a:t>ご相談し放題</a:t>
            </a:r>
            <a:endParaRPr lang="en-US" sz="1300" dirty="0"/>
          </a:p>
          <a:p>
            <a:pPr indent="0" marL="0">
              <a:lnSpc>
                <a:spcPts val="2400"/>
              </a:lnSpc>
              <a:buNone/>
            </a:pPr>
            <a:r>
              <a:rPr lang="en-US" sz="1300" b="1" dirty="0">
                <a:solidFill>
                  <a:srgbClr val="6D2E46"/>
                </a:solidFill>
                <a:latin typeface="Calibri" pitchFamily="34" charset="0"/>
                <a:ea typeface="Calibri" pitchFamily="34" charset="-122"/>
                <a:cs typeface="Calibri" pitchFamily="34" charset="-120"/>
              </a:rPr>
              <a:t>ZOOM／LINEチャット</a:t>
            </a:r>
            <a:endParaRPr lang="en-US" sz="1300" dirty="0"/>
          </a:p>
          <a:p>
            <a:pPr indent="0" marL="0">
              <a:lnSpc>
                <a:spcPts val="2400"/>
              </a:lnSpc>
              <a:buNone/>
            </a:pPr>
            <a:r>
              <a:rPr lang="en-US" sz="1300" b="1" dirty="0">
                <a:solidFill>
                  <a:srgbClr val="6D2E46"/>
                </a:solidFill>
                <a:latin typeface="Calibri" pitchFamily="34" charset="0"/>
                <a:ea typeface="Calibri" pitchFamily="34" charset="-122"/>
                <a:cs typeface="Calibri" pitchFamily="34" charset="-120"/>
              </a:rPr>
              <a:t>お電話</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なぜ、6ヶ月なのか</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2026年9月に、実際にやってみて分かったことです。</a:t>
            </a:r>
            <a:endParaRPr lang="en-US" sz="1400" dirty="0"/>
          </a:p>
        </p:txBody>
      </p:sp>
      <p:sp>
        <p:nvSpPr>
          <p:cNvPr id="4" name="Shape 2"/>
          <p:cNvSpPr/>
          <p:nvPr/>
        </p:nvSpPr>
        <p:spPr>
          <a:xfrm>
            <a:off x="777240" y="1965960"/>
            <a:ext cx="5120640" cy="2468880"/>
          </a:xfrm>
          <a:prstGeom prst="rect">
            <a:avLst/>
          </a:prstGeom>
          <a:solidFill>
            <a:srgbClr val="FFFFFF"/>
          </a:solidFill>
          <a:ln w="12700">
            <a:solidFill>
              <a:srgbClr val="E0D6D2"/>
            </a:solidFill>
            <a:prstDash val="solid"/>
          </a:ln>
        </p:spPr>
      </p:sp>
      <p:sp>
        <p:nvSpPr>
          <p:cNvPr id="5" name="Text 3"/>
          <p:cNvSpPr txBox="1"/>
          <p:nvPr/>
        </p:nvSpPr>
        <p:spPr>
          <a:xfrm>
            <a:off x="1097280" y="2286000"/>
            <a:ext cx="4572000" cy="54864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3ヶ月で　できた</a:t>
            </a:r>
            <a:endParaRPr lang="en-US" sz="2600" dirty="0"/>
          </a:p>
        </p:txBody>
      </p:sp>
      <p:sp>
        <p:nvSpPr>
          <p:cNvPr id="6" name="Text 4"/>
          <p:cNvSpPr txBox="1"/>
          <p:nvPr/>
        </p:nvSpPr>
        <p:spPr>
          <a:xfrm>
            <a:off x="1097280" y="3017520"/>
            <a:ext cx="4572000" cy="1645920"/>
          </a:xfrm>
          <a:prstGeom prst="rect">
            <a:avLst/>
          </a:prstGeom>
          <a:noFill/>
          <a:ln/>
        </p:spPr>
        <p:txBody>
          <a:bodyPr wrap="square" lIns="0" tIns="0" rIns="0" bIns="0" rtlCol="0" anchor="t"/>
          <a:lstStyle/>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ご自分の商品</a:t>
            </a: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AIで作ったリール 1本</a:t>
            </a: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ファッション心理学の一部／コーチング</a:t>
            </a:r>
            <a:endParaRPr lang="en-US" sz="1400" dirty="0"/>
          </a:p>
        </p:txBody>
      </p:sp>
      <p:sp>
        <p:nvSpPr>
          <p:cNvPr id="7" name="Shape 5"/>
          <p:cNvSpPr/>
          <p:nvPr/>
        </p:nvSpPr>
        <p:spPr>
          <a:xfrm>
            <a:off x="6355080" y="1965960"/>
            <a:ext cx="5120640" cy="2468880"/>
          </a:xfrm>
          <a:prstGeom prst="rect">
            <a:avLst/>
          </a:prstGeom>
          <a:solidFill>
            <a:srgbClr val="FFFFFF"/>
          </a:solidFill>
          <a:ln w="12700">
            <a:solidFill>
              <a:srgbClr val="E0D6D2"/>
            </a:solidFill>
            <a:prstDash val="solid"/>
          </a:ln>
        </p:spPr>
      </p:sp>
      <p:sp>
        <p:nvSpPr>
          <p:cNvPr id="8" name="Text 6"/>
          <p:cNvSpPr txBox="1"/>
          <p:nvPr/>
        </p:nvSpPr>
        <p:spPr>
          <a:xfrm>
            <a:off x="6675120" y="2286000"/>
            <a:ext cx="4572000" cy="548640"/>
          </a:xfrm>
          <a:prstGeom prst="rect">
            <a:avLst/>
          </a:prstGeom>
          <a:noFill/>
          <a:ln/>
        </p:spPr>
        <p:txBody>
          <a:bodyPr wrap="square" lIns="0" tIns="0" rIns="0" bIns="0" rtlCol="0" anchor="ctr"/>
          <a:lstStyle/>
          <a:p>
            <a:pPr indent="0" marL="0">
              <a:buNone/>
            </a:pPr>
            <a:r>
              <a:rPr lang="en-US" sz="2600" b="1" dirty="0">
                <a:solidFill>
                  <a:srgbClr val="A26769"/>
                </a:solidFill>
                <a:latin typeface="Cambria" pitchFamily="34" charset="0"/>
                <a:ea typeface="Cambria" pitchFamily="34" charset="-122"/>
                <a:cs typeface="Cambria" pitchFamily="34" charset="-120"/>
              </a:rPr>
              <a:t>3ヶ月では　できない</a:t>
            </a:r>
            <a:endParaRPr lang="en-US" sz="2600" dirty="0"/>
          </a:p>
        </p:txBody>
      </p:sp>
      <p:sp>
        <p:nvSpPr>
          <p:cNvPr id="9" name="Text 7"/>
          <p:cNvSpPr txBox="1"/>
          <p:nvPr/>
        </p:nvSpPr>
        <p:spPr>
          <a:xfrm>
            <a:off x="6675120" y="3017520"/>
            <a:ext cx="4572000" cy="1645920"/>
          </a:xfrm>
          <a:prstGeom prst="rect">
            <a:avLst/>
          </a:prstGeom>
          <a:noFill/>
          <a:ln/>
        </p:spPr>
        <p:txBody>
          <a:bodyPr wrap="square" lIns="0" tIns="0" rIns="0" bIns="0" rtlCol="0" anchor="t"/>
          <a:lstStyle/>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販売の動線</a:t>
            </a:r>
            <a:endParaRPr lang="en-US" sz="1400" dirty="0"/>
          </a:p>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申し込みから決済までの自動化</a:t>
            </a:r>
            <a:endParaRPr lang="en-US" sz="1400" dirty="0"/>
          </a:p>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コーチングセールス</a:t>
            </a:r>
            <a:endParaRPr lang="en-US" sz="1400" dirty="0"/>
          </a:p>
        </p:txBody>
      </p:sp>
      <p:sp>
        <p:nvSpPr>
          <p:cNvPr id="10" name="Text 8"/>
          <p:cNvSpPr txBox="1"/>
          <p:nvPr/>
        </p:nvSpPr>
        <p:spPr>
          <a:xfrm>
            <a:off x="777240" y="4800600"/>
            <a:ext cx="10698480" cy="548640"/>
          </a:xfrm>
          <a:prstGeom prst="rect">
            <a:avLst/>
          </a:prstGeom>
          <a:noFill/>
          <a:ln/>
        </p:spPr>
        <p:txBody>
          <a:bodyPr wrap="square" lIns="0" tIns="0" rIns="0" bIns="0" rtlCol="0" anchor="ctr"/>
          <a:lstStyle/>
          <a:p>
            <a:pPr algn="ctr" indent="0" marL="0">
              <a:buNone/>
            </a:pPr>
            <a:r>
              <a:rPr lang="en-US" sz="2400" b="1" dirty="0">
                <a:solidFill>
                  <a:srgbClr val="332B29"/>
                </a:solidFill>
                <a:latin typeface="Cambria" pitchFamily="34" charset="0"/>
                <a:ea typeface="Cambria" pitchFamily="34" charset="-122"/>
                <a:cs typeface="Cambria" pitchFamily="34" charset="-120"/>
              </a:rPr>
              <a:t>3ヶ月で、売るものは決まります。けれど、売る道は、まだできません。</a:t>
            </a:r>
            <a:endParaRPr lang="en-US" sz="2400" dirty="0"/>
          </a:p>
        </p:txBody>
      </p:sp>
      <p:sp>
        <p:nvSpPr>
          <p:cNvPr id="11" name="Text 9"/>
          <p:cNvSpPr txBox="1"/>
          <p:nvPr/>
        </p:nvSpPr>
        <p:spPr>
          <a:xfrm>
            <a:off x="777240" y="5486400"/>
            <a:ext cx="10698480" cy="457200"/>
          </a:xfrm>
          <a:prstGeom prst="rect">
            <a:avLst/>
          </a:prstGeom>
          <a:noFill/>
          <a:ln/>
        </p:spPr>
        <p:txBody>
          <a:bodyPr wrap="square" lIns="0" tIns="0" rIns="0" bIns="0" rtlCol="0" anchor="ctr"/>
          <a:lstStyle/>
          <a:p>
            <a:pPr algn="ctr" indent="0" marL="0">
              <a:buNone/>
            </a:pPr>
            <a:r>
              <a:rPr lang="en-US" sz="1400" dirty="0">
                <a:solidFill>
                  <a:srgbClr val="6A5A5E"/>
                </a:solidFill>
                <a:latin typeface="Calibri" pitchFamily="34" charset="0"/>
                <a:ea typeface="Calibri" pitchFamily="34" charset="-122"/>
                <a:cs typeface="Calibri" pitchFamily="34" charset="-120"/>
              </a:rPr>
              <a:t>推測ではなく、やってみて出た答えです。</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対面は「ワークショップ」です</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話を聞く日ではありません。手を動かして、作る日です。</a:t>
            </a:r>
            <a:endParaRPr lang="en-US" sz="1400" dirty="0"/>
          </a:p>
        </p:txBody>
      </p:sp>
      <p:sp>
        <p:nvSpPr>
          <p:cNvPr id="4" name="Text 2"/>
          <p:cNvSpPr txBox="1"/>
          <p:nvPr/>
        </p:nvSpPr>
        <p:spPr>
          <a:xfrm>
            <a:off x="777240" y="1920240"/>
            <a:ext cx="5029200" cy="685800"/>
          </a:xfrm>
          <a:prstGeom prst="rect">
            <a:avLst/>
          </a:prstGeom>
          <a:noFill/>
          <a:ln/>
        </p:spPr>
        <p:txBody>
          <a:bodyPr wrap="square" lIns="0" tIns="0" rIns="0" bIns="0" rtlCol="0" anchor="ctr"/>
          <a:lstStyle/>
          <a:p>
            <a:pPr indent="0" marL="0">
              <a:buNone/>
            </a:pPr>
            <a:r>
              <a:rPr lang="en-US" sz="3400" b="1" dirty="0">
                <a:solidFill>
                  <a:srgbClr val="6D2E46"/>
                </a:solidFill>
                <a:latin typeface="Cambria" pitchFamily="34" charset="0"/>
                <a:ea typeface="Cambria" pitchFamily="34" charset="-122"/>
                <a:cs typeface="Cambria" pitchFamily="34" charset="-120"/>
              </a:rPr>
              <a:t>10:00 - 15:00</a:t>
            </a:r>
            <a:endParaRPr lang="en-US" sz="3400" dirty="0"/>
          </a:p>
        </p:txBody>
      </p:sp>
      <p:sp>
        <p:nvSpPr>
          <p:cNvPr id="5" name="Text 3"/>
          <p:cNvSpPr txBox="1"/>
          <p:nvPr/>
        </p:nvSpPr>
        <p:spPr>
          <a:xfrm>
            <a:off x="777240" y="2651760"/>
            <a:ext cx="502920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 5時間。オンライン3回分を超えます。会場は東京です。</a:t>
            </a:r>
            <a:endParaRPr lang="en-US" sz="1400" dirty="0"/>
          </a:p>
        </p:txBody>
      </p:sp>
      <p:sp>
        <p:nvSpPr>
          <p:cNvPr id="6" name="Text 4"/>
          <p:cNvSpPr txBox="1"/>
          <p:nvPr/>
        </p:nvSpPr>
        <p:spPr>
          <a:xfrm>
            <a:off x="777240" y="3108960"/>
            <a:ext cx="5029200" cy="2377440"/>
          </a:xfrm>
          <a:prstGeom prst="rect">
            <a:avLst/>
          </a:prstGeom>
          <a:noFill/>
          <a:ln/>
        </p:spPr>
        <p:txBody>
          <a:bodyPr wrap="square" lIns="0" tIns="0" rIns="0" bIns="0" rtlCol="0" anchor="t"/>
          <a:lstStyle/>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ご案内のページ、申し込みのフォーム、決済まで。</a:t>
            </a: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AIとUTAGEを使って、ご自分の手で作っていただきます。</a:t>
            </a: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操作でつまずいたところは、その場でお手伝いします。</a:t>
            </a:r>
            <a:endParaRPr lang="en-US" sz="1400" dirty="0"/>
          </a:p>
          <a:p>
            <a:pPr indent="0" marL="0">
              <a:lnSpc>
                <a:spcPts val="2600"/>
              </a:lnSpc>
              <a:buNone/>
            </a:pP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対面の日は、コースごとに分けません。</a:t>
            </a:r>
            <a:endParaRPr lang="en-US" sz="1400" dirty="0"/>
          </a:p>
        </p:txBody>
      </p:sp>
      <p:sp>
        <p:nvSpPr>
          <p:cNvPr id="7" name="Shape 5"/>
          <p:cNvSpPr/>
          <p:nvPr/>
        </p:nvSpPr>
        <p:spPr>
          <a:xfrm>
            <a:off x="6126480" y="1920240"/>
            <a:ext cx="0" cy="3291840"/>
          </a:xfrm>
          <a:prstGeom prst="line">
            <a:avLst/>
          </a:prstGeom>
          <a:noFill/>
          <a:ln w="12700">
            <a:solidFill>
              <a:srgbClr val="E0D6D2"/>
            </a:solidFill>
            <a:prstDash val="solid"/>
          </a:ln>
        </p:spPr>
      </p:sp>
      <p:sp>
        <p:nvSpPr>
          <p:cNvPr id="8" name="Text 6"/>
          <p:cNvSpPr txBox="1"/>
          <p:nvPr/>
        </p:nvSpPr>
        <p:spPr>
          <a:xfrm>
            <a:off x="6583680" y="1920240"/>
            <a:ext cx="4846320"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今回ご参加の方への特典</a:t>
            </a:r>
            <a:endParaRPr lang="en-US" sz="2200" dirty="0"/>
          </a:p>
        </p:txBody>
      </p:sp>
      <p:sp>
        <p:nvSpPr>
          <p:cNvPr id="9" name="Text 7"/>
          <p:cNvSpPr txBox="1"/>
          <p:nvPr/>
        </p:nvSpPr>
        <p:spPr>
          <a:xfrm>
            <a:off x="6583680" y="2514600"/>
            <a:ext cx="4846320" cy="41148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一緒にインスタライブ／アカウント共有でご紹介</a:t>
            </a:r>
            <a:endParaRPr lang="en-US" sz="1500" dirty="0"/>
          </a:p>
        </p:txBody>
      </p:sp>
      <p:sp>
        <p:nvSpPr>
          <p:cNvPr id="10" name="Text 8"/>
          <p:cNvSpPr txBox="1"/>
          <p:nvPr/>
        </p:nvSpPr>
        <p:spPr>
          <a:xfrm>
            <a:off x="6583680" y="2926080"/>
            <a:ext cx="484632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アメブロ 2,600名／インスタ 8,500名程度にお届けします。</a:t>
            </a:r>
            <a:endParaRPr lang="en-US" sz="1200" dirty="0"/>
          </a:p>
        </p:txBody>
      </p:sp>
      <p:sp>
        <p:nvSpPr>
          <p:cNvPr id="11" name="Shape 9"/>
          <p:cNvSpPr/>
          <p:nvPr/>
        </p:nvSpPr>
        <p:spPr>
          <a:xfrm>
            <a:off x="6583680" y="3474720"/>
            <a:ext cx="4846320" cy="0"/>
          </a:xfrm>
          <a:prstGeom prst="line">
            <a:avLst/>
          </a:prstGeom>
          <a:noFill/>
          <a:ln w="12700">
            <a:solidFill>
              <a:srgbClr val="E0D6D2"/>
            </a:solidFill>
            <a:prstDash val="solid"/>
          </a:ln>
        </p:spPr>
      </p:sp>
      <p:sp>
        <p:nvSpPr>
          <p:cNvPr id="12" name="Text 10"/>
          <p:cNvSpPr txBox="1"/>
          <p:nvPr/>
        </p:nvSpPr>
        <p:spPr>
          <a:xfrm>
            <a:off x="6583680" y="3611880"/>
            <a:ext cx="4846320" cy="365760"/>
          </a:xfrm>
          <a:prstGeom prst="rect">
            <a:avLst/>
          </a:prstGeom>
          <a:noFill/>
          <a:ln/>
        </p:spPr>
        <p:txBody>
          <a:bodyPr wrap="square" lIns="0" tIns="0" rIns="0" bIns="0" rtlCol="0" anchor="ctr"/>
          <a:lstStyle/>
          <a:p>
            <a:pPr indent="0" marL="0">
              <a:buNone/>
            </a:pPr>
            <a:r>
              <a:rPr lang="en-US" sz="1300" b="1" dirty="0">
                <a:solidFill>
                  <a:srgbClr val="A26769"/>
                </a:solidFill>
                <a:latin typeface="Calibri" pitchFamily="34" charset="0"/>
                <a:ea typeface="Calibri" pitchFamily="34" charset="-122"/>
                <a:cs typeface="Calibri" pitchFamily="34" charset="-120"/>
              </a:rPr>
              <a:t>こちらは、はじめから全コースに入っています</a:t>
            </a:r>
            <a:endParaRPr lang="en-US" sz="1300" dirty="0"/>
          </a:p>
        </p:txBody>
      </p:sp>
      <p:sp>
        <p:nvSpPr>
          <p:cNvPr id="13" name="Text 11"/>
          <p:cNvSpPr txBox="1"/>
          <p:nvPr/>
        </p:nvSpPr>
        <p:spPr>
          <a:xfrm>
            <a:off x="6583680" y="4023360"/>
            <a:ext cx="4846320" cy="2377440"/>
          </a:xfrm>
          <a:prstGeom prst="rect">
            <a:avLst/>
          </a:prstGeom>
          <a:noFill/>
          <a:ln/>
        </p:spPr>
        <p:txBody>
          <a:bodyPr wrap="square" lIns="0" tIns="0" rIns="0" bIns="0" rtlCol="0" anchor="t"/>
          <a:lstStyle/>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質問し放題（48時間以内・受講期間中）</a:t>
            </a:r>
            <a:endParaRPr lang="en-US" sz="1150" dirty="0"/>
          </a:p>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動画講座の会員サイトとアーカイブ　受講期間中 見放題</a:t>
            </a:r>
            <a:endParaRPr lang="en-US" sz="1150" dirty="0"/>
          </a:p>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セルフコーチング</a:t>
            </a:r>
            <a:endParaRPr lang="en-US" sz="1150" dirty="0"/>
          </a:p>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受講生の勉強会へご招待（無料の入口の勉強会とは別のものです）</a:t>
            </a:r>
            <a:endParaRPr lang="en-US" sz="1150" dirty="0"/>
          </a:p>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動画撮影会 1回（丸の内・2時間。撮影は卒業生がお手伝いします）</a:t>
            </a:r>
            <a:endParaRPr lang="en-US" sz="1150" dirty="0"/>
          </a:p>
        </p:txBody>
      </p:sp>
      <p:sp>
        <p:nvSpPr>
          <p:cNvPr id="14" name="Text 12"/>
          <p:cNvSpPr txBox="1"/>
          <p:nvPr/>
        </p:nvSpPr>
        <p:spPr>
          <a:xfrm>
            <a:off x="777240" y="5394960"/>
            <a:ext cx="10698480" cy="457200"/>
          </a:xfrm>
          <a:prstGeom prst="rect">
            <a:avLst/>
          </a:prstGeom>
          <a:noFill/>
          <a:ln/>
        </p:spPr>
        <p:txBody>
          <a:bodyPr wrap="square" lIns="0" tIns="0" rIns="0" bIns="0" rtlCol="0" anchor="ctr"/>
          <a:lstStyle/>
          <a:p>
            <a:pPr indent="0" marL="0">
              <a:buNone/>
            </a:pPr>
            <a:r>
              <a:rPr lang="en-US" sz="1500" dirty="0">
                <a:solidFill>
                  <a:srgbClr val="6A5A5E"/>
                </a:solidFill>
                <a:latin typeface="Calibri" pitchFamily="34" charset="0"/>
                <a:ea typeface="Calibri" pitchFamily="34" charset="-122"/>
                <a:cs typeface="Calibri" pitchFamily="34" charset="-120"/>
              </a:rPr>
              <a:t>「1回しかない」ではなく「1日で作りきる」日です。</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持って帰っていただくもの</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この講座は、成果ではなく成果物をお渡しします。</a:t>
            </a:r>
            <a:endParaRPr lang="en-US" sz="1400" dirty="0"/>
          </a:p>
        </p:txBody>
      </p:sp>
      <p:sp>
        <p:nvSpPr>
          <p:cNvPr id="4" name="Text 2"/>
          <p:cNvSpPr txBox="1"/>
          <p:nvPr/>
        </p:nvSpPr>
        <p:spPr>
          <a:xfrm>
            <a:off x="777240" y="19659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自分の強みを、1枚にまとめた紙</a:t>
            </a:r>
            <a:endParaRPr lang="en-US" sz="1500" dirty="0"/>
          </a:p>
        </p:txBody>
      </p:sp>
      <p:sp>
        <p:nvSpPr>
          <p:cNvPr id="5" name="Text 3"/>
          <p:cNvSpPr txBox="1"/>
          <p:nvPr/>
        </p:nvSpPr>
        <p:spPr>
          <a:xfrm>
            <a:off x="4983480" y="19933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6" name="Shape 4"/>
          <p:cNvSpPr/>
          <p:nvPr/>
        </p:nvSpPr>
        <p:spPr>
          <a:xfrm>
            <a:off x="777240" y="2514600"/>
            <a:ext cx="5120640" cy="0"/>
          </a:xfrm>
          <a:prstGeom prst="line">
            <a:avLst/>
          </a:prstGeom>
          <a:noFill/>
          <a:ln w="12700">
            <a:solidFill>
              <a:srgbClr val="E0D6D2"/>
            </a:solidFill>
            <a:prstDash val="solid"/>
          </a:ln>
        </p:spPr>
      </p:sp>
      <p:sp>
        <p:nvSpPr>
          <p:cNvPr id="7" name="Text 5"/>
          <p:cNvSpPr txBox="1"/>
          <p:nvPr/>
        </p:nvSpPr>
        <p:spPr>
          <a:xfrm>
            <a:off x="6355080" y="19659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書き直した、プロフィール文</a:t>
            </a:r>
            <a:endParaRPr lang="en-US" sz="1500" dirty="0"/>
          </a:p>
        </p:txBody>
      </p:sp>
      <p:sp>
        <p:nvSpPr>
          <p:cNvPr id="8" name="Text 6"/>
          <p:cNvSpPr txBox="1"/>
          <p:nvPr/>
        </p:nvSpPr>
        <p:spPr>
          <a:xfrm>
            <a:off x="10561320" y="19933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9" name="Shape 7"/>
          <p:cNvSpPr/>
          <p:nvPr/>
        </p:nvSpPr>
        <p:spPr>
          <a:xfrm>
            <a:off x="6355080" y="2514600"/>
            <a:ext cx="5120640" cy="0"/>
          </a:xfrm>
          <a:prstGeom prst="line">
            <a:avLst/>
          </a:prstGeom>
          <a:noFill/>
          <a:ln w="12700">
            <a:solidFill>
              <a:srgbClr val="E0D6D2"/>
            </a:solidFill>
            <a:prstDash val="solid"/>
          </a:ln>
        </p:spPr>
      </p:sp>
      <p:sp>
        <p:nvSpPr>
          <p:cNvPr id="10" name="Text 8"/>
          <p:cNvSpPr txBox="1"/>
          <p:nvPr/>
        </p:nvSpPr>
        <p:spPr>
          <a:xfrm>
            <a:off x="777240" y="28803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ご自分で作ったリール 6本</a:t>
            </a:r>
            <a:endParaRPr lang="en-US" sz="1500" dirty="0"/>
          </a:p>
        </p:txBody>
      </p:sp>
      <p:sp>
        <p:nvSpPr>
          <p:cNvPr id="11" name="Text 9"/>
          <p:cNvSpPr txBox="1"/>
          <p:nvPr/>
        </p:nvSpPr>
        <p:spPr>
          <a:xfrm>
            <a:off x="4983480" y="29077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12" name="Shape 10"/>
          <p:cNvSpPr/>
          <p:nvPr/>
        </p:nvSpPr>
        <p:spPr>
          <a:xfrm>
            <a:off x="777240" y="3429000"/>
            <a:ext cx="5120640" cy="0"/>
          </a:xfrm>
          <a:prstGeom prst="line">
            <a:avLst/>
          </a:prstGeom>
          <a:noFill/>
          <a:ln w="12700">
            <a:solidFill>
              <a:srgbClr val="E0D6D2"/>
            </a:solidFill>
            <a:prstDash val="solid"/>
          </a:ln>
        </p:spPr>
      </p:sp>
      <p:sp>
        <p:nvSpPr>
          <p:cNvPr id="13" name="Text 11"/>
          <p:cNvSpPr txBox="1"/>
          <p:nvPr/>
        </p:nvSpPr>
        <p:spPr>
          <a:xfrm>
            <a:off x="6355080" y="28803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AIで投稿文を書く、プロンプトの型</a:t>
            </a:r>
            <a:endParaRPr lang="en-US" sz="1500" dirty="0"/>
          </a:p>
        </p:txBody>
      </p:sp>
      <p:sp>
        <p:nvSpPr>
          <p:cNvPr id="14" name="Text 12"/>
          <p:cNvSpPr txBox="1"/>
          <p:nvPr/>
        </p:nvSpPr>
        <p:spPr>
          <a:xfrm>
            <a:off x="10561320" y="29077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15" name="Shape 13"/>
          <p:cNvSpPr/>
          <p:nvPr/>
        </p:nvSpPr>
        <p:spPr>
          <a:xfrm>
            <a:off x="6355080" y="3429000"/>
            <a:ext cx="5120640" cy="0"/>
          </a:xfrm>
          <a:prstGeom prst="line">
            <a:avLst/>
          </a:prstGeom>
          <a:noFill/>
          <a:ln w="12700">
            <a:solidFill>
              <a:srgbClr val="E0D6D2"/>
            </a:solidFill>
            <a:prstDash val="solid"/>
          </a:ln>
        </p:spPr>
      </p:sp>
      <p:sp>
        <p:nvSpPr>
          <p:cNvPr id="16" name="Text 14"/>
          <p:cNvSpPr txBox="1"/>
          <p:nvPr/>
        </p:nvSpPr>
        <p:spPr>
          <a:xfrm>
            <a:off x="777240" y="37947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撮影会で撮った、ご自分の動画</a:t>
            </a:r>
            <a:endParaRPr lang="en-US" sz="1500" dirty="0"/>
          </a:p>
        </p:txBody>
      </p:sp>
      <p:sp>
        <p:nvSpPr>
          <p:cNvPr id="17" name="Text 15"/>
          <p:cNvSpPr txBox="1"/>
          <p:nvPr/>
        </p:nvSpPr>
        <p:spPr>
          <a:xfrm>
            <a:off x="4983480" y="38221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18" name="Shape 16"/>
          <p:cNvSpPr/>
          <p:nvPr/>
        </p:nvSpPr>
        <p:spPr>
          <a:xfrm>
            <a:off x="777240" y="4343400"/>
            <a:ext cx="5120640" cy="0"/>
          </a:xfrm>
          <a:prstGeom prst="line">
            <a:avLst/>
          </a:prstGeom>
          <a:noFill/>
          <a:ln w="12700">
            <a:solidFill>
              <a:srgbClr val="E0D6D2"/>
            </a:solidFill>
            <a:prstDash val="solid"/>
          </a:ln>
        </p:spPr>
      </p:sp>
      <p:sp>
        <p:nvSpPr>
          <p:cNvPr id="19" name="Text 17"/>
          <p:cNvSpPr txBox="1"/>
          <p:nvPr/>
        </p:nvSpPr>
        <p:spPr>
          <a:xfrm>
            <a:off x="6355080" y="37947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ご自分の商品</a:t>
            </a:r>
            <a:endParaRPr lang="en-US" sz="1500" dirty="0"/>
          </a:p>
        </p:txBody>
      </p:sp>
      <p:sp>
        <p:nvSpPr>
          <p:cNvPr id="20" name="Text 18"/>
          <p:cNvSpPr txBox="1"/>
          <p:nvPr/>
        </p:nvSpPr>
        <p:spPr>
          <a:xfrm>
            <a:off x="10561320" y="38221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二・三</a:t>
            </a:r>
            <a:endParaRPr lang="en-US" sz="1100" dirty="0"/>
          </a:p>
        </p:txBody>
      </p:sp>
      <p:sp>
        <p:nvSpPr>
          <p:cNvPr id="21" name="Shape 19"/>
          <p:cNvSpPr/>
          <p:nvPr/>
        </p:nvSpPr>
        <p:spPr>
          <a:xfrm>
            <a:off x="6355080" y="4343400"/>
            <a:ext cx="5120640" cy="0"/>
          </a:xfrm>
          <a:prstGeom prst="line">
            <a:avLst/>
          </a:prstGeom>
          <a:noFill/>
          <a:ln w="12700">
            <a:solidFill>
              <a:srgbClr val="E0D6D2"/>
            </a:solidFill>
            <a:prstDash val="solid"/>
          </a:ln>
        </p:spPr>
      </p:sp>
      <p:sp>
        <p:nvSpPr>
          <p:cNvPr id="22" name="Text 20"/>
          <p:cNvSpPr txBox="1"/>
          <p:nvPr/>
        </p:nvSpPr>
        <p:spPr>
          <a:xfrm>
            <a:off x="777240" y="47091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実際に動く申し込みの動線</a:t>
            </a:r>
            <a:endParaRPr lang="en-US" sz="1500" dirty="0"/>
          </a:p>
        </p:txBody>
      </p:sp>
      <p:sp>
        <p:nvSpPr>
          <p:cNvPr id="23" name="Text 21"/>
          <p:cNvSpPr txBox="1"/>
          <p:nvPr/>
        </p:nvSpPr>
        <p:spPr>
          <a:xfrm>
            <a:off x="4983480" y="47365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三</a:t>
            </a:r>
            <a:endParaRPr lang="en-US" sz="1100" dirty="0"/>
          </a:p>
        </p:txBody>
      </p:sp>
      <p:sp>
        <p:nvSpPr>
          <p:cNvPr id="24" name="Shape 22"/>
          <p:cNvSpPr/>
          <p:nvPr/>
        </p:nvSpPr>
        <p:spPr>
          <a:xfrm>
            <a:off x="777240" y="5257800"/>
            <a:ext cx="5120640" cy="0"/>
          </a:xfrm>
          <a:prstGeom prst="line">
            <a:avLst/>
          </a:prstGeom>
          <a:noFill/>
          <a:ln w="12700">
            <a:solidFill>
              <a:srgbClr val="E0D6D2"/>
            </a:solidFill>
            <a:prstDash val="solid"/>
          </a:ln>
        </p:spPr>
      </p:sp>
      <p:sp>
        <p:nvSpPr>
          <p:cNvPr id="25" name="Text 23"/>
          <p:cNvSpPr txBox="1"/>
          <p:nvPr/>
        </p:nvSpPr>
        <p:spPr>
          <a:xfrm>
            <a:off x="777240" y="5852160"/>
            <a:ext cx="10698480" cy="45720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ご家族の介護やお仕事があっても、できたか・できていないかだけで見られる形にしています。</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一般的な価格の相場</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ご参考までに。同じような講座の、いまの相場です。</a:t>
            </a:r>
            <a:endParaRPr lang="en-US" sz="1400" dirty="0"/>
          </a:p>
        </p:txBody>
      </p:sp>
      <p:sp>
        <p:nvSpPr>
          <p:cNvPr id="4" name="Text 2"/>
          <p:cNvSpPr txBox="1"/>
          <p:nvPr/>
        </p:nvSpPr>
        <p:spPr>
          <a:xfrm>
            <a:off x="777240" y="1920240"/>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動画のみのインスタマーケティング（4ヶ月）</a:t>
            </a:r>
            <a:endParaRPr lang="en-US" sz="1400" dirty="0"/>
          </a:p>
        </p:txBody>
      </p:sp>
      <p:sp>
        <p:nvSpPr>
          <p:cNvPr id="5" name="Text 3"/>
          <p:cNvSpPr txBox="1"/>
          <p:nvPr/>
        </p:nvSpPr>
        <p:spPr>
          <a:xfrm>
            <a:off x="8595360" y="1920240"/>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45万円</a:t>
            </a:r>
            <a:endParaRPr lang="en-US" sz="1400" dirty="0"/>
          </a:p>
        </p:txBody>
      </p:sp>
      <p:sp>
        <p:nvSpPr>
          <p:cNvPr id="6" name="Shape 4"/>
          <p:cNvSpPr/>
          <p:nvPr/>
        </p:nvSpPr>
        <p:spPr>
          <a:xfrm>
            <a:off x="731520" y="2423160"/>
            <a:ext cx="10698480" cy="0"/>
          </a:xfrm>
          <a:prstGeom prst="line">
            <a:avLst/>
          </a:prstGeom>
          <a:noFill/>
          <a:ln w="12700">
            <a:solidFill>
              <a:srgbClr val="E0D6D2"/>
            </a:solidFill>
            <a:prstDash val="solid"/>
          </a:ln>
        </p:spPr>
      </p:sp>
      <p:sp>
        <p:nvSpPr>
          <p:cNvPr id="7" name="Text 5"/>
          <p:cNvSpPr txBox="1"/>
          <p:nvPr/>
        </p:nvSpPr>
        <p:spPr>
          <a:xfrm>
            <a:off x="777240" y="2523744"/>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サポート付きインスタマーケティング（6ヶ月）</a:t>
            </a:r>
            <a:endParaRPr lang="en-US" sz="1400" dirty="0"/>
          </a:p>
        </p:txBody>
      </p:sp>
      <p:sp>
        <p:nvSpPr>
          <p:cNvPr id="8" name="Text 6"/>
          <p:cNvSpPr txBox="1"/>
          <p:nvPr/>
        </p:nvSpPr>
        <p:spPr>
          <a:xfrm>
            <a:off x="8595360" y="2523744"/>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66万円</a:t>
            </a:r>
            <a:endParaRPr lang="en-US" sz="1400" dirty="0"/>
          </a:p>
        </p:txBody>
      </p:sp>
      <p:sp>
        <p:nvSpPr>
          <p:cNvPr id="9" name="Shape 7"/>
          <p:cNvSpPr/>
          <p:nvPr/>
        </p:nvSpPr>
        <p:spPr>
          <a:xfrm>
            <a:off x="731520" y="3026664"/>
            <a:ext cx="10698480" cy="0"/>
          </a:xfrm>
          <a:prstGeom prst="line">
            <a:avLst/>
          </a:prstGeom>
          <a:noFill/>
          <a:ln w="12700">
            <a:solidFill>
              <a:srgbClr val="E0D6D2"/>
            </a:solidFill>
            <a:prstDash val="solid"/>
          </a:ln>
        </p:spPr>
      </p:sp>
      <p:sp>
        <p:nvSpPr>
          <p:cNvPr id="10" name="Text 8"/>
          <p:cNvSpPr txBox="1"/>
          <p:nvPr/>
        </p:nvSpPr>
        <p:spPr>
          <a:xfrm>
            <a:off x="777240" y="3127248"/>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サポート付きVIPインスタマーケティング（6ヶ月）</a:t>
            </a:r>
            <a:endParaRPr lang="en-US" sz="1400" dirty="0"/>
          </a:p>
        </p:txBody>
      </p:sp>
      <p:sp>
        <p:nvSpPr>
          <p:cNvPr id="11" name="Text 9"/>
          <p:cNvSpPr txBox="1"/>
          <p:nvPr/>
        </p:nvSpPr>
        <p:spPr>
          <a:xfrm>
            <a:off x="8595360" y="3127248"/>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100万円</a:t>
            </a:r>
            <a:endParaRPr lang="en-US" sz="1400" dirty="0"/>
          </a:p>
        </p:txBody>
      </p:sp>
      <p:sp>
        <p:nvSpPr>
          <p:cNvPr id="12" name="Shape 10"/>
          <p:cNvSpPr/>
          <p:nvPr/>
        </p:nvSpPr>
        <p:spPr>
          <a:xfrm>
            <a:off x="731520" y="3630168"/>
            <a:ext cx="10698480" cy="0"/>
          </a:xfrm>
          <a:prstGeom prst="line">
            <a:avLst/>
          </a:prstGeom>
          <a:noFill/>
          <a:ln w="12700">
            <a:solidFill>
              <a:srgbClr val="E0D6D2"/>
            </a:solidFill>
            <a:prstDash val="solid"/>
          </a:ln>
        </p:spPr>
      </p:sp>
      <p:sp>
        <p:nvSpPr>
          <p:cNvPr id="13" name="Text 11"/>
          <p:cNvSpPr txBox="1"/>
          <p:nvPr/>
        </p:nvSpPr>
        <p:spPr>
          <a:xfrm>
            <a:off x="777240" y="3730752"/>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コーチング講座（資格なし）</a:t>
            </a:r>
            <a:endParaRPr lang="en-US" sz="1400" dirty="0"/>
          </a:p>
        </p:txBody>
      </p:sp>
      <p:sp>
        <p:nvSpPr>
          <p:cNvPr id="14" name="Text 12"/>
          <p:cNvSpPr txBox="1"/>
          <p:nvPr/>
        </p:nvSpPr>
        <p:spPr>
          <a:xfrm>
            <a:off x="8595360" y="3730752"/>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40万円</a:t>
            </a:r>
            <a:endParaRPr lang="en-US" sz="1400" dirty="0"/>
          </a:p>
        </p:txBody>
      </p:sp>
      <p:sp>
        <p:nvSpPr>
          <p:cNvPr id="15" name="Shape 13"/>
          <p:cNvSpPr/>
          <p:nvPr/>
        </p:nvSpPr>
        <p:spPr>
          <a:xfrm>
            <a:off x="731520" y="4233672"/>
            <a:ext cx="10698480" cy="0"/>
          </a:xfrm>
          <a:prstGeom prst="line">
            <a:avLst/>
          </a:prstGeom>
          <a:noFill/>
          <a:ln w="12700">
            <a:solidFill>
              <a:srgbClr val="E0D6D2"/>
            </a:solidFill>
            <a:prstDash val="solid"/>
          </a:ln>
        </p:spPr>
      </p:sp>
      <p:sp>
        <p:nvSpPr>
          <p:cNvPr id="16" name="Text 14"/>
          <p:cNvSpPr txBox="1"/>
          <p:nvPr/>
        </p:nvSpPr>
        <p:spPr>
          <a:xfrm>
            <a:off x="777240" y="4334256"/>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ファッション心理学講座（サポートなし）</a:t>
            </a:r>
            <a:endParaRPr lang="en-US" sz="1400" dirty="0"/>
          </a:p>
        </p:txBody>
      </p:sp>
      <p:sp>
        <p:nvSpPr>
          <p:cNvPr id="17" name="Text 15"/>
          <p:cNvSpPr txBox="1"/>
          <p:nvPr/>
        </p:nvSpPr>
        <p:spPr>
          <a:xfrm>
            <a:off x="8595360" y="4334256"/>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50万円</a:t>
            </a:r>
            <a:endParaRPr lang="en-US" sz="1400" dirty="0"/>
          </a:p>
        </p:txBody>
      </p:sp>
      <p:sp>
        <p:nvSpPr>
          <p:cNvPr id="18" name="Shape 16"/>
          <p:cNvSpPr/>
          <p:nvPr/>
        </p:nvSpPr>
        <p:spPr>
          <a:xfrm>
            <a:off x="731520" y="4837176"/>
            <a:ext cx="10698480" cy="0"/>
          </a:xfrm>
          <a:prstGeom prst="line">
            <a:avLst/>
          </a:prstGeom>
          <a:noFill/>
          <a:ln w="12700">
            <a:solidFill>
              <a:srgbClr val="E0D6D2"/>
            </a:solidFill>
            <a:prstDash val="solid"/>
          </a:ln>
        </p:spPr>
      </p:sp>
      <p:sp>
        <p:nvSpPr>
          <p:cNvPr id="19" name="Text 17"/>
          <p:cNvSpPr txBox="1"/>
          <p:nvPr/>
        </p:nvSpPr>
        <p:spPr>
          <a:xfrm>
            <a:off x="777240" y="4937760"/>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オリジナルデザイン物販講座（導入編）</a:t>
            </a:r>
            <a:endParaRPr lang="en-US" sz="1400" dirty="0"/>
          </a:p>
        </p:txBody>
      </p:sp>
      <p:sp>
        <p:nvSpPr>
          <p:cNvPr id="20" name="Text 18"/>
          <p:cNvSpPr txBox="1"/>
          <p:nvPr/>
        </p:nvSpPr>
        <p:spPr>
          <a:xfrm>
            <a:off x="8595360" y="4937760"/>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45万円</a:t>
            </a:r>
            <a:endParaRPr lang="en-US" sz="1400" dirty="0"/>
          </a:p>
        </p:txBody>
      </p:sp>
      <p:sp>
        <p:nvSpPr>
          <p:cNvPr id="21" name="Shape 19"/>
          <p:cNvSpPr/>
          <p:nvPr/>
        </p:nvSpPr>
        <p:spPr>
          <a:xfrm>
            <a:off x="731520" y="5440680"/>
            <a:ext cx="10698480" cy="0"/>
          </a:xfrm>
          <a:prstGeom prst="line">
            <a:avLst/>
          </a:prstGeom>
          <a:noFill/>
          <a:ln w="12700">
            <a:solidFill>
              <a:srgbClr val="E0D6D2"/>
            </a:solidFill>
            <a:prstDash val="solid"/>
          </a:ln>
        </p:spPr>
      </p:sp>
      <p:sp>
        <p:nvSpPr>
          <p:cNvPr id="22" name="Text 20"/>
          <p:cNvSpPr txBox="1"/>
          <p:nvPr/>
        </p:nvSpPr>
        <p:spPr>
          <a:xfrm>
            <a:off x="777240" y="5541264"/>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AI込みの講座</a:t>
            </a:r>
            <a:endParaRPr lang="en-US" sz="1400" dirty="0"/>
          </a:p>
        </p:txBody>
      </p:sp>
      <p:sp>
        <p:nvSpPr>
          <p:cNvPr id="23" name="Text 21"/>
          <p:cNvSpPr txBox="1"/>
          <p:nvPr/>
        </p:nvSpPr>
        <p:spPr>
          <a:xfrm>
            <a:off x="8595360" y="5541264"/>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100万円超え</a:t>
            </a:r>
            <a:endParaRPr lang="en-US" sz="1400" dirty="0"/>
          </a:p>
        </p:txBody>
      </p:sp>
      <p:sp>
        <p:nvSpPr>
          <p:cNvPr id="24" name="Shape 22"/>
          <p:cNvSpPr/>
          <p:nvPr/>
        </p:nvSpPr>
        <p:spPr>
          <a:xfrm>
            <a:off x="731520" y="6044184"/>
            <a:ext cx="10698480" cy="0"/>
          </a:xfrm>
          <a:prstGeom prst="line">
            <a:avLst/>
          </a:prstGeom>
          <a:noFill/>
          <a:ln w="12700">
            <a:solidFill>
              <a:srgbClr val="E0D6D2"/>
            </a:solidFill>
            <a:prstDash val="solid"/>
          </a:ln>
        </p:spPr>
      </p:sp>
      <p:sp>
        <p:nvSpPr>
          <p:cNvPr id="25" name="Text 23"/>
          <p:cNvSpPr txBox="1"/>
          <p:nvPr/>
        </p:nvSpPr>
        <p:spPr>
          <a:xfrm>
            <a:off x="777240" y="6217920"/>
            <a:ext cx="10698480" cy="411480"/>
          </a:xfrm>
          <a:prstGeom prst="rect">
            <a:avLst/>
          </a:prstGeom>
          <a:noFill/>
          <a:ln/>
        </p:spPr>
        <p:txBody>
          <a:bodyPr wrap="square" lIns="0" tIns="0" rIns="0" bIns="0" rtlCol="0" anchor="ctr"/>
          <a:lstStyle/>
          <a:p>
            <a:pPr indent="0" marL="0">
              <a:buNone/>
            </a:pPr>
            <a:r>
              <a:rPr lang="en-US" sz="1300" dirty="0">
                <a:solidFill>
                  <a:srgbClr val="9A8A8E"/>
                </a:solidFill>
                <a:latin typeface="Calibri" pitchFamily="34" charset="0"/>
                <a:ea typeface="Calibri" pitchFamily="34" charset="-122"/>
                <a:cs typeface="Calibri" pitchFamily="34" charset="-120"/>
              </a:rPr>
              <a:t>比べていただくためのものです。「だから安い」と申し上げるつもりはありません。</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受講料</a:t>
            </a:r>
            <a:endParaRPr lang="en-US" sz="3600" dirty="0"/>
          </a:p>
        </p:txBody>
      </p:sp>
      <p:sp>
        <p:nvSpPr>
          <p:cNvPr id="3" name="Text 1"/>
          <p:cNvSpPr txBox="1"/>
          <p:nvPr/>
        </p:nvSpPr>
        <p:spPr>
          <a:xfrm>
            <a:off x="777240" y="1920240"/>
            <a:ext cx="548640" cy="457200"/>
          </a:xfrm>
          <a:prstGeom prst="rect">
            <a:avLst/>
          </a:prstGeom>
          <a:noFill/>
          <a:ln/>
        </p:spPr>
        <p:txBody>
          <a:bodyPr wrap="square" lIns="0" tIns="0" rIns="0" bIns="0" rtlCol="0" anchor="ctr"/>
          <a:lstStyle/>
          <a:p>
            <a:pPr indent="0" marL="0">
              <a:buNone/>
            </a:pPr>
            <a:r>
              <a:rPr lang="en-US" sz="2400" b="1" dirty="0">
                <a:solidFill>
                  <a:srgbClr val="A26769"/>
                </a:solidFill>
                <a:latin typeface="Cambria" pitchFamily="34" charset="0"/>
                <a:ea typeface="Cambria" pitchFamily="34" charset="-122"/>
                <a:cs typeface="Cambria" pitchFamily="34" charset="-120"/>
              </a:rPr>
              <a:t>一</a:t>
            </a:r>
            <a:endParaRPr lang="en-US" sz="2400" dirty="0"/>
          </a:p>
        </p:txBody>
      </p:sp>
      <p:sp>
        <p:nvSpPr>
          <p:cNvPr id="4" name="Text 2"/>
          <p:cNvSpPr txBox="1"/>
          <p:nvPr/>
        </p:nvSpPr>
        <p:spPr>
          <a:xfrm>
            <a:off x="1463040" y="1828800"/>
            <a:ext cx="6035040" cy="41148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はじめてのAI発信インスタ講座</a:t>
            </a:r>
            <a:endParaRPr lang="en-US" sz="1600" dirty="0"/>
          </a:p>
        </p:txBody>
      </p:sp>
      <p:sp>
        <p:nvSpPr>
          <p:cNvPr id="5" name="Text 3"/>
          <p:cNvSpPr txBox="1"/>
          <p:nvPr/>
        </p:nvSpPr>
        <p:spPr>
          <a:xfrm>
            <a:off x="1481328" y="2240280"/>
            <a:ext cx="6035040" cy="32004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3ヶ月・9時間</a:t>
            </a:r>
            <a:endParaRPr lang="en-US" sz="1200" dirty="0"/>
          </a:p>
        </p:txBody>
      </p:sp>
      <p:sp>
        <p:nvSpPr>
          <p:cNvPr id="6" name="Text 4"/>
          <p:cNvSpPr txBox="1"/>
          <p:nvPr/>
        </p:nvSpPr>
        <p:spPr>
          <a:xfrm>
            <a:off x="7863840" y="1874520"/>
            <a:ext cx="3566160" cy="548640"/>
          </a:xfrm>
          <a:prstGeom prst="rect">
            <a:avLst/>
          </a:prstGeom>
          <a:noFill/>
          <a:ln/>
        </p:spPr>
        <p:txBody>
          <a:bodyPr wrap="square" lIns="0" tIns="0" rIns="0" bIns="0" rtlCol="0" anchor="ctr"/>
          <a:lstStyle/>
          <a:p>
            <a:pPr algn="r" indent="0" marL="0">
              <a:buNone/>
            </a:pPr>
            <a:r>
              <a:rPr lang="en-US" sz="2600" b="1" dirty="0">
                <a:solidFill>
                  <a:srgbClr val="6D2E46"/>
                </a:solidFill>
                <a:latin typeface="Cambria" pitchFamily="34" charset="0"/>
                <a:ea typeface="Cambria" pitchFamily="34" charset="-122"/>
                <a:cs typeface="Cambria" pitchFamily="34" charset="-120"/>
              </a:rPr>
              <a:t>100,000円</a:t>
            </a:r>
            <a:endParaRPr lang="en-US" sz="2600" dirty="0"/>
          </a:p>
        </p:txBody>
      </p:sp>
      <p:sp>
        <p:nvSpPr>
          <p:cNvPr id="7" name="Shape 5"/>
          <p:cNvSpPr/>
          <p:nvPr/>
        </p:nvSpPr>
        <p:spPr>
          <a:xfrm>
            <a:off x="731520" y="2697480"/>
            <a:ext cx="10698480" cy="0"/>
          </a:xfrm>
          <a:prstGeom prst="line">
            <a:avLst/>
          </a:prstGeom>
          <a:noFill/>
          <a:ln w="12700">
            <a:solidFill>
              <a:srgbClr val="E0D6D2"/>
            </a:solidFill>
            <a:prstDash val="solid"/>
          </a:ln>
        </p:spPr>
      </p:sp>
      <p:sp>
        <p:nvSpPr>
          <p:cNvPr id="8" name="Text 6"/>
          <p:cNvSpPr txBox="1"/>
          <p:nvPr/>
        </p:nvSpPr>
        <p:spPr>
          <a:xfrm>
            <a:off x="777240" y="3063240"/>
            <a:ext cx="548640" cy="457200"/>
          </a:xfrm>
          <a:prstGeom prst="rect">
            <a:avLst/>
          </a:prstGeom>
          <a:noFill/>
          <a:ln/>
        </p:spPr>
        <p:txBody>
          <a:bodyPr wrap="square" lIns="0" tIns="0" rIns="0" bIns="0" rtlCol="0" anchor="ctr"/>
          <a:lstStyle/>
          <a:p>
            <a:pPr indent="0" marL="0">
              <a:buNone/>
            </a:pPr>
            <a:r>
              <a:rPr lang="en-US" sz="2400" b="1" dirty="0">
                <a:solidFill>
                  <a:srgbClr val="A26769"/>
                </a:solidFill>
                <a:latin typeface="Cambria" pitchFamily="34" charset="0"/>
                <a:ea typeface="Cambria" pitchFamily="34" charset="-122"/>
                <a:cs typeface="Cambria" pitchFamily="34" charset="-120"/>
              </a:rPr>
              <a:t>二</a:t>
            </a:r>
            <a:endParaRPr lang="en-US" sz="2400" dirty="0"/>
          </a:p>
        </p:txBody>
      </p:sp>
      <p:sp>
        <p:nvSpPr>
          <p:cNvPr id="9" name="Text 7"/>
          <p:cNvSpPr txBox="1"/>
          <p:nvPr/>
        </p:nvSpPr>
        <p:spPr>
          <a:xfrm>
            <a:off x="1463040" y="2971800"/>
            <a:ext cx="6035040" cy="41148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ファッション心理学AI活用　商品づくり講座</a:t>
            </a:r>
            <a:endParaRPr lang="en-US" sz="1600" dirty="0"/>
          </a:p>
        </p:txBody>
      </p:sp>
      <p:sp>
        <p:nvSpPr>
          <p:cNvPr id="10" name="Text 8"/>
          <p:cNvSpPr txBox="1"/>
          <p:nvPr/>
        </p:nvSpPr>
        <p:spPr>
          <a:xfrm>
            <a:off x="1481328" y="3383280"/>
            <a:ext cx="6035040" cy="32004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3ヶ月・14時間</a:t>
            </a:r>
            <a:endParaRPr lang="en-US" sz="1200" dirty="0"/>
          </a:p>
        </p:txBody>
      </p:sp>
      <p:sp>
        <p:nvSpPr>
          <p:cNvPr id="11" name="Text 9"/>
          <p:cNvSpPr txBox="1"/>
          <p:nvPr/>
        </p:nvSpPr>
        <p:spPr>
          <a:xfrm>
            <a:off x="7863840" y="3017520"/>
            <a:ext cx="3566160" cy="548640"/>
          </a:xfrm>
          <a:prstGeom prst="rect">
            <a:avLst/>
          </a:prstGeom>
          <a:noFill/>
          <a:ln/>
        </p:spPr>
        <p:txBody>
          <a:bodyPr wrap="square" lIns="0" tIns="0" rIns="0" bIns="0" rtlCol="0" anchor="ctr"/>
          <a:lstStyle/>
          <a:p>
            <a:pPr algn="r" indent="0" marL="0">
              <a:buNone/>
            </a:pPr>
            <a:r>
              <a:rPr lang="en-US" sz="2600" b="1" dirty="0">
                <a:solidFill>
                  <a:srgbClr val="6D2E46"/>
                </a:solidFill>
                <a:latin typeface="Cambria" pitchFamily="34" charset="0"/>
                <a:ea typeface="Cambria" pitchFamily="34" charset="-122"/>
                <a:cs typeface="Cambria" pitchFamily="34" charset="-120"/>
              </a:rPr>
              <a:t>330,000円</a:t>
            </a:r>
            <a:endParaRPr lang="en-US" sz="2600" dirty="0"/>
          </a:p>
        </p:txBody>
      </p:sp>
      <p:sp>
        <p:nvSpPr>
          <p:cNvPr id="12" name="Shape 10"/>
          <p:cNvSpPr/>
          <p:nvPr/>
        </p:nvSpPr>
        <p:spPr>
          <a:xfrm>
            <a:off x="731520" y="3840480"/>
            <a:ext cx="10698480" cy="0"/>
          </a:xfrm>
          <a:prstGeom prst="line">
            <a:avLst/>
          </a:prstGeom>
          <a:noFill/>
          <a:ln w="12700">
            <a:solidFill>
              <a:srgbClr val="E0D6D2"/>
            </a:solidFill>
            <a:prstDash val="solid"/>
          </a:ln>
        </p:spPr>
      </p:sp>
      <p:sp>
        <p:nvSpPr>
          <p:cNvPr id="13" name="Text 11"/>
          <p:cNvSpPr txBox="1"/>
          <p:nvPr/>
        </p:nvSpPr>
        <p:spPr>
          <a:xfrm>
            <a:off x="777240" y="4206240"/>
            <a:ext cx="548640" cy="457200"/>
          </a:xfrm>
          <a:prstGeom prst="rect">
            <a:avLst/>
          </a:prstGeom>
          <a:noFill/>
          <a:ln/>
        </p:spPr>
        <p:txBody>
          <a:bodyPr wrap="square" lIns="0" tIns="0" rIns="0" bIns="0" rtlCol="0" anchor="ctr"/>
          <a:lstStyle/>
          <a:p>
            <a:pPr indent="0" marL="0">
              <a:buNone/>
            </a:pPr>
            <a:r>
              <a:rPr lang="en-US" sz="2400" b="1" dirty="0">
                <a:solidFill>
                  <a:srgbClr val="A26769"/>
                </a:solidFill>
                <a:latin typeface="Cambria" pitchFamily="34" charset="0"/>
                <a:ea typeface="Cambria" pitchFamily="34" charset="-122"/>
                <a:cs typeface="Cambria" pitchFamily="34" charset="-120"/>
              </a:rPr>
              <a:t>三</a:t>
            </a:r>
            <a:endParaRPr lang="en-US" sz="2400" dirty="0"/>
          </a:p>
        </p:txBody>
      </p:sp>
      <p:sp>
        <p:nvSpPr>
          <p:cNvPr id="14" name="Text 12"/>
          <p:cNvSpPr txBox="1"/>
          <p:nvPr/>
        </p:nvSpPr>
        <p:spPr>
          <a:xfrm>
            <a:off x="1463040" y="4114800"/>
            <a:ext cx="6035040" cy="41148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ファッション起業AI活用　マスター講座</a:t>
            </a:r>
            <a:endParaRPr lang="en-US" sz="1600" dirty="0"/>
          </a:p>
        </p:txBody>
      </p:sp>
      <p:sp>
        <p:nvSpPr>
          <p:cNvPr id="15" name="Text 13"/>
          <p:cNvSpPr txBox="1"/>
          <p:nvPr/>
        </p:nvSpPr>
        <p:spPr>
          <a:xfrm>
            <a:off x="1481328" y="4526280"/>
            <a:ext cx="6035040" cy="32004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6ヶ月・28時間</a:t>
            </a:r>
            <a:endParaRPr lang="en-US" sz="1200" dirty="0"/>
          </a:p>
        </p:txBody>
      </p:sp>
      <p:sp>
        <p:nvSpPr>
          <p:cNvPr id="16" name="Text 14"/>
          <p:cNvSpPr txBox="1"/>
          <p:nvPr/>
        </p:nvSpPr>
        <p:spPr>
          <a:xfrm>
            <a:off x="7863840" y="4160520"/>
            <a:ext cx="3566160" cy="548640"/>
          </a:xfrm>
          <a:prstGeom prst="rect">
            <a:avLst/>
          </a:prstGeom>
          <a:noFill/>
          <a:ln/>
        </p:spPr>
        <p:txBody>
          <a:bodyPr wrap="square" lIns="0" tIns="0" rIns="0" bIns="0" rtlCol="0" anchor="ctr"/>
          <a:lstStyle/>
          <a:p>
            <a:pPr algn="r" indent="0" marL="0">
              <a:buNone/>
            </a:pPr>
            <a:r>
              <a:rPr lang="en-US" sz="2600" b="1" dirty="0">
                <a:solidFill>
                  <a:srgbClr val="6D2E46"/>
                </a:solidFill>
                <a:latin typeface="Cambria" pitchFamily="34" charset="0"/>
                <a:ea typeface="Cambria" pitchFamily="34" charset="-122"/>
                <a:cs typeface="Cambria" pitchFamily="34" charset="-120"/>
              </a:rPr>
              <a:t>550,000円</a:t>
            </a:r>
            <a:endParaRPr lang="en-US" sz="2600" dirty="0"/>
          </a:p>
        </p:txBody>
      </p:sp>
      <p:sp>
        <p:nvSpPr>
          <p:cNvPr id="17" name="Shape 15"/>
          <p:cNvSpPr/>
          <p:nvPr/>
        </p:nvSpPr>
        <p:spPr>
          <a:xfrm>
            <a:off x="731520" y="4983480"/>
            <a:ext cx="10698480" cy="0"/>
          </a:xfrm>
          <a:prstGeom prst="line">
            <a:avLst/>
          </a:prstGeom>
          <a:noFill/>
          <a:ln w="12700">
            <a:solidFill>
              <a:srgbClr val="E0D6D2"/>
            </a:solidFill>
            <a:prstDash val="solid"/>
          </a:ln>
        </p:spPr>
      </p:sp>
      <p:sp>
        <p:nvSpPr>
          <p:cNvPr id="18" name="Text 16"/>
          <p:cNvSpPr txBox="1"/>
          <p:nvPr/>
        </p:nvSpPr>
        <p:spPr>
          <a:xfrm>
            <a:off x="777240" y="5486400"/>
            <a:ext cx="10698480" cy="1280160"/>
          </a:xfrm>
          <a:prstGeom prst="rect">
            <a:avLst/>
          </a:prstGeom>
          <a:noFill/>
          <a:ln/>
        </p:spPr>
        <p:txBody>
          <a:bodyPr wrap="square" lIns="0" tIns="0" rIns="0" bIns="0" rtlCol="0" anchor="t"/>
          <a:lstStyle/>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お支払いは一括（クレジットカード／銀行振込）。分割のご相談にも応じます。</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銀行振込のお支払い期限は、お申し込みから7日以内です。</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先に、正直にお伝えします</a:t>
            </a:r>
            <a:endParaRPr lang="en-US" sz="3600" dirty="0"/>
          </a:p>
        </p:txBody>
      </p:sp>
      <p:sp>
        <p:nvSpPr>
          <p:cNvPr id="3" name="Text 1"/>
          <p:cNvSpPr txBox="1"/>
          <p:nvPr/>
        </p:nvSpPr>
        <p:spPr>
          <a:xfrm>
            <a:off x="777240" y="1828800"/>
            <a:ext cx="5029200"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向いていない方</a:t>
            </a:r>
            <a:endParaRPr lang="en-US" sz="2200" dirty="0"/>
          </a:p>
        </p:txBody>
      </p:sp>
      <p:sp>
        <p:nvSpPr>
          <p:cNvPr id="4" name="Text 2"/>
          <p:cNvSpPr txBox="1"/>
          <p:nvPr/>
        </p:nvSpPr>
        <p:spPr>
          <a:xfrm>
            <a:off x="777240" y="2423160"/>
            <a:ext cx="5029200" cy="1645920"/>
          </a:xfrm>
          <a:prstGeom prst="rect">
            <a:avLst/>
          </a:prstGeom>
          <a:noFill/>
          <a:ln/>
        </p:spPr>
        <p:txBody>
          <a:bodyPr wrap="square" lIns="0" tIns="0" rIns="0" bIns="0" rtlCol="0" anchor="t"/>
          <a:lstStyle/>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今すぐ収入にしたい方</a:t>
            </a:r>
            <a:endParaRPr lang="en-US" sz="1500" dirty="0"/>
          </a:p>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言われたとおりにやりたい方</a:t>
            </a:r>
            <a:endParaRPr lang="en-US" sz="1500" dirty="0"/>
          </a:p>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代わりにやってほしい方</a:t>
            </a:r>
            <a:endParaRPr lang="en-US" sz="1500" dirty="0"/>
          </a:p>
        </p:txBody>
      </p:sp>
      <p:sp>
        <p:nvSpPr>
          <p:cNvPr id="5" name="Text 3"/>
          <p:cNvSpPr txBox="1"/>
          <p:nvPr/>
        </p:nvSpPr>
        <p:spPr>
          <a:xfrm>
            <a:off x="777240" y="3840480"/>
            <a:ext cx="5029200" cy="731520"/>
          </a:xfrm>
          <a:prstGeom prst="rect">
            <a:avLst/>
          </a:prstGeom>
          <a:noFill/>
          <a:ln/>
        </p:spPr>
        <p:txBody>
          <a:bodyPr wrap="square" lIns="0" tIns="0" rIns="0" bIns="0" rtlCol="0" anchor="t"/>
          <a:lstStyle/>
          <a:p>
            <a:pPr indent="0" marL="0">
              <a:lnSpc>
                <a:spcPts val="2200"/>
              </a:lnSpc>
              <a:buNone/>
            </a:pPr>
            <a:r>
              <a:rPr lang="en-US" sz="1300" dirty="0">
                <a:solidFill>
                  <a:srgbClr val="6A5A5E"/>
                </a:solidFill>
                <a:latin typeface="Calibri" pitchFamily="34" charset="0"/>
                <a:ea typeface="Calibri" pitchFamily="34" charset="-122"/>
                <a:cs typeface="Calibri" pitchFamily="34" charset="-120"/>
              </a:rPr>
              <a:t>自分の言葉を探す講座です。手を動かすのは、ご本人です。</a:t>
            </a:r>
            <a:endParaRPr lang="en-US" sz="1300" dirty="0"/>
          </a:p>
          <a:p>
            <a:pPr indent="0" marL="0">
              <a:lnSpc>
                <a:spcPts val="2200"/>
              </a:lnSpc>
              <a:buNone/>
            </a:pPr>
            <a:r>
              <a:rPr lang="en-US" sz="1300" dirty="0">
                <a:solidFill>
                  <a:srgbClr val="6A5A5E"/>
                </a:solidFill>
                <a:latin typeface="Calibri" pitchFamily="34" charset="0"/>
                <a:ea typeface="Calibri" pitchFamily="34" charset="-122"/>
                <a:cs typeface="Calibri" pitchFamily="34" charset="-120"/>
              </a:rPr>
              <a:t>当てはまる方は、見送ってください。</a:t>
            </a:r>
            <a:endParaRPr lang="en-US" sz="1300" dirty="0"/>
          </a:p>
        </p:txBody>
      </p:sp>
      <p:sp>
        <p:nvSpPr>
          <p:cNvPr id="6" name="Shape 4"/>
          <p:cNvSpPr/>
          <p:nvPr/>
        </p:nvSpPr>
        <p:spPr>
          <a:xfrm>
            <a:off x="6126480" y="1828800"/>
            <a:ext cx="0" cy="2468880"/>
          </a:xfrm>
          <a:prstGeom prst="line">
            <a:avLst/>
          </a:prstGeom>
          <a:noFill/>
          <a:ln w="12700">
            <a:solidFill>
              <a:srgbClr val="E0D6D2"/>
            </a:solidFill>
            <a:prstDash val="solid"/>
          </a:ln>
        </p:spPr>
      </p:sp>
      <p:sp>
        <p:nvSpPr>
          <p:cNvPr id="7" name="Text 5"/>
          <p:cNvSpPr txBox="1"/>
          <p:nvPr/>
        </p:nvSpPr>
        <p:spPr>
          <a:xfrm>
            <a:off x="6583680" y="1828800"/>
            <a:ext cx="484632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お約束しないこと</a:t>
            </a:r>
            <a:endParaRPr lang="en-US" sz="2200" dirty="0"/>
          </a:p>
        </p:txBody>
      </p:sp>
      <p:sp>
        <p:nvSpPr>
          <p:cNvPr id="8" name="Text 6"/>
          <p:cNvSpPr txBox="1"/>
          <p:nvPr/>
        </p:nvSpPr>
        <p:spPr>
          <a:xfrm>
            <a:off x="6583680" y="2423160"/>
            <a:ext cx="4846320" cy="1645920"/>
          </a:xfrm>
          <a:prstGeom prst="rect">
            <a:avLst/>
          </a:prstGeom>
          <a:noFill/>
          <a:ln/>
        </p:spPr>
        <p:txBody>
          <a:bodyPr wrap="square" lIns="0" tIns="0" rIns="0" bIns="0" rtlCol="0" anchor="t"/>
          <a:lstStyle/>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フォロワーが増えること</a:t>
            </a:r>
            <a:endParaRPr lang="en-US" sz="1500" dirty="0"/>
          </a:p>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売上が出ること</a:t>
            </a:r>
            <a:endParaRPr lang="en-US" sz="1500" dirty="0"/>
          </a:p>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お仕事になること</a:t>
            </a:r>
            <a:endParaRPr lang="en-US" sz="1500" dirty="0"/>
          </a:p>
        </p:txBody>
      </p:sp>
      <p:sp>
        <p:nvSpPr>
          <p:cNvPr id="9" name="Shape 7"/>
          <p:cNvSpPr/>
          <p:nvPr/>
        </p:nvSpPr>
        <p:spPr>
          <a:xfrm>
            <a:off x="731520" y="4434840"/>
            <a:ext cx="10698480" cy="0"/>
          </a:xfrm>
          <a:prstGeom prst="line">
            <a:avLst/>
          </a:prstGeom>
          <a:noFill/>
          <a:ln w="12700">
            <a:solidFill>
              <a:srgbClr val="E0D6D2"/>
            </a:solidFill>
            <a:prstDash val="solid"/>
          </a:ln>
        </p:spPr>
      </p:sp>
      <p:sp>
        <p:nvSpPr>
          <p:cNvPr id="10" name="Text 8"/>
          <p:cNvSpPr txBox="1"/>
          <p:nvPr/>
        </p:nvSpPr>
        <p:spPr>
          <a:xfrm>
            <a:off x="777240" y="4617720"/>
            <a:ext cx="10698480" cy="914400"/>
          </a:xfrm>
          <a:prstGeom prst="rect">
            <a:avLst/>
          </a:prstGeom>
          <a:noFill/>
          <a:ln/>
        </p:spPr>
        <p:txBody>
          <a:bodyPr wrap="square" lIns="0" tIns="0" rIns="0" bIns="0" rtlCol="0" anchor="t"/>
          <a:lstStyle/>
          <a:p>
            <a:pPr indent="0" marL="0">
              <a:lnSpc>
                <a:spcPts val="2600"/>
              </a:lnSpc>
              <a:buNone/>
            </a:pPr>
            <a:r>
              <a:rPr lang="en-US" sz="1500" dirty="0">
                <a:solidFill>
                  <a:srgbClr val="332B29"/>
                </a:solidFill>
                <a:latin typeface="Calibri" pitchFamily="34" charset="0"/>
                <a:ea typeface="Calibri" pitchFamily="34" charset="-122"/>
                <a:cs typeface="Calibri" pitchFamily="34" charset="-120"/>
              </a:rPr>
              <a:t>何をどう進めるかは、おひとりずつ違います。手順と考え方をお伝えし、ご自分で続けられる形になるところまでをお手伝いします。手を動かすのは、ご本人です。</a:t>
            </a:r>
            <a:endParaRPr lang="en-US" sz="1500" dirty="0"/>
          </a:p>
        </p:txBody>
      </p:sp>
      <p:sp>
        <p:nvSpPr>
          <p:cNvPr id="11" name="Text 9"/>
          <p:cNvSpPr txBox="1"/>
          <p:nvPr/>
        </p:nvSpPr>
        <p:spPr>
          <a:xfrm>
            <a:off x="777240" y="5257800"/>
            <a:ext cx="10698480" cy="914400"/>
          </a:xfrm>
          <a:prstGeom prst="rect">
            <a:avLst/>
          </a:prstGeom>
          <a:noFill/>
          <a:ln/>
        </p:spPr>
        <p:txBody>
          <a:bodyPr wrap="square" lIns="0" tIns="0" rIns="0" bIns="0" rtlCol="0" anchor="t"/>
          <a:lstStyle/>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出られない回があっても大丈夫です。すべて録画して、受講期間中はいつでもご覧いただけます。</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8138160" y="0"/>
            <a:ext cx="4023360" cy="6858000"/>
          </a:xfrm>
          <a:prstGeom prst="rect">
            <a:avLst/>
          </a:prstGeom>
        </p:spPr>
      </p:pic>
      <p:sp>
        <p:nvSpPr>
          <p:cNvPr id="3" name="Text 0"/>
          <p:cNvSpPr txBox="1"/>
          <p:nvPr/>
        </p:nvSpPr>
        <p:spPr>
          <a:xfrm>
            <a:off x="822960" y="2194560"/>
            <a:ext cx="6766560" cy="822960"/>
          </a:xfrm>
          <a:prstGeom prst="rect">
            <a:avLst/>
          </a:prstGeom>
          <a:noFill/>
          <a:ln/>
        </p:spPr>
        <p:txBody>
          <a:bodyPr wrap="square" lIns="0" tIns="0" rIns="0" bIns="0" rtlCol="0" anchor="ctr"/>
          <a:lstStyle/>
          <a:p>
            <a:pPr indent="0" marL="0">
              <a:buNone/>
            </a:pPr>
            <a:r>
              <a:rPr lang="en-US" sz="3800" b="1" dirty="0">
                <a:solidFill>
                  <a:srgbClr val="6D2E46"/>
                </a:solidFill>
                <a:latin typeface="Cambria" pitchFamily="34" charset="0"/>
                <a:ea typeface="Cambria" pitchFamily="34" charset="-122"/>
                <a:cs typeface="Cambria" pitchFamily="34" charset="-120"/>
              </a:rPr>
              <a:t>今日、決めなくて大丈夫です。</a:t>
            </a:r>
            <a:endParaRPr lang="en-US" sz="3800" dirty="0"/>
          </a:p>
        </p:txBody>
      </p:sp>
      <p:sp>
        <p:nvSpPr>
          <p:cNvPr id="4" name="Shape 1"/>
          <p:cNvSpPr/>
          <p:nvPr/>
        </p:nvSpPr>
        <p:spPr>
          <a:xfrm>
            <a:off x="822960" y="3291840"/>
            <a:ext cx="6766560" cy="0"/>
          </a:xfrm>
          <a:prstGeom prst="line">
            <a:avLst/>
          </a:prstGeom>
          <a:noFill/>
          <a:ln w="12700">
            <a:solidFill>
              <a:srgbClr val="E0D6D2"/>
            </a:solidFill>
            <a:prstDash val="solid"/>
          </a:ln>
        </p:spPr>
      </p:sp>
      <p:sp>
        <p:nvSpPr>
          <p:cNvPr id="5" name="Text 2"/>
          <p:cNvSpPr txBox="1"/>
          <p:nvPr/>
        </p:nvSpPr>
        <p:spPr>
          <a:xfrm>
            <a:off x="822960" y="3520440"/>
            <a:ext cx="6766560" cy="2011680"/>
          </a:xfrm>
          <a:prstGeom prst="rect">
            <a:avLst/>
          </a:prstGeom>
          <a:noFill/>
          <a:ln/>
        </p:spPr>
        <p:txBody>
          <a:bodyPr wrap="square" lIns="0" tIns="0" rIns="0" bIns="0" rtlCol="0" anchor="t"/>
          <a:lstStyle/>
          <a:p>
            <a:pPr indent="0" marL="0">
              <a:lnSpc>
                <a:spcPts val="3000"/>
              </a:lnSpc>
              <a:buNone/>
            </a:pPr>
            <a:r>
              <a:rPr lang="en-US" sz="1600" dirty="0">
                <a:solidFill>
                  <a:srgbClr val="332B29"/>
                </a:solidFill>
                <a:latin typeface="Calibri" pitchFamily="34" charset="0"/>
                <a:ea typeface="Calibri" pitchFamily="34" charset="-122"/>
                <a:cs typeface="Calibri" pitchFamily="34" charset="-120"/>
              </a:rPr>
              <a:t>合わないと思われたら、見送ってくださってかまいません。</a:t>
            </a:r>
            <a:endParaRPr lang="en-US" sz="1600" dirty="0"/>
          </a:p>
          <a:p>
            <a:pPr indent="0" marL="0">
              <a:lnSpc>
                <a:spcPts val="3000"/>
              </a:lnSpc>
              <a:buNone/>
            </a:pPr>
            <a:r>
              <a:rPr lang="en-US" sz="1600" dirty="0">
                <a:solidFill>
                  <a:srgbClr val="332B29"/>
                </a:solidFill>
                <a:latin typeface="Calibri" pitchFamily="34" charset="0"/>
                <a:ea typeface="Calibri" pitchFamily="34" charset="-122"/>
                <a:cs typeface="Calibri" pitchFamily="34" charset="-120"/>
              </a:rPr>
              <a:t>ご質問はいつでも。48時間以内にお返事します。</a:t>
            </a:r>
            <a:endParaRPr lang="en-US" sz="1600" dirty="0"/>
          </a:p>
          <a:p>
            <a:pPr indent="0" marL="0">
              <a:lnSpc>
                <a:spcPts val="3000"/>
              </a:lnSpc>
              <a:buNone/>
            </a:pPr>
            <a:endParaRPr lang="en-US" sz="1600" dirty="0"/>
          </a:p>
          <a:p>
            <a:pPr indent="0" marL="0">
              <a:lnSpc>
                <a:spcPts val="3000"/>
              </a:lnSpc>
              <a:buNone/>
            </a:pPr>
            <a:r>
              <a:rPr lang="en-US" sz="1600" dirty="0">
                <a:solidFill>
                  <a:srgbClr val="332B29"/>
                </a:solidFill>
                <a:latin typeface="Calibri" pitchFamily="34" charset="0"/>
                <a:ea typeface="Calibri" pitchFamily="34" charset="-122"/>
                <a:cs typeface="Calibri" pitchFamily="34" charset="-120"/>
              </a:rPr>
              <a:t>お申し込みの締切は 10月14日（水）です。</a:t>
            </a:r>
            <a:endParaRPr lang="en-US" sz="1600" dirty="0"/>
          </a:p>
        </p:txBody>
      </p:sp>
      <p:sp>
        <p:nvSpPr>
          <p:cNvPr id="6" name="Text 3"/>
          <p:cNvSpPr txBox="1"/>
          <p:nvPr/>
        </p:nvSpPr>
        <p:spPr>
          <a:xfrm>
            <a:off x="822960" y="5852160"/>
            <a:ext cx="6766560" cy="365760"/>
          </a:xfrm>
          <a:prstGeom prst="rect">
            <a:avLst/>
          </a:prstGeom>
          <a:noFill/>
          <a:ln/>
        </p:spPr>
        <p:txBody>
          <a:bodyPr wrap="square" lIns="0" tIns="0" rIns="0" bIns="0" rtlCol="0" anchor="ctr"/>
          <a:lstStyle/>
          <a:p>
            <a:pPr indent="0" marL="0">
              <a:buNone/>
            </a:pPr>
            <a:r>
              <a:rPr lang="en-US" sz="1200" dirty="0">
                <a:solidFill>
                  <a:srgbClr val="9A8A8E"/>
                </a:solidFill>
                <a:latin typeface="Calibri" pitchFamily="34" charset="0"/>
                <a:ea typeface="Calibri" pitchFamily="34" charset="-122"/>
                <a:cs typeface="Calibri" pitchFamily="34" charset="-120"/>
              </a:rPr>
              <a:t>ファッション起業アカデミア　松岡依里子</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2026-09-26T09:01:32Z</dcterms:created>
  <dcterms:modified xsi:type="dcterms:W3CDTF">2026-09-26T09:01:32Z</dcterms:modified>
</cp:coreProperties>
</file>