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集客テクニックの話ではないと最初に宣言する。
7つは器で、中身はファッション心理学とコーチング。ここが他の起業塾との決定的な違い。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ゴールを「形になった状態」で定義する。物販の方への読み替えを毎回1行だけ添える。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6ヶ月の共通言語になる一文。早口にしない。板書できるなら板書する。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厳しい話をしつつ、原因を能力から設計・心理へ移す。最後の1行が講座の中心宣言。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毎回の講義冒頭で「今日は何番の話か」を必ず言う。2本の柱を外すと、どこにでもある起業塾の話になる。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この講座の核。自分の講義で受講生が実際に出した言葉を1つ入れると一気に伝わる。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コーチングは接客技術ではなく、サービスの中身。セルフコーチングは17枚目で詳しく。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7つの中で最も時間を使う。NG例は必ず声に出して読む（受講生の多くが自分のことだと気づく）。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3分きっちり測る。オンラインはチャットに1人1行。他の人の言葉を見るのが最大の学びになる。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「詰まりの深さ＝専門性の深さ」が肝。絞る不安への補足を必ず言う。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イメコン・スタイリストの単発疲弊は「商品が1層」が原因。診断は入口であって商品そのものではない。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受講生に最も刺さるパート。本命商品の根拠であり、価格の根拠でもある。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曜日別テンプレートは既存の1週間分の設計をそのまま使う。ここでは「なぜその順番か」に時間を使う。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AIに投げるときも指示するのはこの型。型がないままAIに投げると当たり障りのない文章になる。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行き止まりが一番多い取りこぼし。紙に矢印を書かせると自分で気づく。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柱を「知識」から「サービスの中身」へ落とすパート。診断は3番目であることを強調。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「売るのが怖い」を外す。セッションと個別相談が同じ技術だと分かると、心理的ハードルが下がる。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ツールの話に見せず「頑張り続けない設計」の話にする。順番の注意は強めに。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ここを曖昧にすると受講生が拡散する。必ず一番小さい番号を優先させる。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原因を上流に戻す訓練。繰り返し言うと受講生が自走できるようになる。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提出のハードルを下げる。書けなかったこと自体を歓迎する姿勢を明示する。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7つを1行ずつ読み上げて振り返る。最後は「あなたでなければ」で締める。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554480"/>
            <a:ext cx="3383280" cy="3383280"/>
          </a:xfrm>
          <a:prstGeom prst="ellipse">
            <a:avLst/>
          </a:prstGeom>
          <a:solidFill>
            <a:srgbClr val="2A1F26"/>
          </a:solidFill>
          <a:ln/>
        </p:spPr>
      </p:sp>
      <p:sp>
        <p:nvSpPr>
          <p:cNvPr id="3" name="Shape 1"/>
          <p:cNvSpPr/>
          <p:nvPr/>
        </p:nvSpPr>
        <p:spPr>
          <a:xfrm>
            <a:off x="8001000" y="1554480"/>
            <a:ext cx="3383280" cy="3383280"/>
          </a:xfrm>
          <a:prstGeom prst="ellipse">
            <a:avLst/>
          </a:prstGeom>
          <a:solidFill>
            <a:srgbClr val="3E2F38">
              <a:alpha val="0"/>
            </a:srgbClr>
          </a:solidFill>
          <a:ln w="15875">
            <a:solidFill>
              <a:srgbClr val="C08F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01000" y="15544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</a:t>
            </a:r>
            <a:endParaRPr lang="en-US" sz="1400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208483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ファッション起業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85800" y="2761488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7つのステップ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685800" y="3858768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感性と専門性を、選ばれる仕組みに変える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85800" y="4480560"/>
            <a:ext cx="6766560" cy="502920"/>
          </a:xfrm>
          <a:prstGeom prst="roundRect">
            <a:avLst>
              <a:gd name="adj" fmla="val 18182"/>
            </a:avLst>
          </a:prstGeom>
          <a:solidFill>
            <a:srgbClr val="2A1F26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44805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器は7つのステップ　／　中身は ファッション心理学 と コーチング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" y="513892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6ヶ月実践講座　全体像の回　／　講義90分 ＋ ワークショップ60分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この6ヶ月で仕上げる状態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目指すのは「たくさん学んだ状態」ではなく、形になった状態です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3429000" cy="2560320"/>
          </a:xfrm>
          <a:prstGeom prst="roundRect">
            <a:avLst>
              <a:gd name="adj" fmla="val 2500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157984"/>
            <a:ext cx="676656" cy="676656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5798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51560" y="2962656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資格名ではなく、変化の言葉で言える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3675888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「診断ができます」ではなく、その人が何をできるようになるのか。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98848" y="1874520"/>
            <a:ext cx="3429000" cy="2560320"/>
          </a:xfrm>
          <a:prstGeom prst="roundRect">
            <a:avLst>
              <a:gd name="adj" fmla="val 2500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64608" y="2157984"/>
            <a:ext cx="676656" cy="676656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2" name="Text 10"/>
          <p:cNvSpPr/>
          <p:nvPr/>
        </p:nvSpPr>
        <p:spPr>
          <a:xfrm>
            <a:off x="4864608" y="215798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864608" y="2962656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診断だけで終わらない商品がある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64608" y="3675888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入口・本命・継続の3層。診断は入口であって、商品そのものではない。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311896" y="1874520"/>
            <a:ext cx="3429000" cy="2560320"/>
          </a:xfrm>
          <a:prstGeom prst="roundRect">
            <a:avLst>
              <a:gd name="adj" fmla="val 2500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77656" y="2157984"/>
            <a:ext cx="676656" cy="676656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7" name="Text 15"/>
          <p:cNvSpPr/>
          <p:nvPr/>
        </p:nvSpPr>
        <p:spPr>
          <a:xfrm>
            <a:off x="8677656" y="2157984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677656" y="2962656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個別相談まで、線になっている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677656" y="3675888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発信を見た人が次にどこへ行き、何を見て決めるのかがつながっている。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4663440"/>
            <a:ext cx="10820095" cy="868680"/>
          </a:xfrm>
          <a:prstGeom prst="roundRect">
            <a:avLst>
              <a:gd name="adj" fmla="val 7368"/>
            </a:avLst>
          </a:prstGeom>
          <a:solidFill>
            <a:srgbClr val="3E2F38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" y="466344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そしてこの3つ全部に、心理学とコーチングが入っている状態です。診断ができる人と、観念まで扱える人。その差が、選ばれるかどうかの差になります。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5800" y="5760720"/>
            <a:ext cx="10820095" cy="530352"/>
          </a:xfrm>
          <a:prstGeom prst="roundRect">
            <a:avLst>
              <a:gd name="adj" fmla="val 8621"/>
            </a:avLst>
          </a:prstGeom>
          <a:solidFill>
            <a:srgbClr val="EAE3DD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5760720"/>
            <a:ext cx="101800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▷ 物販の方は　</a:t>
            </a:r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「診断」を「商品そのもの」に置き換えて聞いてください。並べるだけの人と、お客様の観念まで分かって見せられる人の差です。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この6ヶ月の大前提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「売れる」は結果。</a:t>
            </a:r>
            <a:endParaRPr lang="en-US" sz="40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「選ばれる」が原因。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85800" y="37947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売上は結果です。結果を直接いじろうとしても動きません。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動かすのは原因のほう ―― 選ばれているかどうか、です。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635240" y="1874520"/>
            <a:ext cx="3867912" cy="1371600"/>
          </a:xfrm>
          <a:prstGeom prst="roundRect">
            <a:avLst>
              <a:gd name="adj" fmla="val 4667"/>
            </a:avLst>
          </a:prstGeom>
          <a:solidFill>
            <a:srgbClr val="2A1F26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0" y="20208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結果を追いかけると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955280" y="23774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投稿を増やす／値下げ／キャンペーン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動かないまま、しんどくなる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35240" y="3474720"/>
            <a:ext cx="3867912" cy="1371600"/>
          </a:xfrm>
          <a:prstGeom prst="roundRect">
            <a:avLst>
              <a:gd name="adj" fmla="val 4667"/>
            </a:avLst>
          </a:prstGeom>
          <a:solidFill>
            <a:srgbClr val="F7F3F0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0" y="36210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原因を整えると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955280" y="39776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「この人にお願いしたい」をつくる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売上は、あとからついてくる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診断ができることは、もう差別化になりません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 ―― うまくいかない理由は、センスでも努力でもありません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5486400" cy="1325880"/>
          </a:xfrm>
          <a:prstGeom prst="roundRect">
            <a:avLst>
              <a:gd name="adj" fmla="val 4828"/>
            </a:avLst>
          </a:prstGeom>
          <a:solidFill>
            <a:srgbClr val="EAE3DD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9568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パーソナルカラー　骨格　顔タイプ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35915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同じ資格、同じ診断結果、似た料金。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この中に置かれると、お客様から違いが見えません。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73952" y="1828800"/>
            <a:ext cx="5029200" cy="1325880"/>
          </a:xfrm>
          <a:prstGeom prst="roundRect">
            <a:avLst>
              <a:gd name="adj" fmla="val 4828"/>
            </a:avLst>
          </a:prstGeom>
          <a:solidFill>
            <a:srgbClr val="3E2F38"/>
          </a:solidFill>
          <a:ln/>
        </p:spPr>
      </p:sp>
      <p:sp>
        <p:nvSpPr>
          <p:cNvPr id="9" name="Text 7"/>
          <p:cNvSpPr/>
          <p:nvPr/>
        </p:nvSpPr>
        <p:spPr>
          <a:xfrm>
            <a:off x="6793992" y="182880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感性と専門性はあるのに、</a:t>
            </a:r>
            <a:endParaRPr lang="en-US" sz="16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それが「選ばれる仕組み」になっていない。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" y="3383280"/>
            <a:ext cx="10820095" cy="530352"/>
          </a:xfrm>
          <a:prstGeom prst="roundRect">
            <a:avLst>
              <a:gd name="adj" fmla="val 8621"/>
            </a:avLst>
          </a:prstGeom>
          <a:solidFill>
            <a:srgbClr val="F7F3F0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383280"/>
            <a:ext cx="101800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資格名は言えるが、提供できる変化が言葉になっていない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4023360"/>
            <a:ext cx="10820095" cy="530352"/>
          </a:xfrm>
          <a:prstGeom prst="roundRect">
            <a:avLst>
              <a:gd name="adj" fmla="val 8621"/>
            </a:avLst>
          </a:prstGeom>
          <a:solidFill>
            <a:srgbClr val="F7F3F0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4023360"/>
            <a:ext cx="101800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診断メニューはあるが、その先の商品がない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663440"/>
            <a:ext cx="10820095" cy="530352"/>
          </a:xfrm>
          <a:prstGeom prst="roundRect">
            <a:avLst>
              <a:gd name="adj" fmla="val 8621"/>
            </a:avLst>
          </a:prstGeom>
          <a:solidFill>
            <a:srgbClr val="F7F3F0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663440"/>
            <a:ext cx="101800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発信が単発で終わっている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5303520"/>
            <a:ext cx="10820095" cy="530352"/>
          </a:xfrm>
          <a:prstGeom prst="roundRect">
            <a:avLst>
              <a:gd name="adj" fmla="val 8621"/>
            </a:avLst>
          </a:prstGeom>
          <a:solidFill>
            <a:srgbClr val="E3C9CD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5303520"/>
            <a:ext cx="101800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診断結果を渡しても、お客様が実際には変わらない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85800" y="5989320"/>
            <a:ext cx="10820095" cy="566928"/>
          </a:xfrm>
          <a:prstGeom prst="roundRect">
            <a:avLst>
              <a:gd name="adj" fmla="val 11290"/>
            </a:avLst>
          </a:prstGeom>
          <a:solidFill>
            <a:srgbClr val="3E2F38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5989320"/>
            <a:ext cx="9997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最後のひとつは、マーケティングの問題ではありません。心理の問題です。そこがこの講座の中心です。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7ステップの全体像と、2本の柱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7つは器です。中に入る中身が、ファッション心理学とコーチングです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F7F3F0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938528"/>
            <a:ext cx="365760" cy="3657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44168" y="182880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価値の言語化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502152" y="1828800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資格名ではなく、変化の言葉に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5800" y="2523744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EAE3DD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633472"/>
            <a:ext cx="365760" cy="3657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633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44168" y="2523744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選ばれる理由を決める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502152" y="2523744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理想のお客様と、深いほうの詰まり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" y="3218688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F7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3328416"/>
            <a:ext cx="365760" cy="3657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44168" y="3218688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商品設計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502152" y="3218688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診断単発から抜ける3層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5800" y="3913632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EAE3DD"/>
          </a:solidFill>
          <a:ln/>
        </p:spPr>
      </p:sp>
      <p:sp>
        <p:nvSpPr>
          <p:cNvPr id="21" name="Shape 19"/>
          <p:cNvSpPr/>
          <p:nvPr/>
        </p:nvSpPr>
        <p:spPr>
          <a:xfrm>
            <a:off x="868680" y="4023360"/>
            <a:ext cx="365760" cy="3657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44168" y="3913632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発信設計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502152" y="3913632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7つの心理ステップで導く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91072" y="1828800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F7F3F0"/>
          </a:solidFill>
          <a:ln/>
        </p:spPr>
      </p:sp>
      <p:sp>
        <p:nvSpPr>
          <p:cNvPr id="26" name="Shape 24"/>
          <p:cNvSpPr/>
          <p:nvPr/>
        </p:nvSpPr>
        <p:spPr>
          <a:xfrm>
            <a:off x="6473952" y="1938528"/>
            <a:ext cx="365760" cy="3657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27" name="Text 25"/>
          <p:cNvSpPr/>
          <p:nvPr/>
        </p:nvSpPr>
        <p:spPr>
          <a:xfrm>
            <a:off x="6473952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49440" y="182880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販売導線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107424" y="1828800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発信から個別相談までを線に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91072" y="2523744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EAE3DD"/>
          </a:solidFill>
          <a:ln/>
        </p:spPr>
      </p:sp>
      <p:sp>
        <p:nvSpPr>
          <p:cNvPr id="31" name="Shape 29"/>
          <p:cNvSpPr/>
          <p:nvPr/>
        </p:nvSpPr>
        <p:spPr>
          <a:xfrm>
            <a:off x="6473952" y="2633472"/>
            <a:ext cx="365760" cy="3657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633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49440" y="2523744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セッション設計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107424" y="2523744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心理学とコーチングを実装する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91072" y="3218688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F7F3F0"/>
          </a:solidFill>
          <a:ln/>
        </p:spPr>
      </p:sp>
      <p:sp>
        <p:nvSpPr>
          <p:cNvPr id="36" name="Shape 34"/>
          <p:cNvSpPr/>
          <p:nvPr/>
        </p:nvSpPr>
        <p:spPr>
          <a:xfrm>
            <a:off x="6473952" y="3328416"/>
            <a:ext cx="365760" cy="3657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37" name="Text 35"/>
          <p:cNvSpPr/>
          <p:nvPr/>
        </p:nvSpPr>
        <p:spPr>
          <a:xfrm>
            <a:off x="647395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949440" y="3218688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仕組み化・自動化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9107424" y="3218688"/>
            <a:ext cx="2286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UTAGE / L Message / AI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91072" y="3977640"/>
            <a:ext cx="5212080" cy="804672"/>
          </a:xfrm>
          <a:prstGeom prst="roundRect">
            <a:avLst>
              <a:gd name="adj" fmla="val 6818"/>
            </a:avLst>
          </a:prstGeom>
          <a:solidFill>
            <a:srgbClr val="3E2F38"/>
          </a:solidFill>
          <a:ln/>
        </p:spPr>
      </p:sp>
      <p:sp>
        <p:nvSpPr>
          <p:cNvPr id="41" name="Text 39"/>
          <p:cNvSpPr/>
          <p:nvPr/>
        </p:nvSpPr>
        <p:spPr>
          <a:xfrm>
            <a:off x="6583680" y="4032504"/>
            <a:ext cx="4626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柱①　ファッション心理学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583680" y="4325112"/>
            <a:ext cx="4626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観念を洗い出し、書き換える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DISCOVERY → AWAKENESS → Circulation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291072" y="4892040"/>
            <a:ext cx="5212080" cy="804672"/>
          </a:xfrm>
          <a:prstGeom prst="roundRect">
            <a:avLst>
              <a:gd name="adj" fmla="val 6818"/>
            </a:avLst>
          </a:prstGeom>
          <a:solidFill>
            <a:srgbClr val="3E2F38"/>
          </a:solidFill>
          <a:ln/>
        </p:spPr>
      </p:sp>
      <p:sp>
        <p:nvSpPr>
          <p:cNvPr id="44" name="Text 42"/>
          <p:cNvSpPr/>
          <p:nvPr/>
        </p:nvSpPr>
        <p:spPr>
          <a:xfrm>
            <a:off x="6583680" y="4946904"/>
            <a:ext cx="4626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柱②　コーチング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583680" y="5239512"/>
            <a:ext cx="4626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本音を引き出す。「似合う」と「なりたい」のズレ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セルフコーチングも含む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85800" y="4800600"/>
            <a:ext cx="5212080" cy="896112"/>
          </a:xfrm>
          <a:prstGeom prst="roundRect">
            <a:avLst>
              <a:gd name="adj" fmla="val 6122"/>
            </a:avLst>
          </a:prstGeom>
          <a:solidFill>
            <a:srgbClr val="E3C9CD"/>
          </a:solidFill>
          <a:ln/>
        </p:spPr>
      </p:sp>
      <p:sp>
        <p:nvSpPr>
          <p:cNvPr id="47" name="Text 45"/>
          <p:cNvSpPr/>
          <p:nvPr/>
        </p:nvSpPr>
        <p:spPr>
          <a:xfrm>
            <a:off x="978408" y="4800600"/>
            <a:ext cx="46268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発信ネタが出ないのは STEP4 ではなく STEP1・2 の問題。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詰まったら、必ず一つ上に戻る。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85800" y="5897880"/>
            <a:ext cx="10820095" cy="548640"/>
          </a:xfrm>
          <a:prstGeom prst="roundRect">
            <a:avLst>
              <a:gd name="adj" fmla="val 11667"/>
            </a:avLst>
          </a:prstGeom>
          <a:solidFill>
            <a:srgbClr val="3E2F38"/>
          </a:solidFill>
          <a:ln/>
        </p:spPr>
      </p:sp>
      <p:sp>
        <p:nvSpPr>
          <p:cNvPr id="49" name="Text 47"/>
          <p:cNvSpPr/>
          <p:nvPr/>
        </p:nvSpPr>
        <p:spPr>
          <a:xfrm>
            <a:off x="1097280" y="589788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STEP7の自動化だけは、1〜5が固まる前に手を出さないでください。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685800" y="292608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C08F97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92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柱 ①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ファッション心理学 ―― 観念を洗い出し、書き換える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85800" y="1353312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扱うのは「似合う色」ではありません。その人がファッションに対して持っている思い込みです。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1783080"/>
            <a:ext cx="10820095" cy="1051560"/>
          </a:xfrm>
          <a:prstGeom prst="roundRect">
            <a:avLst>
              <a:gd name="adj" fmla="val 6087"/>
            </a:avLst>
          </a:prstGeom>
          <a:solidFill>
            <a:srgbClr val="2A1F26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783080"/>
            <a:ext cx="99971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「安かったから、つい買っちゃって」　「私なんかがこんな服着ても」</a:t>
            </a:r>
            <a:endParaRPr lang="en-US" sz="13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「素敵な服を着ていないと恥ずかしい」　「診断とかあるけど、結局好きなものを着ちゃうよね」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92608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これ全部、観念です。そして観念は、たいてい過去の体験からできています。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3383280"/>
            <a:ext cx="3429000" cy="2103120"/>
          </a:xfrm>
          <a:prstGeom prst="roundRect">
            <a:avLst>
              <a:gd name="adj" fmla="val 3043"/>
            </a:avLst>
          </a:prstGeom>
          <a:solidFill>
            <a:srgbClr val="F7F3F0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547872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DISCOVERY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60120" y="389534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自己を見つめる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" y="4334256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自分インタビュー「あなたにとってファッションとは？」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観念の洗い出し／過去の体験（辛かったこと・嬉しかったこと）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498848" y="3383280"/>
            <a:ext cx="3429000" cy="2103120"/>
          </a:xfrm>
          <a:prstGeom prst="roundRect">
            <a:avLst>
              <a:gd name="adj" fmla="val 3043"/>
            </a:avLst>
          </a:prstGeom>
          <a:solidFill>
            <a:srgbClr val="F7F3F0"/>
          </a:solidFill>
          <a:ln/>
        </p:spPr>
      </p:sp>
      <p:sp>
        <p:nvSpPr>
          <p:cNvPr id="15" name="Text 13"/>
          <p:cNvSpPr/>
          <p:nvPr/>
        </p:nvSpPr>
        <p:spPr>
          <a:xfrm>
            <a:off x="4773168" y="3547872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AWAKENESS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73168" y="389534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気づき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73168" y="4334256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その観念がどこから来たのかに気づく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家族のファッション観念／関係を作った思い出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311896" y="3383280"/>
            <a:ext cx="3429000" cy="2103120"/>
          </a:xfrm>
          <a:prstGeom prst="roundRect">
            <a:avLst>
              <a:gd name="adj" fmla="val 3043"/>
            </a:avLst>
          </a:prstGeom>
          <a:solidFill>
            <a:srgbClr val="F7F3F0"/>
          </a:solidFill>
          <a:ln/>
        </p:spPr>
      </p:sp>
      <p:sp>
        <p:nvSpPr>
          <p:cNvPr id="19" name="Text 17"/>
          <p:cNvSpPr/>
          <p:nvPr/>
        </p:nvSpPr>
        <p:spPr>
          <a:xfrm>
            <a:off x="8586216" y="3547872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Circulation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586216" y="389534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豊かさを受け取る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586216" y="4334256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思い出の書き換え／執着の手放し／フォーカス先を変える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今ある豊かさを見つける／願望ワーク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85800" y="57150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この3つを通ると、同じ診断結果でも、お客様の受け取り方がまったく変わります。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92608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C08F9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柱 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コーチング ―― 「似合う」と「なりたい」のズレ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やることは、相手の本音を引き出して、前に進める状態をつくること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5212080" cy="1097280"/>
          </a:xfrm>
          <a:prstGeom prst="roundRect">
            <a:avLst>
              <a:gd name="adj" fmla="val 5833"/>
            </a:avLst>
          </a:prstGeom>
          <a:solidFill>
            <a:srgbClr val="F7F3F0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9568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診断で出る「似合う」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2359152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淡い色が似合います／この形が似合います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828800"/>
            <a:ext cx="5212080" cy="1097280"/>
          </a:xfrm>
          <a:prstGeom prst="roundRect">
            <a:avLst>
              <a:gd name="adj" fmla="val 5833"/>
            </a:avLst>
          </a:prstGeom>
          <a:solidFill>
            <a:srgbClr val="EAE3DD"/>
          </a:solidFill>
          <a:ln/>
        </p:spPr>
      </p:sp>
      <p:sp>
        <p:nvSpPr>
          <p:cNvPr id="11" name="Text 9"/>
          <p:cNvSpPr/>
          <p:nvPr/>
        </p:nvSpPr>
        <p:spPr>
          <a:xfrm>
            <a:off x="6611112" y="19568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本人の「なりたい」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11112" y="2359152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でも、黒でかっこよくいたい／憧れているのは別の形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3108960"/>
            <a:ext cx="10820095" cy="822960"/>
          </a:xfrm>
          <a:prstGeom prst="roundRect">
            <a:avLst>
              <a:gd name="adj" fmla="val 7778"/>
            </a:avLst>
          </a:prstGeom>
          <a:solidFill>
            <a:srgbClr val="E3C9CD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10896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ここで「でも診断結果はこうなので」と押すと、その方は納得しないまま帰って、結局着ません。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85800" y="4114800"/>
            <a:ext cx="10820095" cy="1188720"/>
          </a:xfrm>
          <a:prstGeom prst="roundRect">
            <a:avLst>
              <a:gd name="adj" fmla="val 5385"/>
            </a:avLst>
          </a:prstGeom>
          <a:solidFill>
            <a:srgbClr val="3E2F38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251960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「なりたい姿は、どこから来ていますか」「その姿になったら、何が変わりますか」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97280" y="4681728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本音を聞いてから、似合うを乗せる。順番が逆なんです。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5486400"/>
            <a:ext cx="10820095" cy="530352"/>
          </a:xfrm>
          <a:prstGeom prst="roundRect">
            <a:avLst>
              <a:gd name="adj" fmla="val 8621"/>
            </a:avLst>
          </a:prstGeom>
          <a:solidFill>
            <a:srgbClr val="E3C9CD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5486400"/>
            <a:ext cx="101800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自分にも使う　</a:t>
            </a:r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不安になる → 比べて落ち込む → 発信がブレる → 商品が決まらない。自分の状態は、そのまま仕事の結果に出ます。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92608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C08F9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価値の言語化 ―― 資格名を並べるのをやめる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7つのうちの1番目。正直に言うと、ここが8割です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10820095" cy="914400"/>
          </a:xfrm>
          <a:prstGeom prst="roundRect">
            <a:avLst>
              <a:gd name="adj" fmla="val 7000"/>
            </a:avLst>
          </a:prstGeom>
          <a:solidFill>
            <a:srgbClr val="EAE3DD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8288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b="1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よくある形　</a:t>
            </a:r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「パーソナルカラー診断、骨格診断、顔タイプ診断ができます。○○協会認定講師です。」</a:t>
            </a:r>
            <a:pPr indent="0" marL="0">
              <a:lnSpc>
                <a:spcPts val="2200"/>
              </a:lnSpc>
              <a:buNone/>
            </a:pP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何ができるかは書いてあるが、自分がどうなるのかが書いていない。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2926080"/>
            <a:ext cx="3429000" cy="1920240"/>
          </a:xfrm>
          <a:prstGeom prst="roundRect">
            <a:avLst>
              <a:gd name="adj" fmla="val 3333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14984" y="3127248"/>
            <a:ext cx="512064" cy="512064"/>
          </a:xfrm>
          <a:prstGeom prst="ellipse">
            <a:avLst/>
          </a:prstGeom>
          <a:solidFill>
            <a:srgbClr val="C08F97"/>
          </a:solidFill>
          <a:ln/>
        </p:spPr>
      </p:sp>
      <p:sp>
        <p:nvSpPr>
          <p:cNvPr id="11" name="Text 9"/>
          <p:cNvSpPr/>
          <p:nvPr/>
        </p:nvSpPr>
        <p:spPr>
          <a:xfrm>
            <a:off x="1014984" y="31272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36776" y="314553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専門性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14984" y="3749040"/>
            <a:ext cx="2770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何を根拠に語れるか。理論、心理学、経験年数。謙遜は、お客様にとっては情報不足です。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498848" y="2926080"/>
            <a:ext cx="3429000" cy="1920240"/>
          </a:xfrm>
          <a:prstGeom prst="roundRect">
            <a:avLst>
              <a:gd name="adj" fmla="val 3333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28032" y="3127248"/>
            <a:ext cx="512064" cy="512064"/>
          </a:xfrm>
          <a:prstGeom prst="ellipse">
            <a:avLst/>
          </a:prstGeom>
          <a:solidFill>
            <a:srgbClr val="C08F97"/>
          </a:solidFill>
          <a:ln/>
        </p:spPr>
      </p:sp>
      <p:sp>
        <p:nvSpPr>
          <p:cNvPr id="16" name="Text 14"/>
          <p:cNvSpPr/>
          <p:nvPr/>
        </p:nvSpPr>
        <p:spPr>
          <a:xfrm>
            <a:off x="4828032" y="31272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49824" y="314553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提供できる変化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828032" y="3749040"/>
            <a:ext cx="2770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「似合う色が分かる」の先。朝の支度が短くなる、写真に写るのが嫌でなくなる。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311896" y="2926080"/>
            <a:ext cx="3429000" cy="1920240"/>
          </a:xfrm>
          <a:prstGeom prst="roundRect">
            <a:avLst>
              <a:gd name="adj" fmla="val 3333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41080" y="3127248"/>
            <a:ext cx="512064" cy="512064"/>
          </a:xfrm>
          <a:prstGeom prst="ellipse">
            <a:avLst/>
          </a:prstGeom>
          <a:solidFill>
            <a:srgbClr val="C08F97"/>
          </a:solidFill>
          <a:ln/>
        </p:spPr>
      </p:sp>
      <p:sp>
        <p:nvSpPr>
          <p:cNvPr id="21" name="Text 19"/>
          <p:cNvSpPr/>
          <p:nvPr/>
        </p:nvSpPr>
        <p:spPr>
          <a:xfrm>
            <a:off x="8641080" y="31272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62872" y="314553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価値観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641080" y="3749040"/>
            <a:ext cx="2770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何を大事にし、何をやらないか。「流行は追いません」「たくさん買わせません」。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5029200"/>
            <a:ext cx="10820095" cy="530352"/>
          </a:xfrm>
          <a:prstGeom prst="roundRect">
            <a:avLst>
              <a:gd name="adj" fmla="val 8621"/>
            </a:avLst>
          </a:prstGeom>
          <a:solidFill>
            <a:srgbClr val="E3C9CD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5029200"/>
            <a:ext cx="101800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心理学の使いどころ　</a:t>
            </a:r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変化が書けないときは、お客様の観念を思い出す。「安いから買ってしまう」人が、あなたと会って何が変わるのか。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85800" y="5669280"/>
            <a:ext cx="10820095" cy="530352"/>
          </a:xfrm>
          <a:prstGeom prst="roundRect">
            <a:avLst>
              <a:gd name="adj" fmla="val 8621"/>
            </a:avLst>
          </a:prstGeom>
          <a:solidFill>
            <a:srgbClr val="EAE3DD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5669280"/>
            <a:ext cx="101800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▷ 物販の方は　</a:t>
            </a:r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「資格」を「素材やこだわり」に置き換えを。「シルク100%です」で止まるのが同じ失敗です。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92608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C08F9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ミニワーク ―― まず、自分の観念から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自分の観念に気づいていない人は、お客様の観念も扱えません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874520"/>
            <a:ext cx="10820095" cy="1325880"/>
          </a:xfrm>
          <a:prstGeom prst="roundRect">
            <a:avLst>
              <a:gd name="adj" fmla="val 4828"/>
            </a:avLst>
          </a:prstGeom>
          <a:solidFill>
            <a:srgbClr val="3E2F38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1874520"/>
            <a:ext cx="99056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「あなたにとって、ファッションとは何ですか。」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85800" y="329184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生活に不可欠　／　自己評価する道具　／　自分を守る鎧　／　自己表現　／　ご褒美　／　面倒なもの　――　ネガティブなものも含めて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3794760"/>
            <a:ext cx="10820095" cy="1371600"/>
          </a:xfrm>
          <a:prstGeom prst="roundRect">
            <a:avLst>
              <a:gd name="adj" fmla="val 4667"/>
            </a:avLst>
          </a:prstGeom>
          <a:solidFill>
            <a:srgbClr val="EAE3DD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3913632"/>
            <a:ext cx="9905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そのあと、この一文を埋める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143000" y="4224528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「（　　　　）な人が、（　　　　）できるようになるお手伝いをしています。</a:t>
            </a:r>
            <a:endParaRPr lang="en-US" sz="1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　それは私が（　　　　）だからです。」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85800" y="5394960"/>
            <a:ext cx="10820095" cy="868680"/>
          </a:xfrm>
          <a:prstGeom prst="roundRect">
            <a:avLst>
              <a:gd name="adj" fmla="val 7368"/>
            </a:avLst>
          </a:prstGeom>
          <a:solidFill>
            <a:srgbClr val="3E2F38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39496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完璧でなくて大丈夫です。書けなかった箇所が、今月のあなたの課題です。「ファッションとは何か」に答えられないこと自体も、今日の収穫です。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92608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C08F9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選ばれる理由を決める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「誰もやっていないこと」は探さない。決めるのは3つだけです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10820095" cy="1005840"/>
          </a:xfrm>
          <a:prstGeom prst="roundRect">
            <a:avLst>
              <a:gd name="adj" fmla="val 5455"/>
            </a:avLst>
          </a:prstGeom>
          <a:solidFill>
            <a:srgbClr val="F7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2084832"/>
            <a:ext cx="493776" cy="493776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20848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00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理想のお客様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00200" y="23042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年齢・性別で止めない。困っている場面まで降ろす。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89320" y="1975104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例：子どもの入学式で、浮かないけれど埋もれない服が分からない40代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2999232"/>
            <a:ext cx="10820095" cy="1005840"/>
          </a:xfrm>
          <a:prstGeom prst="roundRect">
            <a:avLst>
              <a:gd name="adj" fmla="val 5455"/>
            </a:avLst>
          </a:prstGeom>
          <a:solidFill>
            <a:srgbClr val="EAE3DD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3255264"/>
            <a:ext cx="493776" cy="493776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2552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600200" y="309067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その人の「詰まり」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表面は「何を着ればいいか分からない」。その下を見る。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89320" y="3145536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「試着室で自分の姿を見るのが怖い」「クローゼットは一杯なのに、着る服がない」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4169664"/>
            <a:ext cx="10820095" cy="1005840"/>
          </a:xfrm>
          <a:prstGeom prst="roundRect">
            <a:avLst>
              <a:gd name="adj" fmla="val 5455"/>
            </a:avLst>
          </a:prstGeom>
          <a:solidFill>
            <a:srgbClr val="F7F3F0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" y="4425696"/>
            <a:ext cx="493776" cy="493776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4256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00200" y="42611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あなたを選ぶ理由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600200" y="46451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診断だけならコモディティ。観念のところまで扱えること。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89320" y="4315968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i="1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「なぜ似合う服を着ても続かないのか、理由から一緒に見ます」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5394960"/>
            <a:ext cx="10820095" cy="530352"/>
          </a:xfrm>
          <a:prstGeom prst="roundRect">
            <a:avLst>
              <a:gd name="adj" fmla="val 8621"/>
            </a:avLst>
          </a:prstGeom>
          <a:solidFill>
            <a:srgbClr val="E3C9CD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" y="5394960"/>
            <a:ext cx="101800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コーチングの使いどころ　</a:t>
            </a:r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理想客が分からないときは、これまで「話していて楽しかったお客様」を3人思い出す。共通点が理想客です。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5800" y="6035040"/>
            <a:ext cx="10820095" cy="502920"/>
          </a:xfrm>
          <a:prstGeom prst="roundRect">
            <a:avLst>
              <a:gd name="adj" fmla="val 12727"/>
            </a:avLst>
          </a:prstGeom>
          <a:solidFill>
            <a:srgbClr val="3E2F38"/>
          </a:solidFill>
          <a:ln/>
        </p:spPr>
      </p:sp>
      <p:sp>
        <p:nvSpPr>
          <p:cNvPr id="28" name="Text 26"/>
          <p:cNvSpPr/>
          <p:nvPr/>
        </p:nvSpPr>
        <p:spPr>
          <a:xfrm>
            <a:off x="1097280" y="6035040"/>
            <a:ext cx="9997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絞るのは「発信の入口」だけ。買ってくださる方を制限するわけではありません。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92608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C08F9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商品設計 ―― 診断単発から抜ける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疲弊する原因は「単価が安い」ことではなく、商品が1層しかないことです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10820095" cy="896112"/>
          </a:xfrm>
          <a:prstGeom prst="roundRect">
            <a:avLst>
              <a:gd name="adj" fmla="val 6122"/>
            </a:avLst>
          </a:prstGeom>
          <a:solidFill>
            <a:srgbClr val="3E2F3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本命商品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230428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いちばん変化を届ける。利益はここ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34840" y="1828800"/>
            <a:ext cx="6766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診断＋観念のワーク＋実践までの継続プログラム（3〜6ヶ月の伴走）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852928"/>
            <a:ext cx="10820095" cy="896112"/>
          </a:xfrm>
          <a:prstGeom prst="roundRect">
            <a:avLst>
              <a:gd name="adj" fmla="val 6122"/>
            </a:avLst>
          </a:prstGeom>
          <a:solidFill>
            <a:srgbClr val="EAE3DD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9443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入口商品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332841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はじめての方が試せる。役割は出会いの数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852928"/>
            <a:ext cx="6766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単発診断／パーソナルカラー体験／ミニ相談　← 診断メニューはここ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877056"/>
            <a:ext cx="10820095" cy="896112"/>
          </a:xfrm>
          <a:prstGeom prst="roundRect">
            <a:avLst>
              <a:gd name="adj" fmla="val 6122"/>
            </a:avLst>
          </a:prstGeom>
          <a:solidFill>
            <a:srgbClr val="F7F3F0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9684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継続商品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43525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一度いらした方が、次に選ぶもの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34840" y="3877056"/>
            <a:ext cx="6766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季節ごとのクローゼット見直し／同行／月額フォロー／養成講座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4937760"/>
            <a:ext cx="10820095" cy="822960"/>
          </a:xfrm>
          <a:prstGeom prst="roundRect">
            <a:avLst>
              <a:gd name="adj" fmla="val 7778"/>
            </a:avLst>
          </a:prstGeom>
          <a:solidFill>
            <a:srgbClr val="E3C9CD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493776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本命商品から先に決めてください。入口から作ると「診断だけ受けて終わり」になります。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5800" y="5897880"/>
            <a:ext cx="10820095" cy="530352"/>
          </a:xfrm>
          <a:prstGeom prst="roundRect">
            <a:avLst>
              <a:gd name="adj" fmla="val 8621"/>
            </a:avLst>
          </a:prstGeom>
          <a:solidFill>
            <a:srgbClr val="EAE3DD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5897880"/>
            <a:ext cx="101800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▷ 物販の方は　</a:t>
            </a:r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入口＝小物・定番、本命＝主力アイテム、継続＝色違い・セット・定期便に置き換えてください。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73152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この講座の核心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なぜ、診断結果は実行されないのか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お客様は喜んで帰られた。なのに3ヶ月後、前と同じ服を着ている ―― 意志が弱いからではありません。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10820095" cy="1005840"/>
          </a:xfrm>
          <a:prstGeom prst="roundRect">
            <a:avLst>
              <a:gd name="adj" fmla="val 6364"/>
            </a:avLst>
          </a:prstGeom>
          <a:solidFill>
            <a:srgbClr val="2A1F26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40280"/>
            <a:ext cx="9997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買おうとした瞬間に、その人の中でこう聞こえます。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「私なんかがこんな明るい色を着ても」「高いな、安いのでいいや」「家族に何か言われそう」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3429000"/>
            <a:ext cx="10820095" cy="731520"/>
          </a:xfrm>
          <a:prstGeom prst="roundRect">
            <a:avLst>
              <a:gd name="adj" fmla="val 8750"/>
            </a:avLst>
          </a:prstGeom>
          <a:solidFill>
            <a:srgbClr val="E3C9CD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429000"/>
            <a:ext cx="9997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知識は入っても、観念はそのまま。だから行動が変わりません。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85800" y="429768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だから本命商品には、必ずこの3つを入れる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4663440"/>
            <a:ext cx="3429000" cy="914400"/>
          </a:xfrm>
          <a:prstGeom prst="roundRect">
            <a:avLst>
              <a:gd name="adj" fmla="val 6000"/>
            </a:avLst>
          </a:prstGeom>
          <a:solidFill>
            <a:srgbClr val="F7F3F0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75488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507492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自分インタビューで観念を洗い出す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98848" y="4663440"/>
            <a:ext cx="3429000" cy="914400"/>
          </a:xfrm>
          <a:prstGeom prst="roundRect">
            <a:avLst>
              <a:gd name="adj" fmla="val 6000"/>
            </a:avLst>
          </a:prstGeom>
          <a:solidFill>
            <a:srgbClr val="F7F3F0"/>
          </a:solidFill>
          <a:ln/>
        </p:spPr>
      </p:sp>
      <p:sp>
        <p:nvSpPr>
          <p:cNvPr id="15" name="Text 13"/>
          <p:cNvSpPr/>
          <p:nvPr/>
        </p:nvSpPr>
        <p:spPr>
          <a:xfrm>
            <a:off x="4773168" y="475488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AWAKENESS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73168" y="507492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その観念がどこから来たのかに気づく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11896" y="4663440"/>
            <a:ext cx="3429000" cy="914400"/>
          </a:xfrm>
          <a:prstGeom prst="roundRect">
            <a:avLst>
              <a:gd name="adj" fmla="val 6000"/>
            </a:avLst>
          </a:prstGeom>
          <a:solidFill>
            <a:srgbClr val="F7F3F0"/>
          </a:solidFill>
          <a:ln/>
        </p:spPr>
      </p:sp>
      <p:sp>
        <p:nvSpPr>
          <p:cNvPr id="18" name="Text 16"/>
          <p:cNvSpPr/>
          <p:nvPr/>
        </p:nvSpPr>
        <p:spPr>
          <a:xfrm>
            <a:off x="8586216" y="475488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Circulation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86216" y="507492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手放し、フォーカス先を変える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" y="58064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診断は、この流れの中の一部です。ここまでやれる人はほとんどいない ―― だから選ばれます。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92608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C08F9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発信設計 ―― 7つの心理ステップ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日常を載せるのではなく、見る人を「理想 → 信頼 → 行動」へ導く設計です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5212080" cy="621792"/>
          </a:xfrm>
          <a:prstGeom prst="roundRect">
            <a:avLst>
              <a:gd name="adj" fmla="val 8824"/>
            </a:avLst>
          </a:prstGeom>
          <a:solidFill>
            <a:srgbClr val="F7F3F0"/>
          </a:solidFill>
          <a:ln/>
        </p:spPr>
      </p:sp>
      <p:sp>
        <p:nvSpPr>
          <p:cNvPr id="8" name="Shape 6"/>
          <p:cNvSpPr/>
          <p:nvPr/>
        </p:nvSpPr>
        <p:spPr>
          <a:xfrm>
            <a:off x="850392" y="1947672"/>
            <a:ext cx="384048" cy="384048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9" name="Text 7"/>
          <p:cNvSpPr/>
          <p:nvPr/>
        </p:nvSpPr>
        <p:spPr>
          <a:xfrm>
            <a:off x="850392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44168" y="18562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理想の未来を共有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27832" y="1892808"/>
            <a:ext cx="896112" cy="237744"/>
          </a:xfrm>
          <a:prstGeom prst="roundRect">
            <a:avLst>
              <a:gd name="adj" fmla="val 26923"/>
            </a:avLst>
          </a:prstGeom>
          <a:solidFill>
            <a:srgbClr val="C08F97"/>
          </a:solidFill>
          <a:ln/>
        </p:spPr>
      </p:sp>
      <p:sp>
        <p:nvSpPr>
          <p:cNvPr id="12" name="Text 10"/>
          <p:cNvSpPr/>
          <p:nvPr/>
        </p:nvSpPr>
        <p:spPr>
          <a:xfrm>
            <a:off x="3227832" y="1892808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憧れ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44168" y="215798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この人みたいになりたい。未来語り・ビフォーアフター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5800" y="2560320"/>
            <a:ext cx="5212080" cy="621792"/>
          </a:xfrm>
          <a:prstGeom prst="roundRect">
            <a:avLst>
              <a:gd name="adj" fmla="val 8824"/>
            </a:avLst>
          </a:prstGeom>
          <a:solidFill>
            <a:srgbClr val="EAE3DD"/>
          </a:solidFill>
          <a:ln/>
        </p:spPr>
      </p:sp>
      <p:sp>
        <p:nvSpPr>
          <p:cNvPr id="15" name="Shape 13"/>
          <p:cNvSpPr/>
          <p:nvPr/>
        </p:nvSpPr>
        <p:spPr>
          <a:xfrm>
            <a:off x="850392" y="2679192"/>
            <a:ext cx="384048" cy="384048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6" name="Text 14"/>
          <p:cNvSpPr/>
          <p:nvPr/>
        </p:nvSpPr>
        <p:spPr>
          <a:xfrm>
            <a:off x="85039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44168" y="2587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権威性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27832" y="2624328"/>
            <a:ext cx="896112" cy="237744"/>
          </a:xfrm>
          <a:prstGeom prst="roundRect">
            <a:avLst>
              <a:gd name="adj" fmla="val 26923"/>
            </a:avLst>
          </a:prstGeom>
          <a:solidFill>
            <a:srgbClr val="C08F97"/>
          </a:solidFill>
          <a:ln/>
        </p:spPr>
      </p:sp>
      <p:sp>
        <p:nvSpPr>
          <p:cNvPr id="19" name="Text 17"/>
          <p:cNvSpPr/>
          <p:nvPr/>
        </p:nvSpPr>
        <p:spPr>
          <a:xfrm>
            <a:off x="3227832" y="2624328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44168" y="28895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この人は信用できる。お客様の変化、感想、依頼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" y="3291840"/>
            <a:ext cx="5212080" cy="621792"/>
          </a:xfrm>
          <a:prstGeom prst="roundRect">
            <a:avLst>
              <a:gd name="adj" fmla="val 8824"/>
            </a:avLst>
          </a:prstGeom>
          <a:solidFill>
            <a:srgbClr val="F7F3F0"/>
          </a:solidFill>
          <a:ln/>
        </p:spPr>
      </p:sp>
      <p:sp>
        <p:nvSpPr>
          <p:cNvPr id="22" name="Shape 20"/>
          <p:cNvSpPr/>
          <p:nvPr/>
        </p:nvSpPr>
        <p:spPr>
          <a:xfrm>
            <a:off x="850392" y="3410712"/>
            <a:ext cx="384048" cy="384048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23" name="Text 21"/>
          <p:cNvSpPr/>
          <p:nvPr/>
        </p:nvSpPr>
        <p:spPr>
          <a:xfrm>
            <a:off x="850392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44168" y="33192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親近感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27832" y="3355848"/>
            <a:ext cx="896112" cy="237744"/>
          </a:xfrm>
          <a:prstGeom prst="roundRect">
            <a:avLst>
              <a:gd name="adj" fmla="val 26923"/>
            </a:avLst>
          </a:prstGeom>
          <a:solidFill>
            <a:srgbClr val="C08F97"/>
          </a:solidFill>
          <a:ln/>
        </p:spPr>
      </p:sp>
      <p:sp>
        <p:nvSpPr>
          <p:cNvPr id="26" name="Text 24"/>
          <p:cNvSpPr/>
          <p:nvPr/>
        </p:nvSpPr>
        <p:spPr>
          <a:xfrm>
            <a:off x="3227832" y="3355848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共感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344168" y="36210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この人も私と同じだ。失敗談、日常、価値観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5800" y="4023360"/>
            <a:ext cx="5212080" cy="621792"/>
          </a:xfrm>
          <a:prstGeom prst="roundRect">
            <a:avLst>
              <a:gd name="adj" fmla="val 8824"/>
            </a:avLst>
          </a:prstGeom>
          <a:solidFill>
            <a:srgbClr val="EAE3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50392" y="4142232"/>
            <a:ext cx="384048" cy="384048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344168" y="40507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向上心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227832" y="4087368"/>
            <a:ext cx="896112" cy="237744"/>
          </a:xfrm>
          <a:prstGeom prst="roundRect">
            <a:avLst>
              <a:gd name="adj" fmla="val 26923"/>
            </a:avLst>
          </a:prstGeom>
          <a:solidFill>
            <a:srgbClr val="C08F97"/>
          </a:solidFill>
          <a:ln/>
        </p:spPr>
      </p:sp>
      <p:sp>
        <p:nvSpPr>
          <p:cNvPr id="33" name="Text 31"/>
          <p:cNvSpPr/>
          <p:nvPr/>
        </p:nvSpPr>
        <p:spPr>
          <a:xfrm>
            <a:off x="3227832" y="4087368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応援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344168" y="43525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この人、頑張ってるな。挑戦する姿、学び直す姿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91072" y="1828800"/>
            <a:ext cx="5212080" cy="621792"/>
          </a:xfrm>
          <a:prstGeom prst="roundRect">
            <a:avLst>
              <a:gd name="adj" fmla="val 8824"/>
            </a:avLst>
          </a:prstGeom>
          <a:solidFill>
            <a:srgbClr val="F7F3F0"/>
          </a:solidFill>
          <a:ln/>
        </p:spPr>
      </p:sp>
      <p:sp>
        <p:nvSpPr>
          <p:cNvPr id="36" name="Shape 34"/>
          <p:cNvSpPr/>
          <p:nvPr/>
        </p:nvSpPr>
        <p:spPr>
          <a:xfrm>
            <a:off x="6455664" y="1947672"/>
            <a:ext cx="384048" cy="384048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37" name="Text 35"/>
          <p:cNvSpPr/>
          <p:nvPr/>
        </p:nvSpPr>
        <p:spPr>
          <a:xfrm>
            <a:off x="6455664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49440" y="18562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新たな学び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833104" y="1892808"/>
            <a:ext cx="896112" cy="237744"/>
          </a:xfrm>
          <a:prstGeom prst="roundRect">
            <a:avLst>
              <a:gd name="adj" fmla="val 26923"/>
            </a:avLst>
          </a:prstGeom>
          <a:solidFill>
            <a:srgbClr val="C08F97"/>
          </a:solidFill>
          <a:ln/>
        </p:spPr>
      </p:sp>
      <p:sp>
        <p:nvSpPr>
          <p:cNvPr id="40" name="Text 38"/>
          <p:cNvSpPr/>
          <p:nvPr/>
        </p:nvSpPr>
        <p:spPr>
          <a:xfrm>
            <a:off x="8833104" y="1892808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気づき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949440" y="215798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この人から学べる。常識を壊す視点、心理学の話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91072" y="2560320"/>
            <a:ext cx="5212080" cy="621792"/>
          </a:xfrm>
          <a:prstGeom prst="roundRect">
            <a:avLst>
              <a:gd name="adj" fmla="val 8824"/>
            </a:avLst>
          </a:prstGeom>
          <a:solidFill>
            <a:srgbClr val="EAE3DD"/>
          </a:solidFill>
          <a:ln/>
        </p:spPr>
      </p:sp>
      <p:sp>
        <p:nvSpPr>
          <p:cNvPr id="43" name="Shape 41"/>
          <p:cNvSpPr/>
          <p:nvPr/>
        </p:nvSpPr>
        <p:spPr>
          <a:xfrm>
            <a:off x="6455664" y="2679192"/>
            <a:ext cx="384048" cy="384048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44" name="Text 42"/>
          <p:cNvSpPr/>
          <p:nvPr/>
        </p:nvSpPr>
        <p:spPr>
          <a:xfrm>
            <a:off x="6455664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949440" y="2587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再現性の担保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833104" y="2624328"/>
            <a:ext cx="896112" cy="237744"/>
          </a:xfrm>
          <a:prstGeom prst="roundRect">
            <a:avLst>
              <a:gd name="adj" fmla="val 26923"/>
            </a:avLst>
          </a:prstGeom>
          <a:solidFill>
            <a:srgbClr val="C08F97"/>
          </a:solidFill>
          <a:ln/>
        </p:spPr>
      </p:sp>
      <p:sp>
        <p:nvSpPr>
          <p:cNvPr id="47" name="Text 45"/>
          <p:cNvSpPr/>
          <p:nvPr/>
        </p:nvSpPr>
        <p:spPr>
          <a:xfrm>
            <a:off x="8833104" y="2624328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自分ごと化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949440" y="28895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私にもできそう。「センスは才能ではなく、仕組み」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291072" y="3291840"/>
            <a:ext cx="5212080" cy="621792"/>
          </a:xfrm>
          <a:prstGeom prst="roundRect">
            <a:avLst>
              <a:gd name="adj" fmla="val 8824"/>
            </a:avLst>
          </a:prstGeom>
          <a:solidFill>
            <a:srgbClr val="F7F3F0"/>
          </a:solidFill>
          <a:ln/>
        </p:spPr>
      </p:sp>
      <p:sp>
        <p:nvSpPr>
          <p:cNvPr id="50" name="Shape 48"/>
          <p:cNvSpPr/>
          <p:nvPr/>
        </p:nvSpPr>
        <p:spPr>
          <a:xfrm>
            <a:off x="6455664" y="3410712"/>
            <a:ext cx="384048" cy="384048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51" name="Text 49"/>
          <p:cNvSpPr/>
          <p:nvPr/>
        </p:nvSpPr>
        <p:spPr>
          <a:xfrm>
            <a:off x="6455664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949440" y="33192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即行動をうながす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8833104" y="3355848"/>
            <a:ext cx="896112" cy="237744"/>
          </a:xfrm>
          <a:prstGeom prst="roundRect">
            <a:avLst>
              <a:gd name="adj" fmla="val 26923"/>
            </a:avLst>
          </a:prstGeom>
          <a:solidFill>
            <a:srgbClr val="C08F97"/>
          </a:solidFill>
          <a:ln/>
        </p:spPr>
      </p:sp>
      <p:sp>
        <p:nvSpPr>
          <p:cNvPr id="54" name="Text 52"/>
          <p:cNvSpPr/>
          <p:nvPr/>
        </p:nvSpPr>
        <p:spPr>
          <a:xfrm>
            <a:off x="8833104" y="3355848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949440" y="36210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やってみよう。行動した人の事例、軽い締切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291072" y="402336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3E2F38"/>
          </a:solidFill>
          <a:ln/>
        </p:spPr>
      </p:sp>
      <p:sp>
        <p:nvSpPr>
          <p:cNvPr id="57" name="Text 55"/>
          <p:cNvSpPr/>
          <p:nvPr/>
        </p:nvSpPr>
        <p:spPr>
          <a:xfrm>
            <a:off x="6611112" y="402336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1週間で1周させる。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月＝憧れ、火＝信頼、水＝共感……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毎週繰り返すと、フォロワーが自然に購買心理をたどります。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5800" y="5669280"/>
            <a:ext cx="10820095" cy="731520"/>
          </a:xfrm>
          <a:prstGeom prst="roundRect">
            <a:avLst>
              <a:gd name="adj" fmla="val 8750"/>
            </a:avLst>
          </a:prstGeom>
          <a:solidFill>
            <a:srgbClr val="E3C9CD"/>
          </a:solidFill>
          <a:ln/>
        </p:spPr>
      </p:sp>
      <p:sp>
        <p:nvSpPr>
          <p:cNvPr id="59" name="Text 57"/>
          <p:cNvSpPr/>
          <p:nvPr/>
        </p:nvSpPr>
        <p:spPr>
          <a:xfrm>
            <a:off x="1097280" y="5669280"/>
            <a:ext cx="9997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投稿ネタが出ないのは、この7つのどこかが空いているから。ネタを探すのではなく、空いている番号を埋める。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92608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C08F9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リールと教育動画は「型」で作る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毎回ゼロから考えるから続きません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リールの型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2231136"/>
            <a:ext cx="2595296" cy="987552"/>
          </a:xfrm>
          <a:prstGeom prst="roundRect">
            <a:avLst>
              <a:gd name="adj" fmla="val 5556"/>
            </a:avLst>
          </a:prstGeom>
          <a:solidFill>
            <a:srgbClr val="F7F3F0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2340864"/>
            <a:ext cx="233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　つかみ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13816" y="2651760"/>
            <a:ext cx="233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2秒で「私のことだ」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7400" y="2231136"/>
            <a:ext cx="2595296" cy="987552"/>
          </a:xfrm>
          <a:prstGeom prst="roundRect">
            <a:avLst>
              <a:gd name="adj" fmla="val 5556"/>
            </a:avLst>
          </a:prstGeom>
          <a:solidFill>
            <a:srgbClr val="F7F3F0"/>
          </a:solidFill>
          <a:ln/>
        </p:spPr>
      </p:sp>
      <p:sp>
        <p:nvSpPr>
          <p:cNvPr id="12" name="Text 10"/>
          <p:cNvSpPr/>
          <p:nvPr/>
        </p:nvSpPr>
        <p:spPr>
          <a:xfrm>
            <a:off x="3555416" y="2340864"/>
            <a:ext cx="233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　共感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55416" y="2651760"/>
            <a:ext cx="233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そうなりますよね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69000" y="2231136"/>
            <a:ext cx="2595296" cy="987552"/>
          </a:xfrm>
          <a:prstGeom prst="roundRect">
            <a:avLst>
              <a:gd name="adj" fmla="val 5556"/>
            </a:avLst>
          </a:prstGeom>
          <a:solidFill>
            <a:srgbClr val="F7F3F0"/>
          </a:solidFill>
          <a:ln/>
        </p:spPr>
      </p:sp>
      <p:sp>
        <p:nvSpPr>
          <p:cNvPr id="15" name="Text 13"/>
          <p:cNvSpPr/>
          <p:nvPr/>
        </p:nvSpPr>
        <p:spPr>
          <a:xfrm>
            <a:off x="6297016" y="2340864"/>
            <a:ext cx="233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　答え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297016" y="2651760"/>
            <a:ext cx="233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今日役に立つことを1つ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10599" y="2231136"/>
            <a:ext cx="2595296" cy="987552"/>
          </a:xfrm>
          <a:prstGeom prst="roundRect">
            <a:avLst>
              <a:gd name="adj" fmla="val 5556"/>
            </a:avLst>
          </a:prstGeom>
          <a:solidFill>
            <a:srgbClr val="F7F3F0"/>
          </a:solidFill>
          <a:ln/>
        </p:spPr>
      </p:sp>
      <p:sp>
        <p:nvSpPr>
          <p:cNvPr id="18" name="Text 16"/>
          <p:cNvSpPr/>
          <p:nvPr/>
        </p:nvSpPr>
        <p:spPr>
          <a:xfrm>
            <a:off x="9038615" y="2340864"/>
            <a:ext cx="233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　次の一歩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038615" y="2651760"/>
            <a:ext cx="233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保存・プロフィールへ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35204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教育動画の型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85800" y="3922776"/>
            <a:ext cx="2046976" cy="987552"/>
          </a:xfrm>
          <a:prstGeom prst="roundRect">
            <a:avLst>
              <a:gd name="adj" fmla="val 5556"/>
            </a:avLst>
          </a:prstGeom>
          <a:solidFill>
            <a:srgbClr val="EAE3DD"/>
          </a:solidFill>
          <a:ln/>
        </p:spPr>
      </p:sp>
      <p:sp>
        <p:nvSpPr>
          <p:cNvPr id="22" name="Text 20"/>
          <p:cNvSpPr/>
          <p:nvPr/>
        </p:nvSpPr>
        <p:spPr>
          <a:xfrm>
            <a:off x="813816" y="4032504"/>
            <a:ext cx="179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　誰のための話か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13816" y="4343400"/>
            <a:ext cx="179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今日の対象をはっきり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879080" y="3922776"/>
            <a:ext cx="2046976" cy="987552"/>
          </a:xfrm>
          <a:prstGeom prst="roundRect">
            <a:avLst>
              <a:gd name="adj" fmla="val 5556"/>
            </a:avLst>
          </a:prstGeom>
          <a:solidFill>
            <a:srgbClr val="EAE3DD"/>
          </a:solidFill>
          <a:ln/>
        </p:spPr>
      </p:sp>
      <p:sp>
        <p:nvSpPr>
          <p:cNvPr id="25" name="Text 23"/>
          <p:cNvSpPr/>
          <p:nvPr/>
        </p:nvSpPr>
        <p:spPr>
          <a:xfrm>
            <a:off x="3007096" y="4032504"/>
            <a:ext cx="179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　なぜそうなるのか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007096" y="4343400"/>
            <a:ext cx="179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原因は能力ではなく設計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2360" y="3922776"/>
            <a:ext cx="2046976" cy="987552"/>
          </a:xfrm>
          <a:prstGeom prst="roundRect">
            <a:avLst>
              <a:gd name="adj" fmla="val 5556"/>
            </a:avLst>
          </a:prstGeom>
          <a:solidFill>
            <a:srgbClr val="EAE3DD"/>
          </a:solidFill>
          <a:ln/>
        </p:spPr>
      </p:sp>
      <p:sp>
        <p:nvSpPr>
          <p:cNvPr id="28" name="Text 26"/>
          <p:cNvSpPr/>
          <p:nvPr/>
        </p:nvSpPr>
        <p:spPr>
          <a:xfrm>
            <a:off x="5200376" y="4032504"/>
            <a:ext cx="179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　整えるポイント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200376" y="4343400"/>
            <a:ext cx="179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3つまでに絞る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265640" y="3922776"/>
            <a:ext cx="2046976" cy="987552"/>
          </a:xfrm>
          <a:prstGeom prst="roundRect">
            <a:avLst>
              <a:gd name="adj" fmla="val 5556"/>
            </a:avLst>
          </a:prstGeom>
          <a:solidFill>
            <a:srgbClr val="EAE3DD"/>
          </a:solidFill>
          <a:ln/>
        </p:spPr>
      </p:sp>
      <p:sp>
        <p:nvSpPr>
          <p:cNvPr id="31" name="Text 29"/>
          <p:cNvSpPr/>
          <p:nvPr/>
        </p:nvSpPr>
        <p:spPr>
          <a:xfrm>
            <a:off x="7393656" y="4032504"/>
            <a:ext cx="179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　自分の場合は？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393656" y="4343400"/>
            <a:ext cx="179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整理の必要に気づく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458919" y="3922776"/>
            <a:ext cx="2046976" cy="987552"/>
          </a:xfrm>
          <a:prstGeom prst="roundRect">
            <a:avLst>
              <a:gd name="adj" fmla="val 5556"/>
            </a:avLst>
          </a:prstGeom>
          <a:solidFill>
            <a:srgbClr val="EAE3DD"/>
          </a:solidFill>
          <a:ln/>
        </p:spPr>
      </p:sp>
      <p:sp>
        <p:nvSpPr>
          <p:cNvPr id="34" name="Text 32"/>
          <p:cNvSpPr/>
          <p:nvPr/>
        </p:nvSpPr>
        <p:spPr>
          <a:xfrm>
            <a:off x="9586935" y="4032504"/>
            <a:ext cx="179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　次の案内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586935" y="4343400"/>
            <a:ext cx="17909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個別相談・次回へ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85800" y="5303520"/>
            <a:ext cx="10820095" cy="960120"/>
          </a:xfrm>
          <a:prstGeom prst="roundRect">
            <a:avLst>
              <a:gd name="adj" fmla="val 6667"/>
            </a:avLst>
          </a:prstGeom>
          <a:solidFill>
            <a:srgbClr val="3E2F38"/>
          </a:solidFill>
          <a:ln/>
        </p:spPr>
      </p:sp>
      <p:sp>
        <p:nvSpPr>
          <p:cNvPr id="37" name="Text 35"/>
          <p:cNvSpPr/>
          <p:nvPr/>
        </p:nvSpPr>
        <p:spPr>
          <a:xfrm>
            <a:off x="1097280" y="5303520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教育動画の②が肝心です。うまくいかない理由を、その人の能力のせいにしない。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「まだ設計ができていないだけ」と伝えると、人は動けます ―― お客様の観念を扱う私たちの姿勢そのものです。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92608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C08F9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販売導線 ―― 点を線にする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どれだけ良いサービスでも、ここが抜けると売上につながりません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874520"/>
            <a:ext cx="1681429" cy="713232"/>
          </a:xfrm>
          <a:prstGeom prst="roundRect">
            <a:avLst>
              <a:gd name="adj" fmla="val 7692"/>
            </a:avLst>
          </a:prstGeom>
          <a:solidFill>
            <a:srgbClr val="EAE3DD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874520"/>
            <a:ext cx="15717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Instagram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rot="5400000">
            <a:off x="2390089" y="2167128"/>
            <a:ext cx="91440" cy="128016"/>
          </a:xfrm>
          <a:prstGeom prst="triangle">
            <a:avLst/>
          </a:prstGeom>
          <a:solidFill>
            <a:srgbClr val="C08F97"/>
          </a:solidFill>
          <a:ln/>
        </p:spPr>
      </p:sp>
      <p:sp>
        <p:nvSpPr>
          <p:cNvPr id="10" name="Shape 8"/>
          <p:cNvSpPr/>
          <p:nvPr/>
        </p:nvSpPr>
        <p:spPr>
          <a:xfrm>
            <a:off x="2513533" y="1874520"/>
            <a:ext cx="1681429" cy="713232"/>
          </a:xfrm>
          <a:prstGeom prst="roundRect">
            <a:avLst>
              <a:gd name="adj" fmla="val 7692"/>
            </a:avLst>
          </a:prstGeom>
          <a:solidFill>
            <a:srgbClr val="EAE3DD"/>
          </a:solidFill>
          <a:ln/>
        </p:spPr>
      </p:sp>
      <p:sp>
        <p:nvSpPr>
          <p:cNvPr id="11" name="Text 9"/>
          <p:cNvSpPr/>
          <p:nvPr/>
        </p:nvSpPr>
        <p:spPr>
          <a:xfrm>
            <a:off x="2568397" y="1874520"/>
            <a:ext cx="15717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プロフィール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 rot="5400000">
            <a:off x="4217822" y="2167128"/>
            <a:ext cx="91440" cy="128016"/>
          </a:xfrm>
          <a:prstGeom prst="triangle">
            <a:avLst/>
          </a:prstGeom>
          <a:solidFill>
            <a:srgbClr val="C08F9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1266" y="1874520"/>
            <a:ext cx="1681429" cy="713232"/>
          </a:xfrm>
          <a:prstGeom prst="roundRect">
            <a:avLst>
              <a:gd name="adj" fmla="val 7692"/>
            </a:avLst>
          </a:prstGeom>
          <a:solidFill>
            <a:srgbClr val="EAE3DD"/>
          </a:solidFill>
          <a:ln/>
        </p:spPr>
      </p:sp>
      <p:sp>
        <p:nvSpPr>
          <p:cNvPr id="14" name="Text 12"/>
          <p:cNvSpPr/>
          <p:nvPr/>
        </p:nvSpPr>
        <p:spPr>
          <a:xfrm>
            <a:off x="4396130" y="1874520"/>
            <a:ext cx="15717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LINE登録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rot="5400000">
            <a:off x="6045556" y="2167128"/>
            <a:ext cx="91440" cy="128016"/>
          </a:xfrm>
          <a:prstGeom prst="triangle">
            <a:avLst/>
          </a:prstGeom>
          <a:solidFill>
            <a:srgbClr val="C08F97"/>
          </a:solidFill>
          <a:ln/>
        </p:spPr>
      </p:sp>
      <p:sp>
        <p:nvSpPr>
          <p:cNvPr id="16" name="Shape 14"/>
          <p:cNvSpPr/>
          <p:nvPr/>
        </p:nvSpPr>
        <p:spPr>
          <a:xfrm>
            <a:off x="6169000" y="1874520"/>
            <a:ext cx="1681429" cy="713232"/>
          </a:xfrm>
          <a:prstGeom prst="roundRect">
            <a:avLst>
              <a:gd name="adj" fmla="val 7692"/>
            </a:avLst>
          </a:prstGeom>
          <a:solidFill>
            <a:srgbClr val="EAE3DD"/>
          </a:solidFill>
          <a:ln/>
        </p:spPr>
      </p:sp>
      <p:sp>
        <p:nvSpPr>
          <p:cNvPr id="17" name="Text 15"/>
          <p:cNvSpPr/>
          <p:nvPr/>
        </p:nvSpPr>
        <p:spPr>
          <a:xfrm>
            <a:off x="6223864" y="1874520"/>
            <a:ext cx="15717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教育の流れ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 rot="5400000">
            <a:off x="7873289" y="2167128"/>
            <a:ext cx="91440" cy="128016"/>
          </a:xfrm>
          <a:prstGeom prst="triangle">
            <a:avLst/>
          </a:prstGeom>
          <a:solidFill>
            <a:srgbClr val="C08F97"/>
          </a:solidFill>
          <a:ln/>
        </p:spPr>
      </p:sp>
      <p:sp>
        <p:nvSpPr>
          <p:cNvPr id="19" name="Shape 17"/>
          <p:cNvSpPr/>
          <p:nvPr/>
        </p:nvSpPr>
        <p:spPr>
          <a:xfrm>
            <a:off x="7996733" y="1874520"/>
            <a:ext cx="1681429" cy="713232"/>
          </a:xfrm>
          <a:prstGeom prst="roundRect">
            <a:avLst>
              <a:gd name="adj" fmla="val 7692"/>
            </a:avLst>
          </a:prstGeom>
          <a:solidFill>
            <a:srgbClr val="EAE3DD"/>
          </a:solidFill>
          <a:ln/>
        </p:spPr>
      </p:sp>
      <p:sp>
        <p:nvSpPr>
          <p:cNvPr id="20" name="Text 18"/>
          <p:cNvSpPr/>
          <p:nvPr/>
        </p:nvSpPr>
        <p:spPr>
          <a:xfrm>
            <a:off x="8051597" y="1874520"/>
            <a:ext cx="15717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個別相談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rot="5400000">
            <a:off x="9701022" y="2167128"/>
            <a:ext cx="91440" cy="128016"/>
          </a:xfrm>
          <a:prstGeom prst="triangle">
            <a:avLst/>
          </a:prstGeom>
          <a:solidFill>
            <a:srgbClr val="C08F97"/>
          </a:solidFill>
          <a:ln/>
        </p:spPr>
      </p:sp>
      <p:sp>
        <p:nvSpPr>
          <p:cNvPr id="22" name="Shape 20"/>
          <p:cNvSpPr/>
          <p:nvPr/>
        </p:nvSpPr>
        <p:spPr>
          <a:xfrm>
            <a:off x="9824466" y="1874520"/>
            <a:ext cx="1681429" cy="713232"/>
          </a:xfrm>
          <a:prstGeom prst="roundRect">
            <a:avLst>
              <a:gd name="adj" fmla="val 7692"/>
            </a:avLst>
          </a:prstGeom>
          <a:solidFill>
            <a:srgbClr val="3E2F38"/>
          </a:solidFill>
          <a:ln/>
        </p:spPr>
      </p:sp>
      <p:sp>
        <p:nvSpPr>
          <p:cNvPr id="23" name="Text 21"/>
          <p:cNvSpPr/>
          <p:nvPr/>
        </p:nvSpPr>
        <p:spPr>
          <a:xfrm>
            <a:off x="9879330" y="1874520"/>
            <a:ext cx="157170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本命商品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2788920"/>
            <a:ext cx="10820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それぞれの矢印に、理由がありますか？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685800" y="3291840"/>
            <a:ext cx="10820095" cy="1097280"/>
          </a:xfrm>
          <a:prstGeom prst="roundRect">
            <a:avLst>
              <a:gd name="adj" fmla="val 5833"/>
            </a:avLst>
          </a:prstGeom>
          <a:solidFill>
            <a:srgbClr val="E3C9CD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3291840"/>
            <a:ext cx="99971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いちばん多いのが、LINE登録の理由がないこと。</a:t>
            </a:r>
            <a:pPr indent="0" marL="0">
              <a:lnSpc>
                <a:spcPts val="2000"/>
              </a:lnSpc>
              <a:buNone/>
            </a:pP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「最新情報をお届けします」では登録されません。「クローゼットが一杯なのに着る服がない人のチェックシート」なら登録されます ―― 入口商品と同じ考え方です。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85800" y="4526280"/>
            <a:ext cx="5212080" cy="438912"/>
          </a:xfrm>
          <a:prstGeom prst="roundRect">
            <a:avLst>
              <a:gd name="adj" fmla="val 10417"/>
            </a:avLst>
          </a:prstGeom>
          <a:solidFill>
            <a:srgbClr val="F7F3F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4526280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プロフィールを見て「何の人か」が分かる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91072" y="4526280"/>
            <a:ext cx="5212080" cy="438912"/>
          </a:xfrm>
          <a:prstGeom prst="roundRect">
            <a:avLst>
              <a:gd name="adj" fmla="val 10417"/>
            </a:avLst>
          </a:prstGeom>
          <a:solidFill>
            <a:srgbClr val="F7F3F0"/>
          </a:solidFill>
          <a:ln/>
        </p:spPr>
      </p:sp>
      <p:sp>
        <p:nvSpPr>
          <p:cNvPr id="30" name="Text 28"/>
          <p:cNvSpPr/>
          <p:nvPr/>
        </p:nvSpPr>
        <p:spPr>
          <a:xfrm>
            <a:off x="6519672" y="4526280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LINEに登録する理由がある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85800" y="5038344"/>
            <a:ext cx="5212080" cy="438912"/>
          </a:xfrm>
          <a:prstGeom prst="roundRect">
            <a:avLst>
              <a:gd name="adj" fmla="val 10417"/>
            </a:avLst>
          </a:prstGeom>
          <a:solidFill>
            <a:srgbClr val="F7F3F0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5038344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登録後に価値が伝わる流れがある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91072" y="5038344"/>
            <a:ext cx="5212080" cy="438912"/>
          </a:xfrm>
          <a:prstGeom prst="roundRect">
            <a:avLst>
              <a:gd name="adj" fmla="val 10417"/>
            </a:avLst>
          </a:prstGeom>
          <a:solidFill>
            <a:srgbClr val="F7F3F0"/>
          </a:solidFill>
          <a:ln/>
        </p:spPr>
      </p:sp>
      <p:sp>
        <p:nvSpPr>
          <p:cNvPr id="34" name="Text 32"/>
          <p:cNvSpPr/>
          <p:nvPr/>
        </p:nvSpPr>
        <p:spPr>
          <a:xfrm>
            <a:off x="6519672" y="5038344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気になったのに次がない、という行き止まりがない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85800" y="5669280"/>
            <a:ext cx="10820095" cy="530352"/>
          </a:xfrm>
          <a:prstGeom prst="roundRect">
            <a:avLst>
              <a:gd name="adj" fmla="val 8621"/>
            </a:avLst>
          </a:prstGeom>
          <a:solidFill>
            <a:srgbClr val="EAE3DD"/>
          </a:solidFill>
          <a:ln/>
        </p:spPr>
      </p:sp>
      <p:sp>
        <p:nvSpPr>
          <p:cNvPr id="36" name="Text 34"/>
          <p:cNvSpPr/>
          <p:nvPr/>
        </p:nvSpPr>
        <p:spPr>
          <a:xfrm>
            <a:off x="1005840" y="5669280"/>
            <a:ext cx="101800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▷ 物販の方は　</a:t>
            </a:r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「個別相談」の位置が「商品ページ」になります。世界観に触れ、不安が消えて、購入。骨は同じです。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92608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C08F9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セッション設計 ―― 2本の柱を、実際に使う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いきなり診断から入らない。順番を変えるだけで、お客様の行動が変わります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2046976" cy="2286000"/>
          </a:xfrm>
          <a:prstGeom prst="roundRect">
            <a:avLst>
              <a:gd name="adj" fmla="val 3127"/>
            </a:avLst>
          </a:prstGeom>
          <a:solidFill>
            <a:srgbClr val="F7F3F0"/>
          </a:solidFill>
          <a:ln/>
        </p:spPr>
      </p:sp>
      <p:sp>
        <p:nvSpPr>
          <p:cNvPr id="8" name="Shape 6"/>
          <p:cNvSpPr/>
          <p:nvPr/>
        </p:nvSpPr>
        <p:spPr>
          <a:xfrm>
            <a:off x="1480688" y="1993392"/>
            <a:ext cx="457200" cy="45720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9" name="Text 7"/>
          <p:cNvSpPr/>
          <p:nvPr/>
        </p:nvSpPr>
        <p:spPr>
          <a:xfrm>
            <a:off x="148068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95528" y="2542032"/>
            <a:ext cx="182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聞く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" y="3108960"/>
            <a:ext cx="1681216" cy="237744"/>
          </a:xfrm>
          <a:prstGeom prst="roundRect">
            <a:avLst>
              <a:gd name="adj" fmla="val 26923"/>
            </a:avLst>
          </a:prstGeom>
          <a:solidFill>
            <a:srgbClr val="C08F97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108960"/>
            <a:ext cx="168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DISCOVERY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13816" y="3429000"/>
            <a:ext cx="1790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「ファッションとは？」から。過去の体験。ここで7〜8割の時間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879080" y="1828800"/>
            <a:ext cx="2046976" cy="2286000"/>
          </a:xfrm>
          <a:prstGeom prst="roundRect">
            <a:avLst>
              <a:gd name="adj" fmla="val 3127"/>
            </a:avLst>
          </a:prstGeom>
          <a:solidFill>
            <a:srgbClr val="F7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3673968" y="1993392"/>
            <a:ext cx="457200" cy="45720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6" name="Text 14"/>
          <p:cNvSpPr/>
          <p:nvPr/>
        </p:nvSpPr>
        <p:spPr>
          <a:xfrm>
            <a:off x="367396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988808" y="2542032"/>
            <a:ext cx="182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気づいてもらう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061960" y="3108960"/>
            <a:ext cx="1681216" cy="237744"/>
          </a:xfrm>
          <a:prstGeom prst="roundRect">
            <a:avLst>
              <a:gd name="adj" fmla="val 26923"/>
            </a:avLst>
          </a:prstGeom>
          <a:solidFill>
            <a:srgbClr val="C08F97"/>
          </a:solidFill>
          <a:ln/>
        </p:spPr>
      </p:sp>
      <p:sp>
        <p:nvSpPr>
          <p:cNvPr id="19" name="Text 17"/>
          <p:cNvSpPr/>
          <p:nvPr/>
        </p:nvSpPr>
        <p:spPr>
          <a:xfrm>
            <a:off x="3061960" y="3108960"/>
            <a:ext cx="168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AWAKENESS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007096" y="3429000"/>
            <a:ext cx="1790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聞いた内容をその人の言葉で返す。「だから今も迷うのかも」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72360" y="1828800"/>
            <a:ext cx="2046976" cy="2286000"/>
          </a:xfrm>
          <a:prstGeom prst="roundRect">
            <a:avLst>
              <a:gd name="adj" fmla="val 3127"/>
            </a:avLst>
          </a:prstGeom>
          <a:solidFill>
            <a:srgbClr val="EAE3DD"/>
          </a:solidFill>
          <a:ln/>
        </p:spPr>
      </p:sp>
      <p:sp>
        <p:nvSpPr>
          <p:cNvPr id="22" name="Shape 20"/>
          <p:cNvSpPr/>
          <p:nvPr/>
        </p:nvSpPr>
        <p:spPr>
          <a:xfrm>
            <a:off x="5867248" y="1993392"/>
            <a:ext cx="457200" cy="45720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23" name="Text 21"/>
          <p:cNvSpPr/>
          <p:nvPr/>
        </p:nvSpPr>
        <p:spPr>
          <a:xfrm>
            <a:off x="586724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182088" y="2542032"/>
            <a:ext cx="182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診断する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00376" y="3429000"/>
            <a:ext cx="1790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ここでようやく診断。順番が逆だと、結果が入りません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265640" y="1828800"/>
            <a:ext cx="2046976" cy="2286000"/>
          </a:xfrm>
          <a:prstGeom prst="roundRect">
            <a:avLst>
              <a:gd name="adj" fmla="val 3127"/>
            </a:avLst>
          </a:prstGeom>
          <a:solidFill>
            <a:srgbClr val="F7F3F0"/>
          </a:solidFill>
          <a:ln/>
        </p:spPr>
      </p:sp>
      <p:sp>
        <p:nvSpPr>
          <p:cNvPr id="27" name="Shape 25"/>
          <p:cNvSpPr/>
          <p:nvPr/>
        </p:nvSpPr>
        <p:spPr>
          <a:xfrm>
            <a:off x="8060527" y="1993392"/>
            <a:ext cx="457200" cy="45720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60527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375368" y="2542032"/>
            <a:ext cx="182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書き換える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448520" y="3108960"/>
            <a:ext cx="1681216" cy="237744"/>
          </a:xfrm>
          <a:prstGeom prst="roundRect">
            <a:avLst>
              <a:gd name="adj" fmla="val 26923"/>
            </a:avLst>
          </a:prstGeom>
          <a:solidFill>
            <a:srgbClr val="C08F97"/>
          </a:solidFill>
          <a:ln/>
        </p:spPr>
      </p:sp>
      <p:sp>
        <p:nvSpPr>
          <p:cNvPr id="31" name="Text 29"/>
          <p:cNvSpPr/>
          <p:nvPr/>
        </p:nvSpPr>
        <p:spPr>
          <a:xfrm>
            <a:off x="7448520" y="3108960"/>
            <a:ext cx="168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Circulation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93656" y="3429000"/>
            <a:ext cx="1790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「安いから買う」を「これを着る自分が好きか」に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458919" y="1828800"/>
            <a:ext cx="2046976" cy="2286000"/>
          </a:xfrm>
          <a:prstGeom prst="roundRect">
            <a:avLst>
              <a:gd name="adj" fmla="val 3127"/>
            </a:avLst>
          </a:prstGeom>
          <a:solidFill>
            <a:srgbClr val="F7F3F0"/>
          </a:solidFill>
          <a:ln/>
        </p:spPr>
      </p:sp>
      <p:sp>
        <p:nvSpPr>
          <p:cNvPr id="34" name="Shape 32"/>
          <p:cNvSpPr/>
          <p:nvPr/>
        </p:nvSpPr>
        <p:spPr>
          <a:xfrm>
            <a:off x="10253807" y="1993392"/>
            <a:ext cx="457200" cy="45720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35" name="Text 33"/>
          <p:cNvSpPr/>
          <p:nvPr/>
        </p:nvSpPr>
        <p:spPr>
          <a:xfrm>
            <a:off x="10253807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568647" y="2542032"/>
            <a:ext cx="182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実践に落とす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586935" y="3429000"/>
            <a:ext cx="1790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次の1週間で何を着るか、何を買わないかまで決める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85800" y="4297680"/>
            <a:ext cx="10820095" cy="822960"/>
          </a:xfrm>
          <a:prstGeom prst="roundRect">
            <a:avLst>
              <a:gd name="adj" fmla="val 7778"/>
            </a:avLst>
          </a:prstGeom>
          <a:solidFill>
            <a:srgbClr val="3E2F38"/>
          </a:solidFill>
          <a:ln/>
        </p:spPr>
      </p:sp>
      <p:sp>
        <p:nvSpPr>
          <p:cNvPr id="39" name="Text 37"/>
          <p:cNvSpPr/>
          <p:nvPr/>
        </p:nvSpPr>
        <p:spPr>
          <a:xfrm>
            <a:off x="1097280" y="429768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同じ診断でも、お客様の行動が変わります。行動が変わるから、また来てくださいます。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85800" y="5285232"/>
            <a:ext cx="10820095" cy="530352"/>
          </a:xfrm>
          <a:prstGeom prst="roundRect">
            <a:avLst>
              <a:gd name="adj" fmla="val 8621"/>
            </a:avLst>
          </a:prstGeom>
          <a:solidFill>
            <a:srgbClr val="E3C9C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285232"/>
            <a:ext cx="101800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▶ ここが本命商品の中身　</a:t>
            </a:r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この講座で学ぶファッション心理学とコーチングが、そのままあなたの商品になります。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85800" y="5925312"/>
            <a:ext cx="10820095" cy="530352"/>
          </a:xfrm>
          <a:prstGeom prst="roundRect">
            <a:avLst>
              <a:gd name="adj" fmla="val 8621"/>
            </a:avLst>
          </a:prstGeom>
          <a:solidFill>
            <a:srgbClr val="EAE3DD"/>
          </a:solidFill>
          <a:ln/>
        </p:spPr>
      </p:sp>
      <p:sp>
        <p:nvSpPr>
          <p:cNvPr id="43" name="Text 41"/>
          <p:cNvSpPr/>
          <p:nvPr/>
        </p:nvSpPr>
        <p:spPr>
          <a:xfrm>
            <a:off x="1005840" y="5925312"/>
            <a:ext cx="101800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▷ 物販の方は　</a:t>
            </a:r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接客やDMがこの流れです。「これ、似合いますよ」ではなく「どんな場面で着たいですか」から入る。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92608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C08F9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個別相談も、同じ技術です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新しい技術を覚える必要はありません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3429000" cy="1371600"/>
          </a:xfrm>
          <a:prstGeom prst="roundRect">
            <a:avLst>
              <a:gd name="adj" fmla="val 4667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96696" y="2029968"/>
            <a:ext cx="475488" cy="475488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9" name="Text 7"/>
          <p:cNvSpPr/>
          <p:nvPr/>
        </p:nvSpPr>
        <p:spPr>
          <a:xfrm>
            <a:off x="996696" y="2029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81912" y="2048256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聞く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96696" y="2596896"/>
            <a:ext cx="2807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今どういう状態で、何に困っていて、本当はどうなりたいのか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98848" y="1828800"/>
            <a:ext cx="3429000" cy="1371600"/>
          </a:xfrm>
          <a:prstGeom prst="roundRect">
            <a:avLst>
              <a:gd name="adj" fmla="val 4667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09744" y="2029968"/>
            <a:ext cx="475488" cy="475488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4" name="Text 12"/>
          <p:cNvSpPr/>
          <p:nvPr/>
        </p:nvSpPr>
        <p:spPr>
          <a:xfrm>
            <a:off x="4809744" y="2029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94960" y="2048256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整理して返す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09744" y="2596896"/>
            <a:ext cx="2807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「つまり、○○が一番のネックということですね」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11896" y="1828800"/>
            <a:ext cx="3429000" cy="1371600"/>
          </a:xfrm>
          <a:prstGeom prst="roundRect">
            <a:avLst>
              <a:gd name="adj" fmla="val 4667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622792" y="2029968"/>
            <a:ext cx="475488" cy="475488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9" name="Text 17"/>
          <p:cNvSpPr/>
          <p:nvPr/>
        </p:nvSpPr>
        <p:spPr>
          <a:xfrm>
            <a:off x="8622792" y="2029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208008" y="2048256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正直に伝える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622792" y="2596896"/>
            <a:ext cx="2807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合わないなら合わないと言う。それが信頼になります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" y="3337560"/>
            <a:ext cx="10820095" cy="731520"/>
          </a:xfrm>
          <a:prstGeom prst="roundRect">
            <a:avLst>
              <a:gd name="adj" fmla="val 8750"/>
            </a:avLst>
          </a:prstGeom>
          <a:solidFill>
            <a:srgbClr val="E3C9CD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3337560"/>
            <a:ext cx="9997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売るのが怖いのは、商品に自信がないからではありません。相手の役に立つか確信が持てないからです。だから聞くんです。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85800" y="420624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セルフコーチング ―― 迷ったとき、自分に聞く3つ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85800" y="4663440"/>
            <a:ext cx="3429000" cy="932688"/>
          </a:xfrm>
          <a:prstGeom prst="roundRect">
            <a:avLst>
              <a:gd name="adj" fmla="val 5882"/>
            </a:avLst>
          </a:prstGeom>
          <a:solidFill>
            <a:srgbClr val="EAE3DD"/>
          </a:solidFill>
          <a:ln/>
        </p:spPr>
      </p:sp>
      <p:sp>
        <p:nvSpPr>
          <p:cNvPr id="26" name="Text 24"/>
          <p:cNvSpPr/>
          <p:nvPr/>
        </p:nvSpPr>
        <p:spPr>
          <a:xfrm>
            <a:off x="941832" y="4754880"/>
            <a:ext cx="2916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今、何が不安？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41832" y="5138928"/>
            <a:ext cx="2916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漠然とした不安を一つに落とす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98848" y="4663440"/>
            <a:ext cx="3429000" cy="932688"/>
          </a:xfrm>
          <a:prstGeom prst="roundRect">
            <a:avLst>
              <a:gd name="adj" fmla="val 5882"/>
            </a:avLst>
          </a:prstGeom>
          <a:solidFill>
            <a:srgbClr val="EAE3DD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4754880"/>
            <a:ext cx="2916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それは事実？　想像？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754880" y="5138928"/>
            <a:ext cx="2916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大半は想像です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311896" y="4663440"/>
            <a:ext cx="3429000" cy="932688"/>
          </a:xfrm>
          <a:prstGeom prst="roundRect">
            <a:avLst>
              <a:gd name="adj" fmla="val 5882"/>
            </a:avLst>
          </a:prstGeom>
          <a:solidFill>
            <a:srgbClr val="EAE3DD"/>
          </a:solidFill>
          <a:ln/>
        </p:spPr>
      </p:sp>
      <p:sp>
        <p:nvSpPr>
          <p:cNvPr id="32" name="Text 30"/>
          <p:cNvSpPr/>
          <p:nvPr/>
        </p:nvSpPr>
        <p:spPr>
          <a:xfrm>
            <a:off x="8567928" y="4754880"/>
            <a:ext cx="2916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今日できる一番小さい一歩は？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567928" y="5138928"/>
            <a:ext cx="2916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大きい一歩は考えるだけで止まる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800" y="5806440"/>
            <a:ext cx="10820095" cy="566928"/>
          </a:xfrm>
          <a:prstGeom prst="roundRect">
            <a:avLst>
              <a:gd name="adj" fmla="val 11290"/>
            </a:avLst>
          </a:prstGeom>
          <a:solidFill>
            <a:srgbClr val="3E2F38"/>
          </a:solidFill>
          <a:ln/>
        </p:spPr>
      </p:sp>
      <p:sp>
        <p:nvSpPr>
          <p:cNvPr id="35" name="Text 33"/>
          <p:cNvSpPr/>
          <p:nvPr/>
        </p:nvSpPr>
        <p:spPr>
          <a:xfrm>
            <a:off x="1097280" y="5806440"/>
            <a:ext cx="9997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止まっていること自体は、問題ではありません。止まったまま黙っていることだけが、問題です。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92608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C08F97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仕組み化・自動化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売れている方は、頑張り続けているのではなく、少しずつ仕組みにしています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3429000" cy="2377440"/>
          </a:xfrm>
          <a:prstGeom prst="roundRect">
            <a:avLst>
              <a:gd name="adj" fmla="val 2692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14984" y="2029968"/>
            <a:ext cx="530352" cy="530352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9" name="Text 7"/>
          <p:cNvSpPr/>
          <p:nvPr/>
        </p:nvSpPr>
        <p:spPr>
          <a:xfrm>
            <a:off x="1014984" y="20299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14984" y="2651760"/>
            <a:ext cx="2770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繰り返しを見つける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14984" y="3108960"/>
            <a:ext cx="2770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診断の事前ヒアリング、当日の流れの案内、アフターフォロー。繰り返しているものは、必ず仕組みにできます。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98848" y="1828800"/>
            <a:ext cx="3429000" cy="2377440"/>
          </a:xfrm>
          <a:prstGeom prst="roundRect">
            <a:avLst>
              <a:gd name="adj" fmla="val 2692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28032" y="2029968"/>
            <a:ext cx="530352" cy="530352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20299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28032" y="2651760"/>
            <a:ext cx="2770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一度だけ作る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28032" y="3108960"/>
            <a:ext cx="2770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予約からセッション当日までの自動案内、LINE登録後の流れ、よくある質問。UTAGE / L Message はここ。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311896" y="1828800"/>
            <a:ext cx="3429000" cy="2377440"/>
          </a:xfrm>
          <a:prstGeom prst="roundRect">
            <a:avLst>
              <a:gd name="adj" fmla="val 2692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641080" y="2029968"/>
            <a:ext cx="530352" cy="530352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9" name="Text 17"/>
          <p:cNvSpPr/>
          <p:nvPr/>
        </p:nvSpPr>
        <p:spPr>
          <a:xfrm>
            <a:off x="8641080" y="20299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41080" y="2651760"/>
            <a:ext cx="2770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AIに渡す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641080" y="3108960"/>
            <a:ext cx="2770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投稿文のたたき台、リールのシナリオ案、診断レポートの下書き。AIは0を1にするのが得意。判断は人がやる。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" y="4434840"/>
            <a:ext cx="10820095" cy="1097280"/>
          </a:xfrm>
          <a:prstGeom prst="roundRect">
            <a:avLst>
              <a:gd name="adj" fmla="val 5833"/>
            </a:avLst>
          </a:prstGeom>
          <a:solidFill>
            <a:srgbClr val="3E2F38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4572000"/>
            <a:ext cx="99971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順番を間違えないでください。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097280" y="4937760"/>
            <a:ext cx="9997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STEP1〜5 が固まっていない状態で自動化すると、ブレた内容を自動で流し続けることになります。中身が決まってから、それを楽にするために使う。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5800" y="5715000"/>
            <a:ext cx="10820095" cy="566928"/>
          </a:xfrm>
          <a:prstGeom prst="roundRect">
            <a:avLst>
              <a:gd name="adj" fmla="val 11290"/>
            </a:avLst>
          </a:prstGeom>
          <a:solidFill>
            <a:srgbClr val="E3C9CD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5715000"/>
            <a:ext cx="99971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自動化は最後。これが一番もったいない間違いです。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自己診断 ―― あなたはどこで詰まっているか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外れた一番小さい番号が、あなたの現在地です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F7F3F0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029968"/>
            <a:ext cx="365760" cy="3657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44168" y="1920240"/>
            <a:ext cx="4434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資格名ではなく、変化の言葉で価値を言える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633472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EAE3DD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2743200"/>
            <a:ext cx="365760" cy="3657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44168" y="2633472"/>
            <a:ext cx="4434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理想のお客様の「深いほうの詰まり」が言える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346704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F7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3456432"/>
            <a:ext cx="365760" cy="3657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456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44168" y="3346704"/>
            <a:ext cx="4434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診断単発ではなく、入口・本命・継続の3層がある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4059936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EAE3DD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680" y="4169664"/>
            <a:ext cx="365760" cy="3657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169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44168" y="4059936"/>
            <a:ext cx="4434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発信が7つの心理ステップで回っている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91072" y="1920240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F7F3F0"/>
          </a:solidFill>
          <a:ln/>
        </p:spPr>
      </p:sp>
      <p:sp>
        <p:nvSpPr>
          <p:cNvPr id="22" name="Shape 20"/>
          <p:cNvSpPr/>
          <p:nvPr/>
        </p:nvSpPr>
        <p:spPr>
          <a:xfrm>
            <a:off x="6473952" y="2029968"/>
            <a:ext cx="365760" cy="3657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23" name="Text 21"/>
          <p:cNvSpPr/>
          <p:nvPr/>
        </p:nvSpPr>
        <p:spPr>
          <a:xfrm>
            <a:off x="6473952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49440" y="1920240"/>
            <a:ext cx="4434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発信から個別相談まで、線がつながっている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91072" y="2633472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EAE3DD"/>
          </a:solidFill>
          <a:ln/>
        </p:spPr>
      </p:sp>
      <p:sp>
        <p:nvSpPr>
          <p:cNvPr id="26" name="Shape 24"/>
          <p:cNvSpPr/>
          <p:nvPr/>
        </p:nvSpPr>
        <p:spPr>
          <a:xfrm>
            <a:off x="6473952" y="2743200"/>
            <a:ext cx="365760" cy="3657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27" name="Text 25"/>
          <p:cNvSpPr/>
          <p:nvPr/>
        </p:nvSpPr>
        <p:spPr>
          <a:xfrm>
            <a:off x="6473952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49440" y="2633472"/>
            <a:ext cx="4434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セッションで、診断より前に聞く時間のほうが長い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91072" y="3346704"/>
            <a:ext cx="5212080" cy="585216"/>
          </a:xfrm>
          <a:prstGeom prst="roundRect">
            <a:avLst>
              <a:gd name="adj" fmla="val 9375"/>
            </a:avLst>
          </a:prstGeom>
          <a:solidFill>
            <a:srgbClr val="F7F3F0"/>
          </a:solidFill>
          <a:ln/>
        </p:spPr>
      </p:sp>
      <p:sp>
        <p:nvSpPr>
          <p:cNvPr id="30" name="Shape 28"/>
          <p:cNvSpPr/>
          <p:nvPr/>
        </p:nvSpPr>
        <p:spPr>
          <a:xfrm>
            <a:off x="6473952" y="3456432"/>
            <a:ext cx="365760" cy="365760"/>
          </a:xfrm>
          <a:prstGeom prst="ellipse">
            <a:avLst/>
          </a:prstGeom>
          <a:solidFill>
            <a:srgbClr val="3E2F38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3456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C9CD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9440" y="3346704"/>
            <a:ext cx="4434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□　繰り返し作業が、仕組みになっている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91072" y="4059936"/>
            <a:ext cx="5212080" cy="1316736"/>
          </a:xfrm>
          <a:prstGeom prst="roundRect">
            <a:avLst>
              <a:gd name="adj" fmla="val 4861"/>
            </a:avLst>
          </a:prstGeom>
          <a:solidFill>
            <a:srgbClr val="3E2F38"/>
          </a:solidFill>
          <a:ln/>
        </p:spPr>
      </p:sp>
      <p:sp>
        <p:nvSpPr>
          <p:cNvPr id="34" name="Text 32"/>
          <p:cNvSpPr/>
          <p:nvPr/>
        </p:nvSpPr>
        <p:spPr>
          <a:xfrm>
            <a:off x="6611112" y="4059936"/>
            <a:ext cx="45720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「5と7ができていない」という方も、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まず一番小さい番号に戻ってください。</a:t>
            </a:r>
            <a:endParaRPr lang="en-US" sz="11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土台が空いていると、必ず戻ることになります。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85800" y="5669280"/>
            <a:ext cx="10820095" cy="658368"/>
          </a:xfrm>
          <a:prstGeom prst="roundRect">
            <a:avLst>
              <a:gd name="adj" fmla="val 9722"/>
            </a:avLst>
          </a:prstGeom>
          <a:solidFill>
            <a:srgbClr val="E3C9CD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" y="5669280"/>
            <a:ext cx="99971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今月取り組む番号を、いま1つ決めてください。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よくあるつまずきと、処方箋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症状の場所と、原因の場所は違います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10820095" cy="804672"/>
          </a:xfrm>
          <a:prstGeom prst="roundRect">
            <a:avLst>
              <a:gd name="adj" fmla="val 6818"/>
            </a:avLst>
          </a:prstGeom>
          <a:solidFill>
            <a:srgbClr val="F7F3F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920240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「発信ネタが出てこない」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166360" y="1920240"/>
            <a:ext cx="4297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本当の原因　</a:t>
            </a:r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誰の何を解決するか決まっていない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92640" y="2112264"/>
            <a:ext cx="1645920" cy="420624"/>
          </a:xfrm>
          <a:prstGeom prst="roundRect">
            <a:avLst>
              <a:gd name="adj" fmla="val 21739"/>
            </a:avLst>
          </a:prstGeom>
          <a:solidFill>
            <a:srgbClr val="3E2F38"/>
          </a:solidFill>
          <a:ln/>
        </p:spPr>
      </p:sp>
      <p:sp>
        <p:nvSpPr>
          <p:cNvPr id="9" name="Text 7"/>
          <p:cNvSpPr/>
          <p:nvPr/>
        </p:nvSpPr>
        <p:spPr>
          <a:xfrm>
            <a:off x="9692640" y="2112264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1・2 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2852928"/>
            <a:ext cx="10820095" cy="804672"/>
          </a:xfrm>
          <a:prstGeom prst="roundRect">
            <a:avLst>
              <a:gd name="adj" fmla="val 6818"/>
            </a:avLst>
          </a:prstGeom>
          <a:solidFill>
            <a:srgbClr val="EAE3DD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852928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「価格を上げるのが怖い」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66360" y="2852928"/>
            <a:ext cx="4297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本当の原因　</a:t>
            </a:r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変化が言葉になっていない／中身が診断だけ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692640" y="3044952"/>
            <a:ext cx="1645920" cy="420624"/>
          </a:xfrm>
          <a:prstGeom prst="roundRect">
            <a:avLst>
              <a:gd name="adj" fmla="val 21739"/>
            </a:avLst>
          </a:prstGeom>
          <a:solidFill>
            <a:srgbClr val="3E2F38"/>
          </a:solidFill>
          <a:ln/>
        </p:spPr>
      </p:sp>
      <p:sp>
        <p:nvSpPr>
          <p:cNvPr id="14" name="Text 12"/>
          <p:cNvSpPr/>
          <p:nvPr/>
        </p:nvSpPr>
        <p:spPr>
          <a:xfrm>
            <a:off x="9692640" y="304495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1・6 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3785616"/>
            <a:ext cx="10820095" cy="804672"/>
          </a:xfrm>
          <a:prstGeom prst="roundRect">
            <a:avLst>
              <a:gd name="adj" fmla="val 6818"/>
            </a:avLst>
          </a:prstGeom>
          <a:solidFill>
            <a:srgbClr val="F7F3F0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785616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「診断したのに変わらない」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66360" y="3785616"/>
            <a:ext cx="4297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本当の原因　</a:t>
            </a:r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観念を扱う工程が抜けている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692640" y="3977640"/>
            <a:ext cx="1645920" cy="420624"/>
          </a:xfrm>
          <a:prstGeom prst="roundRect">
            <a:avLst>
              <a:gd name="adj" fmla="val 21739"/>
            </a:avLst>
          </a:prstGeom>
          <a:solidFill>
            <a:srgbClr val="3E2F38"/>
          </a:solidFill>
          <a:ln/>
        </p:spPr>
      </p:sp>
      <p:sp>
        <p:nvSpPr>
          <p:cNvPr id="19" name="Text 17"/>
          <p:cNvSpPr/>
          <p:nvPr/>
        </p:nvSpPr>
        <p:spPr>
          <a:xfrm>
            <a:off x="9692640" y="397764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6 へ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4718304"/>
            <a:ext cx="10820095" cy="804672"/>
          </a:xfrm>
          <a:prstGeom prst="roundRect">
            <a:avLst>
              <a:gd name="adj" fmla="val 6818"/>
            </a:avLst>
          </a:prstGeom>
          <a:solidFill>
            <a:srgbClr val="EAE3DD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718304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「学んだのに動けない」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66360" y="4718304"/>
            <a:ext cx="4297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本当の原因　</a:t>
            </a:r>
            <a:pPr indent="0" marL="0">
              <a:buNone/>
            </a:pPr>
            <a:r>
              <a:rPr lang="en-US" sz="115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一度に全部やろうとしている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692640" y="4910328"/>
            <a:ext cx="1645920" cy="420624"/>
          </a:xfrm>
          <a:prstGeom prst="roundRect">
            <a:avLst>
              <a:gd name="adj" fmla="val 21739"/>
            </a:avLst>
          </a:prstGeom>
          <a:solidFill>
            <a:srgbClr val="3E2F38"/>
          </a:solidFill>
          <a:ln/>
        </p:spPr>
      </p:sp>
      <p:sp>
        <p:nvSpPr>
          <p:cNvPr id="24" name="Text 22"/>
          <p:cNvSpPr/>
          <p:nvPr/>
        </p:nvSpPr>
        <p:spPr>
          <a:xfrm>
            <a:off x="9692640" y="491032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1つに絞る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5760720"/>
            <a:ext cx="10820095" cy="685800"/>
          </a:xfrm>
          <a:prstGeom prst="roundRect">
            <a:avLst>
              <a:gd name="adj" fmla="val 9333"/>
            </a:avLst>
          </a:prstGeom>
          <a:solidFill>
            <a:srgbClr val="E3C9CD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5760720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詰まったら、必ず一つ上に戻る。6ヶ月間、いちばん使う考え方です。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713232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今月のワーク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E7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やることは1つだけです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10820095" cy="1508760"/>
          </a:xfrm>
          <a:prstGeom prst="roundRect">
            <a:avLst>
              <a:gd name="adj" fmla="val 4242"/>
            </a:avLst>
          </a:prstGeom>
          <a:solidFill>
            <a:srgbClr val="3E2F38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920240"/>
            <a:ext cx="990569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自己診断で外れた、一番小さい番号。</a:t>
            </a:r>
            <a:endParaRPr lang="en-US" sz="23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そのワークシートを、最後まで埋める。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685800" y="3657600"/>
            <a:ext cx="3429000" cy="1737360"/>
          </a:xfrm>
          <a:prstGeom prst="roundRect">
            <a:avLst>
              <a:gd name="adj" fmla="val 3684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14984" y="380390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14984" y="4096512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次回のグルコンまで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14984" y="4498848"/>
            <a:ext cx="2770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埋まらなかった箇所は、埋まらなかったこと自体を持ってきてください。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98848" y="3657600"/>
            <a:ext cx="3429000" cy="1737360"/>
          </a:xfrm>
          <a:prstGeom prst="roundRect">
            <a:avLst>
              <a:gd name="adj" fmla="val 3684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28032" y="380390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28032" y="4096512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ワークショップ60分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28032" y="4498848"/>
            <a:ext cx="2770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自分インタビューと、STEP1の言語化シートを、ここで仕上げます。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311896" y="3657600"/>
            <a:ext cx="3429000" cy="1737360"/>
          </a:xfrm>
          <a:prstGeom prst="roundRect">
            <a:avLst>
              <a:gd name="adj" fmla="val 3684"/>
            </a:avLst>
          </a:prstGeom>
          <a:solidFill>
            <a:srgbClr val="F7F3F0"/>
          </a:solidFill>
          <a:ln/>
          <a:effectLst>
            <a:outerShdw sx="100000" sy="100000" kx="0" ky="0" algn="bl" rotWithShape="0" blurRad="127000" dist="25400" dir="5400000">
              <a:srgbClr val="9A889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41080" y="380390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A873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宣言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641080" y="4096512"/>
            <a:ext cx="277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いつやるか決める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41080" y="4498848"/>
            <a:ext cx="2770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329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「今月中」ではなく「毎週火曜の夜」のように、曜日と時間帯で。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562356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E2F3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「ここが書けませんでした」は、立派な相談です。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E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65415" y="2926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2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Fashion  ×  Psychology  ×  AI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85800" y="114300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「売れる」は結果。「選ばれる」が原因。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選ばれる状態は、診断だけでは作れません。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2423160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2A1F26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523744"/>
            <a:ext cx="347472" cy="347472"/>
          </a:xfrm>
          <a:prstGeom prst="ellipse">
            <a:avLst/>
          </a:prstGeom>
          <a:solidFill>
            <a:srgbClr val="C08F9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25880" y="242316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資格名ではなく、変化の言葉にする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3081528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2A1F26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3182112"/>
            <a:ext cx="347472" cy="347472"/>
          </a:xfrm>
          <a:prstGeom prst="ellipse">
            <a:avLst/>
          </a:prstGeom>
          <a:solidFill>
            <a:srgbClr val="C08F97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25880" y="308152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深いほうの詰まりを、言葉にする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739896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2A1F26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840480"/>
            <a:ext cx="347472" cy="347472"/>
          </a:xfrm>
          <a:prstGeom prst="ellipse">
            <a:avLst/>
          </a:prstGeom>
          <a:solidFill>
            <a:srgbClr val="C08F97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25880" y="3739896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診断は入口。本命と継続をつくる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85800" y="4398264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2A1F26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680" y="4498848"/>
            <a:ext cx="347472" cy="347472"/>
          </a:xfrm>
          <a:prstGeom prst="ellipse">
            <a:avLst/>
          </a:prstGeom>
          <a:solidFill>
            <a:srgbClr val="C08F97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4498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25880" y="4398264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7つの心理ステップで発信する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91072" y="2423160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2A1F26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2" y="2523744"/>
            <a:ext cx="347472" cy="347472"/>
          </a:xfrm>
          <a:prstGeom prst="ellipse">
            <a:avLst/>
          </a:prstGeom>
          <a:solidFill>
            <a:srgbClr val="C08F97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931152" y="242316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発信から個別相談までを線にする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91072" y="3081528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2A1F26"/>
          </a:solidFill>
          <a:ln/>
        </p:spPr>
      </p:sp>
      <p:sp>
        <p:nvSpPr>
          <p:cNvPr id="27" name="Shape 25"/>
          <p:cNvSpPr/>
          <p:nvPr/>
        </p:nvSpPr>
        <p:spPr>
          <a:xfrm>
            <a:off x="6473952" y="3182112"/>
            <a:ext cx="347472" cy="347472"/>
          </a:xfrm>
          <a:prstGeom prst="ellipse">
            <a:avLst/>
          </a:prstGeom>
          <a:solidFill>
            <a:srgbClr val="C08F97"/>
          </a:solidFill>
          <a:ln/>
        </p:spPr>
      </p:sp>
      <p:sp>
        <p:nvSpPr>
          <p:cNvPr id="28" name="Text 26"/>
          <p:cNvSpPr/>
          <p:nvPr/>
        </p:nvSpPr>
        <p:spPr>
          <a:xfrm>
            <a:off x="6473952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931152" y="308152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診断より先に、聞く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91072" y="3739896"/>
            <a:ext cx="5212080" cy="548640"/>
          </a:xfrm>
          <a:prstGeom prst="roundRect">
            <a:avLst>
              <a:gd name="adj" fmla="val 10000"/>
            </a:avLst>
          </a:prstGeom>
          <a:solidFill>
            <a:srgbClr val="2A1F26"/>
          </a:solidFill>
          <a:ln/>
        </p:spPr>
      </p:sp>
      <p:sp>
        <p:nvSpPr>
          <p:cNvPr id="31" name="Shape 29"/>
          <p:cNvSpPr/>
          <p:nvPr/>
        </p:nvSpPr>
        <p:spPr>
          <a:xfrm>
            <a:off x="6473952" y="3840480"/>
            <a:ext cx="347472" cy="347472"/>
          </a:xfrm>
          <a:prstGeom prst="ellipse">
            <a:avLst/>
          </a:prstGeom>
          <a:solidFill>
            <a:srgbClr val="C08F97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3840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931152" y="3739896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3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繰り返しを、仕組みにする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91072" y="4398264"/>
            <a:ext cx="5212080" cy="1325880"/>
          </a:xfrm>
          <a:prstGeom prst="roundRect">
            <a:avLst>
              <a:gd name="adj" fmla="val 4828"/>
            </a:avLst>
          </a:prstGeom>
          <a:solidFill>
            <a:srgbClr val="F7F3F0"/>
          </a:solidFill>
          <a:ln/>
        </p:spPr>
      </p:sp>
      <p:sp>
        <p:nvSpPr>
          <p:cNvPr id="35" name="Text 33"/>
          <p:cNvSpPr/>
          <p:nvPr/>
        </p:nvSpPr>
        <p:spPr>
          <a:xfrm>
            <a:off x="6611112" y="439826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7つの器に、心理学とコーチングという中身が入って、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3E2F38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はじめて「あなたでなければ」になります。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59893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3C9C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 STEP1・STEP2 を、もう一段深く　／　今日書いた一文を持ってきてください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ファッション起業 7つのステップ</dc:title>
  <dc:subject>PptxGenJS Presentation</dc:subject>
  <dc:creator>Fashion Entrepreneurship Academia</dc:creator>
  <cp:lastModifiedBy>Fashion Entrepreneurship Academia</cp:lastModifiedBy>
  <cp:revision>1</cp:revision>
  <dcterms:created xsi:type="dcterms:W3CDTF">2026-08-09T13:31:11Z</dcterms:created>
  <dcterms:modified xsi:type="dcterms:W3CDTF">2026-08-09T13:31:11Z</dcterms:modified>
</cp:coreProperties>
</file>