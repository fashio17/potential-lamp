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今日は6ヶ月の全体像を渡す回。
以降の毎回の講義で「これは7つのうち何番目か」と紐づけて説明することを宣言する。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ゴールを「学んだ状態」ではなく「形になった状態」で定義する。期待値をここで揃える。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6ヶ月の共通言語になる一文。早口にしない。板書できるなら板書する。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受講生の自己否定を外すパート。原因を「能力」から「設計」に移す。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以降の毎回の講義冒頭で「今日は何番の話か」を必ず言う。この図が6ヶ月の共通地図。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受講生が二種類いるので、必ず両方の例を出して分断させない。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7つの中で最も時間を使うパート。物販型の方にも同じ3つが必要だと必ず補足する。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3分きっちり測る。書けなかったことを失敗にしない。オンラインはチャットに1人1行で投稿してもらう。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「絞ると客が減るのでは」と不安になるパート。最後の補足を必ず言う。物販型はここがブランドコンセプト。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本命商品しかないブランドは、いつまでも新規を探し続けることになる。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この講座の差別化の核。ここを外すと他の起業塾と同じになる。サービス型・物販型どちらにも効く話。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「毎日投稿」から「役割別の設計」への切り替え。仕分けワークは必ずやってもらう。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AIに投げるときも、指示するのはこの型。型がないままAIに投げると当たり障りのない文章しか出てこない。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LINE登録の理由づくりは、入口商品の考え方と同じ。行き止まりが一番多い取りこぼし。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「売るのが怖い」を外すパート。技術ではなく姿勢の話として扱う。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継続の話。ここを扱う講座は少ない＝差別化。グループコンサルで相談してよい、と明示する。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ツールの話に見せず「頑張り続けない設計」の話にする。順番の注意は強めに。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ここを曖昧にすると受講生が拡散する。必ず一番小さい番号を優先させる。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原因を上流に戻す訓練。ここを繰り返し言うと、受講生が自走できるようになる。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提出のハードルを下げる。書けなかったこと自体を歓迎する姿勢を明示する。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7つを1行ずつ読み上げて振り返る。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ワークショップ60分へ移る前のブリッジ。質問の出し方をここで型にしておくと、6ヶ月の質が変わる。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1554480"/>
            <a:ext cx="3383280" cy="3383280"/>
          </a:xfrm>
          <a:prstGeom prst="ellipse">
            <a:avLst/>
          </a:prstGeom>
          <a:solidFill>
            <a:srgbClr val="2A1F26"/>
          </a:solidFill>
          <a:ln/>
        </p:spPr>
      </p:sp>
      <p:sp>
        <p:nvSpPr>
          <p:cNvPr id="3" name="Shape 1"/>
          <p:cNvSpPr/>
          <p:nvPr/>
        </p:nvSpPr>
        <p:spPr>
          <a:xfrm>
            <a:off x="8001000" y="1554480"/>
            <a:ext cx="3383280" cy="3383280"/>
          </a:xfrm>
          <a:prstGeom prst="ellipse">
            <a:avLst/>
          </a:prstGeom>
          <a:solidFill>
            <a:srgbClr val="3E2F38">
              <a:alpha val="0"/>
            </a:srgbClr>
          </a:solidFill>
          <a:ln w="15875">
            <a:solidFill>
              <a:srgbClr val="C08F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01000" y="155448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Fashion  ×  Psychology  ×  AI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139696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ファッション起業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2816352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7つのステップ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85800" y="391363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感性と専門性を、選ばれる仕組みに変える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48463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6ヶ月実践講座　全体像の回　／　講義90分 ＋ ワークショップ60分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65415" y="2926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Fashion  ×  Psychology  ×  AI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この6ヶ月で仕上げる状態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目指すのは「たくさん学んだ状態」ではありません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3429000" cy="2606040"/>
          </a:xfrm>
          <a:prstGeom prst="roundRect">
            <a:avLst>
              <a:gd name="adj" fmla="val 2456"/>
            </a:avLst>
          </a:prstGeom>
          <a:solidFill>
            <a:srgbClr val="F7F3F0"/>
          </a:solidFill>
          <a:ln/>
          <a:effectLst>
            <a:outerShdw sx="100000" sy="100000" kx="0" ky="0" algn="bl" rotWithShape="0" blurRad="127000" dist="25400" dir="5400000">
              <a:srgbClr val="9A889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194560"/>
            <a:ext cx="713232" cy="713232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1945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51560" y="3054096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価値が、言葉になっている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51560" y="373075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「なんとなく素敵」ではなく、誰の何をどう変えられるかを言い切れる。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98848" y="1874520"/>
            <a:ext cx="3429000" cy="2606040"/>
          </a:xfrm>
          <a:prstGeom prst="roundRect">
            <a:avLst>
              <a:gd name="adj" fmla="val 2456"/>
            </a:avLst>
          </a:prstGeom>
          <a:solidFill>
            <a:srgbClr val="F7F3F0"/>
          </a:solidFill>
          <a:ln/>
          <a:effectLst>
            <a:outerShdw sx="100000" sy="100000" kx="0" ky="0" algn="bl" rotWithShape="0" blurRad="127000" dist="25400" dir="5400000">
              <a:srgbClr val="9A889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64608" y="2194560"/>
            <a:ext cx="713232" cy="713232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2" name="Text 10"/>
          <p:cNvSpPr/>
          <p:nvPr/>
        </p:nvSpPr>
        <p:spPr>
          <a:xfrm>
            <a:off x="4864608" y="21945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864608" y="3054096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価値が、商品になっている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864608" y="373075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入口・本命・継続の3層。サービスならメニュー、物販なら商品構成。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311896" y="1874520"/>
            <a:ext cx="3429000" cy="2606040"/>
          </a:xfrm>
          <a:prstGeom prst="roundRect">
            <a:avLst>
              <a:gd name="adj" fmla="val 2456"/>
            </a:avLst>
          </a:prstGeom>
          <a:solidFill>
            <a:srgbClr val="F7F3F0"/>
          </a:solidFill>
          <a:ln/>
          <a:effectLst>
            <a:outerShdw sx="100000" sy="100000" kx="0" ky="0" algn="bl" rotWithShape="0" blurRad="127000" dist="25400" dir="5400000">
              <a:srgbClr val="9A889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77656" y="2194560"/>
            <a:ext cx="713232" cy="713232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7" name="Text 15"/>
          <p:cNvSpPr/>
          <p:nvPr/>
        </p:nvSpPr>
        <p:spPr>
          <a:xfrm>
            <a:off x="8677656" y="21945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677656" y="3054096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申込みまで、線になっている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677656" y="373075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発信を見た人が次にどこへ行き、何を見て決めるのかがつながっている。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4846320"/>
            <a:ext cx="10820095" cy="914400"/>
          </a:xfrm>
          <a:prstGeom prst="roundRect">
            <a:avLst>
              <a:gd name="adj" fmla="val 7000"/>
            </a:avLst>
          </a:prstGeom>
          <a:solidFill>
            <a:srgbClr val="3E2F38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4846320"/>
            <a:ext cx="9997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この3つが揃うと、頑張り続けなくても回り始めます。7つのステップは、この3つを作るための順番です。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65415" y="2926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Fashion  ×  Psychology  ×  AI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3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この6ヶ月の大前提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「売れる」は結果。</a:t>
            </a:r>
            <a:endParaRPr lang="en-US" sz="40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「選ばれる」が原因。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36576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売上は結果です。結果を直接いじろうとしても動きません。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動かすのは原因のほう ―― 選ばれているかどうか、です。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35240" y="1737360"/>
            <a:ext cx="3867912" cy="1371600"/>
          </a:xfrm>
          <a:prstGeom prst="roundRect">
            <a:avLst>
              <a:gd name="adj" fmla="val 4667"/>
            </a:avLst>
          </a:prstGeom>
          <a:solidFill>
            <a:srgbClr val="2A1F26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0" y="18836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結果を追いかけると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955280" y="22402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投稿を増やす／値下げ／キャンペーン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動かないまま、しんどくなる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35240" y="3337560"/>
            <a:ext cx="3867912" cy="1371600"/>
          </a:xfrm>
          <a:prstGeom prst="roundRect">
            <a:avLst>
              <a:gd name="adj" fmla="val 4667"/>
            </a:avLst>
          </a:prstGeom>
          <a:solidFill>
            <a:srgbClr val="F7F3F0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0" y="34838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原因を整えると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955280" y="3840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選ばれる理由をつくる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売上は、あとからついてくる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51206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スタイリストなら「この人にお願いしたい」、物販なら「このブランドから買いたい」。それが起きていれば、売上はあとからついてきます。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65415" y="2926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Fashion  ×  Psychology  ×  AI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なぜ、ファッション起業は埋もれるのか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センスがないからでも、努力が足りないからでもありません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10820095" cy="868680"/>
          </a:xfrm>
          <a:prstGeom prst="roundRect">
            <a:avLst>
              <a:gd name="adj" fmla="val 7368"/>
            </a:avLst>
          </a:prstGeom>
          <a:solidFill>
            <a:srgbClr val="EAE3DD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28800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感性や専門性はあるのに、それが「選ばれる仕組み」になっていない ―― 理由はこれだけです。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926080"/>
            <a:ext cx="5212080" cy="640080"/>
          </a:xfrm>
          <a:prstGeom prst="roundRect">
            <a:avLst>
              <a:gd name="adj" fmla="val 8571"/>
            </a:avLst>
          </a:prstGeom>
          <a:solidFill>
            <a:srgbClr val="F7F3F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926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自分の強みが、言葉になっていない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91072" y="2926080"/>
            <a:ext cx="5212080" cy="640080"/>
          </a:xfrm>
          <a:prstGeom prst="roundRect">
            <a:avLst>
              <a:gd name="adj" fmla="val 8571"/>
            </a:avLst>
          </a:prstGeom>
          <a:solidFill>
            <a:srgbClr val="F7F3F0"/>
          </a:solidFill>
          <a:ln/>
        </p:spPr>
      </p:sp>
      <p:sp>
        <p:nvSpPr>
          <p:cNvPr id="10" name="Text 8"/>
          <p:cNvSpPr/>
          <p:nvPr/>
        </p:nvSpPr>
        <p:spPr>
          <a:xfrm>
            <a:off x="6611112" y="2926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誰に何を届けるのかが曖昧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712464"/>
            <a:ext cx="5212080" cy="640080"/>
          </a:xfrm>
          <a:prstGeom prst="roundRect">
            <a:avLst>
              <a:gd name="adj" fmla="val 8571"/>
            </a:avLst>
          </a:prstGeom>
          <a:solidFill>
            <a:srgbClr val="F7F3F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71246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商品がなんとなく作られている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91072" y="3712464"/>
            <a:ext cx="5212080" cy="640080"/>
          </a:xfrm>
          <a:prstGeom prst="roundRect">
            <a:avLst>
              <a:gd name="adj" fmla="val 8571"/>
            </a:avLst>
          </a:prstGeom>
          <a:solidFill>
            <a:srgbClr val="F7F3F0"/>
          </a:solidFill>
          <a:ln/>
        </p:spPr>
      </p:sp>
      <p:sp>
        <p:nvSpPr>
          <p:cNvPr id="14" name="Text 12"/>
          <p:cNvSpPr/>
          <p:nvPr/>
        </p:nvSpPr>
        <p:spPr>
          <a:xfrm>
            <a:off x="6611112" y="371246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発信が単発で終わっている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4498848"/>
            <a:ext cx="5212080" cy="640080"/>
          </a:xfrm>
          <a:prstGeom prst="roundRect">
            <a:avLst>
              <a:gd name="adj" fmla="val 8571"/>
            </a:avLst>
          </a:prstGeom>
          <a:solidFill>
            <a:srgbClr val="F7F3F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4988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Instagram・LINE・EC がバラバラ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91072" y="4498848"/>
            <a:ext cx="5212080" cy="640080"/>
          </a:xfrm>
          <a:prstGeom prst="roundRect">
            <a:avLst>
              <a:gd name="adj" fmla="val 8571"/>
            </a:avLst>
          </a:prstGeom>
          <a:solidFill>
            <a:srgbClr val="3E2F38"/>
          </a:solidFill>
          <a:ln/>
        </p:spPr>
      </p:sp>
      <p:sp>
        <p:nvSpPr>
          <p:cNvPr id="18" name="Text 16"/>
          <p:cNvSpPr/>
          <p:nvPr/>
        </p:nvSpPr>
        <p:spPr>
          <a:xfrm>
            <a:off x="6611112" y="44988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だから「なんとなく素敵」で止まる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532120"/>
            <a:ext cx="10820095" cy="868680"/>
          </a:xfrm>
          <a:prstGeom prst="roundRect">
            <a:avLst>
              <a:gd name="adj" fmla="val 7368"/>
            </a:avLst>
          </a:prstGeom>
          <a:solidFill>
            <a:srgbClr val="E3C9CD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5532120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必要なのは、発信量ではありません。選ばれる理由が伝わる「設計」です。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65415" y="2926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Fashion  ×  Psychology  ×  AI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7ステップの全体像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上から下へ、情報が流れていきます。詰まったら必ず一つ上に戻ってください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847088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7F3F0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" y="1975104"/>
            <a:ext cx="402336" cy="402336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1975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84708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価値の言語化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29000" y="184708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感性と専門性を、伝わる言葉に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EAE3DD"/>
          </a:solidFill>
          <a:ln/>
        </p:spPr>
      </p:sp>
      <p:sp>
        <p:nvSpPr>
          <p:cNvPr id="11" name="Shape 9"/>
          <p:cNvSpPr/>
          <p:nvPr/>
        </p:nvSpPr>
        <p:spPr>
          <a:xfrm>
            <a:off x="886968" y="2761488"/>
            <a:ext cx="402336" cy="402336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2" name="Text 10"/>
          <p:cNvSpPr/>
          <p:nvPr/>
        </p:nvSpPr>
        <p:spPr>
          <a:xfrm>
            <a:off x="886968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263347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選ばれる理由を決める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63347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理想のお客様と、その人の詰まり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419856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7F3F0"/>
          </a:solidFill>
          <a:ln/>
        </p:spPr>
      </p:sp>
      <p:sp>
        <p:nvSpPr>
          <p:cNvPr id="16" name="Shape 14"/>
          <p:cNvSpPr/>
          <p:nvPr/>
        </p:nvSpPr>
        <p:spPr>
          <a:xfrm>
            <a:off x="886968" y="3547872"/>
            <a:ext cx="402336" cy="402336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7" name="Text 15"/>
          <p:cNvSpPr/>
          <p:nvPr/>
        </p:nvSpPr>
        <p:spPr>
          <a:xfrm>
            <a:off x="886968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41985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商品設計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341985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入口・本命・継続の3層をつくる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206240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EAE3DD"/>
          </a:solidFill>
          <a:ln/>
        </p:spPr>
      </p:sp>
      <p:sp>
        <p:nvSpPr>
          <p:cNvPr id="21" name="Shape 19"/>
          <p:cNvSpPr/>
          <p:nvPr/>
        </p:nvSpPr>
        <p:spPr>
          <a:xfrm>
            <a:off x="886968" y="4334256"/>
            <a:ext cx="402336" cy="402336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22" name="Text 20"/>
          <p:cNvSpPr/>
          <p:nvPr/>
        </p:nvSpPr>
        <p:spPr>
          <a:xfrm>
            <a:off x="886968" y="4334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42062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発信設計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29000" y="420624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興味／信頼／欲しい を分ける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91072" y="1847088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7F3F0"/>
          </a:solidFill>
          <a:ln/>
        </p:spPr>
      </p:sp>
      <p:sp>
        <p:nvSpPr>
          <p:cNvPr id="26" name="Shape 24"/>
          <p:cNvSpPr/>
          <p:nvPr/>
        </p:nvSpPr>
        <p:spPr>
          <a:xfrm>
            <a:off x="6492240" y="1975104"/>
            <a:ext cx="402336" cy="402336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1975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22592" y="184708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販売導線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034272" y="184708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発信から申込み・購入まで線にする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91072" y="2633472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EAE3DD"/>
          </a:solidFill>
          <a:ln/>
        </p:spPr>
      </p:sp>
      <p:sp>
        <p:nvSpPr>
          <p:cNvPr id="31" name="Shape 29"/>
          <p:cNvSpPr/>
          <p:nvPr/>
        </p:nvSpPr>
        <p:spPr>
          <a:xfrm>
            <a:off x="6492240" y="2761488"/>
            <a:ext cx="402336" cy="402336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022592" y="263347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コーチングセールス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034272" y="263347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押し売りではなく、聞いて整理する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91072" y="3419856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7F3F0"/>
          </a:solidFill>
          <a:ln/>
        </p:spPr>
      </p:sp>
      <p:sp>
        <p:nvSpPr>
          <p:cNvPr id="36" name="Shape 34"/>
          <p:cNvSpPr/>
          <p:nvPr/>
        </p:nvSpPr>
        <p:spPr>
          <a:xfrm>
            <a:off x="6492240" y="3547872"/>
            <a:ext cx="402336" cy="402336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37" name="Text 35"/>
          <p:cNvSpPr/>
          <p:nvPr/>
        </p:nvSpPr>
        <p:spPr>
          <a:xfrm>
            <a:off x="649224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022592" y="341985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仕組み化・自動化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034272" y="341985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UTAGE / L Message / AI で回す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91072" y="4206240"/>
            <a:ext cx="5212080" cy="1280160"/>
          </a:xfrm>
          <a:prstGeom prst="roundRect">
            <a:avLst>
              <a:gd name="adj" fmla="val 5000"/>
            </a:avLst>
          </a:prstGeom>
          <a:solidFill>
            <a:srgbClr val="3E2F38"/>
          </a:solidFill>
          <a:ln/>
        </p:spPr>
      </p:sp>
      <p:sp>
        <p:nvSpPr>
          <p:cNvPr id="41" name="Text 39"/>
          <p:cNvSpPr/>
          <p:nvPr/>
        </p:nvSpPr>
        <p:spPr>
          <a:xfrm>
            <a:off x="6611112" y="420624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発信ネタが出てこないのは STEP4 の問題ではなく、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STEP1・2 が決まっていないから。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詰まったら、必ず一つ上に戻る。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85800" y="5760720"/>
            <a:ext cx="10820095" cy="731520"/>
          </a:xfrm>
          <a:prstGeom prst="roundRect">
            <a:avLst>
              <a:gd name="adj" fmla="val 8750"/>
            </a:avLst>
          </a:prstGeom>
          <a:solidFill>
            <a:srgbClr val="E3C9CD"/>
          </a:solidFill>
          <a:ln/>
        </p:spPr>
      </p:sp>
      <p:sp>
        <p:nvSpPr>
          <p:cNvPr id="43" name="Text 41"/>
          <p:cNvSpPr/>
          <p:nvPr/>
        </p:nvSpPr>
        <p:spPr>
          <a:xfrm>
            <a:off x="1097280" y="576072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STEP7の自動化だけは、1〜5が固まる前に手を出さないでください。ブレた内容を自動で流し続けることになります。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65415" y="2926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Fashion  ×  Psychology  ×  AI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サービス型も物販型も、本質は同じ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違うのは、7ステップに入る中身だけ。構造は変わりません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74520"/>
          <a:ext cx="1082009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453128"/>
                <a:gridCol w="4443984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F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サービス型（パーソナルスタイリスト等）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F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物販型（ブランド・EC）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F3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E2F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選ばれる形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29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「この人にお願いしたい」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29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「このブランドから買いたい」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E2F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STEP3 商品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29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診断／同行／継続サポート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29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入口アイテム／主力／リピート商品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E2F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STEP5 導線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29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Instagram → LINE → 個別相談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29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Instagram → EC（LINEで先行案内）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E2F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STEP6 場面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29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個別相談・カウンセリング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29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DM・コメント・接客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029200"/>
            <a:ext cx="10820095" cy="1188720"/>
          </a:xfrm>
          <a:prstGeom prst="roundRect">
            <a:avLst>
              <a:gd name="adj" fmla="val 5385"/>
            </a:avLst>
          </a:prstGeom>
          <a:solidFill>
            <a:srgbClr val="3E2F38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5029200"/>
            <a:ext cx="99971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将来、サービスと物販の両方をやる方がとても多いです。ご自身のほうを聞きながら、もう一方も聞いておいてください。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ただし発信の入口は、どちらかに寄せること。両方同時だと「この人は何の人か」が判断できなくなります。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92608"/>
            <a:ext cx="1024128" cy="310896"/>
          </a:xfrm>
          <a:prstGeom prst="roundRect">
            <a:avLst>
              <a:gd name="adj" fmla="val 23529"/>
            </a:avLst>
          </a:prstGeom>
          <a:solidFill>
            <a:srgbClr val="C08F97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926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65415" y="2926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Fashion  ×  Psychology  ×  AI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価値の言語化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7つのうちの1番目。正直に言うと、ここが8割です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3429000" cy="2377440"/>
          </a:xfrm>
          <a:prstGeom prst="roundRect">
            <a:avLst>
              <a:gd name="adj" fmla="val 2692"/>
            </a:avLst>
          </a:prstGeom>
          <a:solidFill>
            <a:srgbClr val="F7F3F0"/>
          </a:solidFill>
          <a:ln/>
          <a:effectLst>
            <a:outerShdw sx="100000" sy="100000" kx="0" ky="0" algn="bl" rotWithShape="0" blurRad="127000" dist="25400" dir="5400000">
              <a:srgbClr val="9A889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2103120"/>
            <a:ext cx="548640" cy="548640"/>
          </a:xfrm>
          <a:prstGeom prst="ellipse">
            <a:avLst/>
          </a:prstGeom>
          <a:solidFill>
            <a:srgbClr val="C08F97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09928" y="2121408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専門性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51560" y="278892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何を根拠に語れるか。理論、心理学、現場の経験年数、素材の知識。ここは謙遜しないでください。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98848" y="1874520"/>
            <a:ext cx="3429000" cy="2377440"/>
          </a:xfrm>
          <a:prstGeom prst="roundRect">
            <a:avLst>
              <a:gd name="adj" fmla="val 2692"/>
            </a:avLst>
          </a:prstGeom>
          <a:solidFill>
            <a:srgbClr val="F7F3F0"/>
          </a:solidFill>
          <a:ln/>
          <a:effectLst>
            <a:outerShdw sx="100000" sy="100000" kx="0" ky="0" algn="bl" rotWithShape="0" blurRad="127000" dist="25400" dir="5400000">
              <a:srgbClr val="9A889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64608" y="2103120"/>
            <a:ext cx="548640" cy="548640"/>
          </a:xfrm>
          <a:prstGeom prst="ellipse">
            <a:avLst/>
          </a:prstGeom>
          <a:solidFill>
            <a:srgbClr val="C08F97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522976" y="2121408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提供できる変化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864608" y="278892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「似合う服が分かる」の先。朝の支度が早くなる、写真に写るのが嫌でなくなる。ここが一番大事です。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311896" y="1874520"/>
            <a:ext cx="3429000" cy="2377440"/>
          </a:xfrm>
          <a:prstGeom prst="roundRect">
            <a:avLst>
              <a:gd name="adj" fmla="val 2692"/>
            </a:avLst>
          </a:prstGeom>
          <a:solidFill>
            <a:srgbClr val="F7F3F0"/>
          </a:solidFill>
          <a:ln/>
          <a:effectLst>
            <a:outerShdw sx="100000" sy="100000" kx="0" ky="0" algn="bl" rotWithShape="0" blurRad="127000" dist="25400" dir="5400000">
              <a:srgbClr val="9A889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77656" y="2103120"/>
            <a:ext cx="548640" cy="548640"/>
          </a:xfrm>
          <a:prstGeom prst="ellipse">
            <a:avLst/>
          </a:prstGeom>
          <a:solidFill>
            <a:srgbClr val="C08F97"/>
          </a:solidFill>
          <a:ln/>
        </p:spPr>
      </p:sp>
      <p:sp>
        <p:nvSpPr>
          <p:cNvPr id="19" name="Text 17"/>
          <p:cNvSpPr/>
          <p:nvPr/>
        </p:nvSpPr>
        <p:spPr>
          <a:xfrm>
            <a:off x="8677656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336024" y="2121408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価値観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677656" y="278892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何を大事にし、何をやらないか。自分語りではなく、お客様が「合いそう」と判断するための材料です。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480560"/>
            <a:ext cx="10820095" cy="777240"/>
          </a:xfrm>
          <a:prstGeom prst="roundRect">
            <a:avLst>
              <a:gd name="adj" fmla="val 8235"/>
            </a:avLst>
          </a:prstGeom>
          <a:solidFill>
            <a:srgbClr val="EAE3DD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4480560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謙遜は、お客様にとっては「情報不足」です。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85800" y="5486400"/>
            <a:ext cx="10820095" cy="914400"/>
          </a:xfrm>
          <a:prstGeom prst="roundRect">
            <a:avLst>
              <a:gd name="adj" fmla="val 7000"/>
            </a:avLst>
          </a:prstGeom>
          <a:solidFill>
            <a:srgbClr val="3E2F38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5486400"/>
            <a:ext cx="9997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言語化ができていないと、価格でしか比べてもらえません。できると、「この人から買いたい」で選ばれます。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92608"/>
            <a:ext cx="1024128" cy="310896"/>
          </a:xfrm>
          <a:prstGeom prst="roundRect">
            <a:avLst>
              <a:gd name="adj" fmla="val 23529"/>
            </a:avLst>
          </a:prstGeom>
          <a:solidFill>
            <a:srgbClr val="C08F97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926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65415" y="2926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Fashion  ×  Psychology  ×  AI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ミニワーク：この一文を埋める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3分間。完璧でなくて構いません ―― 下書きで大丈夫です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10820095" cy="1828800"/>
          </a:xfrm>
          <a:prstGeom prst="roundRect">
            <a:avLst>
              <a:gd name="adj" fmla="val 3500"/>
            </a:avLst>
          </a:prstGeom>
          <a:solidFill>
            <a:srgbClr val="3E2F38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920240"/>
            <a:ext cx="99056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「（　　　　　　）な人が、（　　　　　　）できるように</a:t>
            </a:r>
            <a:endParaRPr lang="en-US" sz="21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　なるお手伝いをしています。それは私が（　　　　　　）だからです。」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85800" y="3977640"/>
            <a:ext cx="3429000" cy="1554480"/>
          </a:xfrm>
          <a:prstGeom prst="roundRect">
            <a:avLst>
              <a:gd name="adj" fmla="val 4118"/>
            </a:avLst>
          </a:prstGeom>
          <a:solidFill>
            <a:srgbClr val="F7F3F0"/>
          </a:solidFill>
          <a:ln/>
          <a:effectLst>
            <a:outerShdw sx="100000" sy="100000" kx="0" ky="0" algn="bl" rotWithShape="0" blurRad="127000" dist="25400" dir="5400000">
              <a:srgbClr val="9A889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41148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1つめのカッコ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440740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理想のお客様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480974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年齢や性別で止めない。困っている場面まで降ろす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98848" y="3977640"/>
            <a:ext cx="3429000" cy="1554480"/>
          </a:xfrm>
          <a:prstGeom prst="roundRect">
            <a:avLst>
              <a:gd name="adj" fmla="val 4118"/>
            </a:avLst>
          </a:prstGeom>
          <a:solidFill>
            <a:srgbClr val="F7F3F0"/>
          </a:solidFill>
          <a:ln/>
          <a:effectLst>
            <a:outerShdw sx="100000" sy="100000" kx="0" ky="0" algn="bl" rotWithShape="0" blurRad="127000" dist="25400" dir="5400000">
              <a:srgbClr val="9A889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18888" y="41148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2つめのカッコ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18888" y="440740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提供できる変化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818888" y="480974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できるようになること。その結果の気持ちの変化まで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311896" y="3977640"/>
            <a:ext cx="3429000" cy="1554480"/>
          </a:xfrm>
          <a:prstGeom prst="roundRect">
            <a:avLst>
              <a:gd name="adj" fmla="val 4118"/>
            </a:avLst>
          </a:prstGeom>
          <a:solidFill>
            <a:srgbClr val="F7F3F0"/>
          </a:solidFill>
          <a:ln/>
          <a:effectLst>
            <a:outerShdw sx="100000" sy="100000" kx="0" ky="0" algn="bl" rotWithShape="0" blurRad="127000" dist="25400" dir="5400000">
              <a:srgbClr val="9A889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31936" y="41148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3つめのカッコ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31936" y="440740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専門性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631936" y="480974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理論・心理学・現場経験。当事者だったことも強い材料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5760720"/>
            <a:ext cx="10820095" cy="731520"/>
          </a:xfrm>
          <a:prstGeom prst="roundRect">
            <a:avLst>
              <a:gd name="adj" fmla="val 8750"/>
            </a:avLst>
          </a:prstGeom>
          <a:solidFill>
            <a:srgbClr val="E3C9CD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76072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書けなかった箇所が、今月のあなたの課題です。空欄のまま次に進まないでください。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92608"/>
            <a:ext cx="1024128" cy="310896"/>
          </a:xfrm>
          <a:prstGeom prst="roundRect">
            <a:avLst>
              <a:gd name="adj" fmla="val 23529"/>
            </a:avLst>
          </a:prstGeom>
          <a:solidFill>
            <a:srgbClr val="C08F97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926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65415" y="2926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Fashion  ×  Psychology  ×  AI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選ばれる理由を決める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「誰もやっていないこと」を探さない。決めるのは3つだけです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10820095" cy="1078992"/>
          </a:xfrm>
          <a:prstGeom prst="roundRect">
            <a:avLst>
              <a:gd name="adj" fmla="val 5085"/>
            </a:avLst>
          </a:prstGeom>
          <a:solidFill>
            <a:srgbClr val="F7F3F0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2148840"/>
            <a:ext cx="530352" cy="530352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1488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645920" y="20025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理想のお客様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45920" y="24048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年齢・性別で止めない。困っている場面まで降ろす。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80760" y="2057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i="1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例：子どもの入学式で、浮かないけれど埋もれない服が分からない40代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3118104"/>
            <a:ext cx="10820095" cy="1078992"/>
          </a:xfrm>
          <a:prstGeom prst="roundRect">
            <a:avLst>
              <a:gd name="adj" fmla="val 5085"/>
            </a:avLst>
          </a:prstGeom>
          <a:solidFill>
            <a:srgbClr val="EAE3DD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" y="3392424"/>
            <a:ext cx="530352" cy="530352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3924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645920" y="3246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その人の「詰まり」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645920" y="364845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何を着ればいいか分からない／買っても着ない／自信が持てない。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80760" y="330098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i="1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詰まりの解像度が、そのままあなたの専門性の解像度になります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4361688"/>
            <a:ext cx="10820095" cy="1078992"/>
          </a:xfrm>
          <a:prstGeom prst="roundRect">
            <a:avLst>
              <a:gd name="adj" fmla="val 5085"/>
            </a:avLst>
          </a:prstGeom>
          <a:solidFill>
            <a:srgbClr val="F7F3F0"/>
          </a:solidFill>
          <a:ln/>
        </p:spPr>
      </p:sp>
      <p:sp>
        <p:nvSpPr>
          <p:cNvPr id="20" name="Shape 18"/>
          <p:cNvSpPr/>
          <p:nvPr/>
        </p:nvSpPr>
        <p:spPr>
          <a:xfrm>
            <a:off x="960120" y="4636008"/>
            <a:ext cx="530352" cy="530352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6360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645920" y="44897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あなたを選ぶ理由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645920" y="4892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同じような人は他にもいます。その中であなたである理由。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80760" y="454456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i="1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「感覚で選んでいる」ではなく「理論として説明できる」ことは、それ自体が理由になります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5800" y="5669280"/>
            <a:ext cx="10820095" cy="822960"/>
          </a:xfrm>
          <a:prstGeom prst="roundRect">
            <a:avLst>
              <a:gd name="adj" fmla="val 7778"/>
            </a:avLst>
          </a:prstGeom>
          <a:solidFill>
            <a:srgbClr val="3E2F38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5669280"/>
            <a:ext cx="9997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絞るのは「発信の入口」だけです。買ってくださる方を制限するわけではありません。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92608"/>
            <a:ext cx="1024128" cy="310896"/>
          </a:xfrm>
          <a:prstGeom prst="roundRect">
            <a:avLst>
              <a:gd name="adj" fmla="val 23529"/>
            </a:avLst>
          </a:prstGeom>
          <a:solidFill>
            <a:srgbClr val="C08F97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926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65415" y="2926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Fashion  ×  Psychology  ×  AI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商品設計 ― 3層をつくる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良い方ほど、ここが弱いです。単発で疲弊する原因は「商品が1層しかない」こと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10820095" cy="960120"/>
          </a:xfrm>
          <a:prstGeom prst="roundRect">
            <a:avLst>
              <a:gd name="adj" fmla="val 5714"/>
            </a:avLst>
          </a:prstGeom>
          <a:solidFill>
            <a:srgbClr val="3E2F38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65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本命商品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23865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変化を届ける。利益はここで取る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43400" y="2002536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サービス型　</a:t>
            </a:r>
            <a:pPr indent="0" marL="0">
              <a:buNone/>
            </a:pPr>
            <a:r>
              <a:rPr lang="en-US" sz="12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継続スタイリング／パーソナル講座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43400" y="2368296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物販型　　　</a:t>
            </a:r>
            <a:pPr indent="0" marL="0">
              <a:buNone/>
            </a:pPr>
            <a:r>
              <a:rPr lang="en-US" sz="12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主力アイテム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2990088"/>
            <a:ext cx="10820095" cy="960120"/>
          </a:xfrm>
          <a:prstGeom prst="roundRect">
            <a:avLst>
              <a:gd name="adj" fmla="val 5714"/>
            </a:avLst>
          </a:prstGeom>
          <a:solidFill>
            <a:srgbClr val="EAE3DD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0815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入口商品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35021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はじめての方が試せる。役割は出会いの数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43400" y="311810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サービス型　</a:t>
            </a:r>
            <a:pPr indent="0" marL="0">
              <a:buNone/>
            </a:pPr>
            <a:r>
              <a:rPr lang="en-US" sz="12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診断メニュー／単発相談／体験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43400" y="348386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物販型　　　</a:t>
            </a:r>
            <a:pPr indent="0" marL="0">
              <a:buNone/>
            </a:pPr>
            <a:r>
              <a:rPr lang="en-US" sz="12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小物・定番アイテム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4105656"/>
            <a:ext cx="10820095" cy="960120"/>
          </a:xfrm>
          <a:prstGeom prst="roundRect">
            <a:avLst>
              <a:gd name="adj" fmla="val 5714"/>
            </a:avLst>
          </a:prstGeom>
          <a:solidFill>
            <a:srgbClr val="F7F3F0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19709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継続商品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" y="4617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一度買ってくださった方の2回目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43400" y="423367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サービス型　</a:t>
            </a:r>
            <a:pPr indent="0" marL="0">
              <a:buNone/>
            </a:pPr>
            <a:r>
              <a:rPr lang="en-US" sz="12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月額フォロー／定期の見直し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343400" y="459943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物販型　　　</a:t>
            </a:r>
            <a:pPr indent="0" marL="0">
              <a:buNone/>
            </a:pPr>
            <a:r>
              <a:rPr lang="en-US" sz="12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色違い・セット販売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5349240"/>
            <a:ext cx="10820095" cy="1051560"/>
          </a:xfrm>
          <a:prstGeom prst="roundRect">
            <a:avLst>
              <a:gd name="adj" fmla="val 6087"/>
            </a:avLst>
          </a:prstGeom>
          <a:solidFill>
            <a:srgbClr val="3E2F38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5349240"/>
            <a:ext cx="99971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順番のコツ：本命商品から先に決めてください。入口から作ると「入口だけ買われて終わり」になります。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本命が決まっていれば、入口商品は「本命の一部を切り出したもの」として自然に作れます。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65415" y="2926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Fashion  ×  Psychology  ×  AI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3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この講座の土台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108200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お客様が買っているのは、服そのものではなく、</a:t>
            </a:r>
            <a:endParaRPr lang="en-US" sz="27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その先にある「自己イメージ」と「変化」。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85800" y="27432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自信を持ちたい／今の自分を変えたい／新しいステージに進みたい／人からどう見られるかを整えたい／自分らしくありたい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3429000"/>
            <a:ext cx="5212080" cy="2057400"/>
          </a:xfrm>
          <a:prstGeom prst="roundRect">
            <a:avLst>
              <a:gd name="adj" fmla="val 3111"/>
            </a:avLst>
          </a:prstGeom>
          <a:solidFill>
            <a:srgbClr val="2A1F2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機能の説明で止まると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400507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EAE3D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「シワになりにくい素材です」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4937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比較され、価格で負ける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91072" y="3429000"/>
            <a:ext cx="5212080" cy="2057400"/>
          </a:xfrm>
          <a:prstGeom prst="roundRect">
            <a:avLst>
              <a:gd name="adj" fmla="val 3111"/>
            </a:avLst>
          </a:prstGeom>
          <a:solidFill>
            <a:srgbClr val="F7F3F0"/>
          </a:solidFill>
          <a:ln/>
        </p:spPr>
      </p:sp>
      <p:sp>
        <p:nvSpPr>
          <p:cNvPr id="11" name="Text 9"/>
          <p:cNvSpPr/>
          <p:nvPr/>
        </p:nvSpPr>
        <p:spPr>
          <a:xfrm>
            <a:off x="6611112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自己イメージの話にすると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11112" y="400507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「打ち合わせが続く日でも、夕方に鏡を見てがっかりしなくて済みます」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11112" y="4937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同じ商品でも、選ばれる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" y="571500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表面の売り方を学んだ人と、「人がなぜ選ぶのか」を理解している人とでは、長い目で見て圧倒的に差がつきます。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92608"/>
            <a:ext cx="1024128" cy="310896"/>
          </a:xfrm>
          <a:prstGeom prst="roundRect">
            <a:avLst>
              <a:gd name="adj" fmla="val 23529"/>
            </a:avLst>
          </a:prstGeom>
          <a:solidFill>
            <a:srgbClr val="C08F97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926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65415" y="2926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Fashion  ×  Psychology  ×  AI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発信設計 ― 3種類に分ける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反応がない原因は、全部の投稿が同じ役割になっていることです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3429000" cy="2697480"/>
          </a:xfrm>
          <a:prstGeom prst="roundRect">
            <a:avLst>
              <a:gd name="adj" fmla="val 2373"/>
            </a:avLst>
          </a:prstGeom>
          <a:solidFill>
            <a:srgbClr val="F7F3F0"/>
          </a:solidFill>
          <a:ln/>
          <a:effectLst>
            <a:outerShdw sx="100000" sy="100000" kx="0" ky="0" algn="bl" rotWithShape="0" blurRad="127000" dist="25400" dir="5400000">
              <a:srgbClr val="9A889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33272" y="2057400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まだ知らない人へ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33272" y="2377440"/>
            <a:ext cx="27340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興味を持たれる発信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33272" y="3127248"/>
            <a:ext cx="2734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ブランドの話も想いも語らない。その人が今日役に立つ話をする。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33272" y="4059936"/>
            <a:ext cx="2734056" cy="365760"/>
          </a:xfrm>
          <a:prstGeom prst="roundRect">
            <a:avLst>
              <a:gd name="adj" fmla="val 22500"/>
            </a:avLst>
          </a:prstGeom>
          <a:solidFill>
            <a:srgbClr val="3E2F38"/>
          </a:solidFill>
          <a:ln/>
        </p:spPr>
      </p:sp>
      <p:sp>
        <p:nvSpPr>
          <p:cNvPr id="12" name="Text 10"/>
          <p:cNvSpPr/>
          <p:nvPr/>
        </p:nvSpPr>
        <p:spPr>
          <a:xfrm>
            <a:off x="1033272" y="4059936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リール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98848" y="1874520"/>
            <a:ext cx="3429000" cy="2697480"/>
          </a:xfrm>
          <a:prstGeom prst="roundRect">
            <a:avLst>
              <a:gd name="adj" fmla="val 2373"/>
            </a:avLst>
          </a:prstGeom>
          <a:solidFill>
            <a:srgbClr val="F7F3F0"/>
          </a:solidFill>
          <a:ln/>
          <a:effectLst>
            <a:outerShdw sx="100000" sy="100000" kx="0" ky="0" algn="bl" rotWithShape="0" blurRad="127000" dist="25400" dir="5400000">
              <a:srgbClr val="9A889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2057400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気になっている人へ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377440"/>
            <a:ext cx="27340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信頼される発信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846320" y="3127248"/>
            <a:ext cx="2734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背景と過程を見せる。なぜその素材か、失敗した試作、お客様の変化。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4059936"/>
            <a:ext cx="2734056" cy="365760"/>
          </a:xfrm>
          <a:prstGeom prst="roundRect">
            <a:avLst>
              <a:gd name="adj" fmla="val 22500"/>
            </a:avLst>
          </a:prstGeom>
          <a:solidFill>
            <a:srgbClr val="3E2F38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4059936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教育動画・フィード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11896" y="1874520"/>
            <a:ext cx="3429000" cy="2697480"/>
          </a:xfrm>
          <a:prstGeom prst="roundRect">
            <a:avLst>
              <a:gd name="adj" fmla="val 2373"/>
            </a:avLst>
          </a:prstGeom>
          <a:solidFill>
            <a:srgbClr val="F7F3F0"/>
          </a:solidFill>
          <a:ln/>
          <a:effectLst>
            <a:outerShdw sx="100000" sy="100000" kx="0" ky="0" algn="bl" rotWithShape="0" blurRad="127000" dist="25400" dir="5400000">
              <a:srgbClr val="9A889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59368" y="2057400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迷っている人へ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59368" y="2377440"/>
            <a:ext cx="27340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欲しいと思われる発信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659368" y="3127248"/>
            <a:ext cx="2734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情緒ではなく事実。サイズ感、着比べ、当日の流れ、返品交換の条件。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659368" y="4059936"/>
            <a:ext cx="2734056" cy="365760"/>
          </a:xfrm>
          <a:prstGeom prst="roundRect">
            <a:avLst>
              <a:gd name="adj" fmla="val 22500"/>
            </a:avLst>
          </a:prstGeom>
          <a:solidFill>
            <a:srgbClr val="3E2F38"/>
          </a:solidFill>
          <a:ln/>
        </p:spPr>
      </p:sp>
      <p:sp>
        <p:nvSpPr>
          <p:cNvPr id="24" name="Text 22"/>
          <p:cNvSpPr/>
          <p:nvPr/>
        </p:nvSpPr>
        <p:spPr>
          <a:xfrm>
            <a:off x="8659368" y="4059936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ストーリーズ・商品ページ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4800600"/>
            <a:ext cx="10820095" cy="777240"/>
          </a:xfrm>
          <a:prstGeom prst="roundRect">
            <a:avLst>
              <a:gd name="adj" fmla="val 8235"/>
            </a:avLst>
          </a:prstGeom>
          <a:solidFill>
            <a:srgbClr val="EAE3DD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4800600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興味ばかり → フォロワーは増えるのに売れない　／　欲しいばかり → 売り込みが強く見えて離れられる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" y="5760720"/>
            <a:ext cx="10820095" cy="731520"/>
          </a:xfrm>
          <a:prstGeom prst="roundRect">
            <a:avLst>
              <a:gd name="adj" fmla="val 8750"/>
            </a:avLst>
          </a:prstGeom>
          <a:solidFill>
            <a:srgbClr val="E3C9CD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" y="576072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ワーク：直近10投稿をこの3つに仕分けしてください。だいたい偏っています。そこが今の詰まりです。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92608"/>
            <a:ext cx="1024128" cy="310896"/>
          </a:xfrm>
          <a:prstGeom prst="roundRect">
            <a:avLst>
              <a:gd name="adj" fmla="val 23529"/>
            </a:avLst>
          </a:prstGeom>
          <a:solidFill>
            <a:srgbClr val="C08F97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926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65415" y="2926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Fashion  ×  Psychology  ×  AI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リール・教育動画は「型」で作る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毎回ゼロから考えるから続きません。型を持ってください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リールの型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2313432"/>
            <a:ext cx="2595296" cy="1051560"/>
          </a:xfrm>
          <a:prstGeom prst="roundRect">
            <a:avLst>
              <a:gd name="adj" fmla="val 5217"/>
            </a:avLst>
          </a:prstGeom>
          <a:solidFill>
            <a:srgbClr val="F7F3F0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" y="2423160"/>
            <a:ext cx="226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　つかみ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0392" y="2752344"/>
            <a:ext cx="226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最初の2秒で「私のことだ」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27400" y="2313432"/>
            <a:ext cx="2595296" cy="1051560"/>
          </a:xfrm>
          <a:prstGeom prst="roundRect">
            <a:avLst>
              <a:gd name="adj" fmla="val 5217"/>
            </a:avLst>
          </a:prstGeom>
          <a:solidFill>
            <a:srgbClr val="F7F3F0"/>
          </a:solidFill>
          <a:ln/>
        </p:spPr>
      </p:sp>
      <p:sp>
        <p:nvSpPr>
          <p:cNvPr id="12" name="Text 10"/>
          <p:cNvSpPr/>
          <p:nvPr/>
        </p:nvSpPr>
        <p:spPr>
          <a:xfrm>
            <a:off x="3591992" y="2423160"/>
            <a:ext cx="226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　共感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91992" y="2752344"/>
            <a:ext cx="226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そうなりますよね、と受け止める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69000" y="2313432"/>
            <a:ext cx="2595296" cy="1051560"/>
          </a:xfrm>
          <a:prstGeom prst="roundRect">
            <a:avLst>
              <a:gd name="adj" fmla="val 5217"/>
            </a:avLst>
          </a:prstGeom>
          <a:solidFill>
            <a:srgbClr val="F7F3F0"/>
          </a:solidFill>
          <a:ln/>
        </p:spPr>
      </p:sp>
      <p:sp>
        <p:nvSpPr>
          <p:cNvPr id="15" name="Text 13"/>
          <p:cNvSpPr/>
          <p:nvPr/>
        </p:nvSpPr>
        <p:spPr>
          <a:xfrm>
            <a:off x="6333592" y="2423160"/>
            <a:ext cx="226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　答え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33592" y="2752344"/>
            <a:ext cx="226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今日役に立つことを1つだけ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10599" y="2313432"/>
            <a:ext cx="2595296" cy="1051560"/>
          </a:xfrm>
          <a:prstGeom prst="roundRect">
            <a:avLst>
              <a:gd name="adj" fmla="val 5217"/>
            </a:avLst>
          </a:prstGeom>
          <a:solidFill>
            <a:srgbClr val="F7F3F0"/>
          </a:solidFill>
          <a:ln/>
        </p:spPr>
      </p:sp>
      <p:sp>
        <p:nvSpPr>
          <p:cNvPr id="18" name="Text 16"/>
          <p:cNvSpPr/>
          <p:nvPr/>
        </p:nvSpPr>
        <p:spPr>
          <a:xfrm>
            <a:off x="9075191" y="2423160"/>
            <a:ext cx="226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　次の一歩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075191" y="2752344"/>
            <a:ext cx="226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保存／プロフィールへ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" y="3657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教育動画の型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5800" y="4096512"/>
            <a:ext cx="2046976" cy="1051560"/>
          </a:xfrm>
          <a:prstGeom prst="roundRect">
            <a:avLst>
              <a:gd name="adj" fmla="val 5217"/>
            </a:avLst>
          </a:prstGeom>
          <a:solidFill>
            <a:srgbClr val="EAE3DD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" y="4206240"/>
            <a:ext cx="171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　誰のための話か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50392" y="4535424"/>
            <a:ext cx="171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今日の対象をはっきり言う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879080" y="4096512"/>
            <a:ext cx="2046976" cy="1051560"/>
          </a:xfrm>
          <a:prstGeom prst="roundRect">
            <a:avLst>
              <a:gd name="adj" fmla="val 5217"/>
            </a:avLst>
          </a:prstGeom>
          <a:solidFill>
            <a:srgbClr val="EAE3DD"/>
          </a:solidFill>
          <a:ln/>
        </p:spPr>
      </p:sp>
      <p:sp>
        <p:nvSpPr>
          <p:cNvPr id="25" name="Text 23"/>
          <p:cNvSpPr/>
          <p:nvPr/>
        </p:nvSpPr>
        <p:spPr>
          <a:xfrm>
            <a:off x="3043672" y="4206240"/>
            <a:ext cx="171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　なぜそうなるのか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043672" y="4535424"/>
            <a:ext cx="171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原因は能力ではなく設計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72360" y="4096512"/>
            <a:ext cx="2046976" cy="1051560"/>
          </a:xfrm>
          <a:prstGeom prst="roundRect">
            <a:avLst>
              <a:gd name="adj" fmla="val 5217"/>
            </a:avLst>
          </a:prstGeom>
          <a:solidFill>
            <a:srgbClr val="EAE3DD"/>
          </a:solidFill>
          <a:ln/>
        </p:spPr>
      </p:sp>
      <p:sp>
        <p:nvSpPr>
          <p:cNvPr id="28" name="Text 26"/>
          <p:cNvSpPr/>
          <p:nvPr/>
        </p:nvSpPr>
        <p:spPr>
          <a:xfrm>
            <a:off x="5236952" y="4206240"/>
            <a:ext cx="171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　整えるポイント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236952" y="4535424"/>
            <a:ext cx="171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3つまでに絞る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265640" y="4096512"/>
            <a:ext cx="2046976" cy="1051560"/>
          </a:xfrm>
          <a:prstGeom prst="roundRect">
            <a:avLst>
              <a:gd name="adj" fmla="val 5217"/>
            </a:avLst>
          </a:prstGeom>
          <a:solidFill>
            <a:srgbClr val="EAE3DD"/>
          </a:solidFill>
          <a:ln/>
        </p:spPr>
      </p:sp>
      <p:sp>
        <p:nvSpPr>
          <p:cNvPr id="31" name="Text 29"/>
          <p:cNvSpPr/>
          <p:nvPr/>
        </p:nvSpPr>
        <p:spPr>
          <a:xfrm>
            <a:off x="7430232" y="4206240"/>
            <a:ext cx="171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　自分の場合は？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430232" y="4535424"/>
            <a:ext cx="171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整理が必要だと気づいてもらう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458919" y="4096512"/>
            <a:ext cx="2046976" cy="1051560"/>
          </a:xfrm>
          <a:prstGeom prst="roundRect">
            <a:avLst>
              <a:gd name="adj" fmla="val 5217"/>
            </a:avLst>
          </a:prstGeom>
          <a:solidFill>
            <a:srgbClr val="EAE3DD"/>
          </a:solidFill>
          <a:ln/>
        </p:spPr>
      </p:sp>
      <p:sp>
        <p:nvSpPr>
          <p:cNvPr id="34" name="Text 32"/>
          <p:cNvSpPr/>
          <p:nvPr/>
        </p:nvSpPr>
        <p:spPr>
          <a:xfrm>
            <a:off x="9623511" y="4206240"/>
            <a:ext cx="171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　次の案内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623511" y="4535424"/>
            <a:ext cx="171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個別相談・次回へ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85800" y="5577840"/>
            <a:ext cx="10820095" cy="914400"/>
          </a:xfrm>
          <a:prstGeom prst="roundRect">
            <a:avLst>
              <a:gd name="adj" fmla="val 7000"/>
            </a:avLst>
          </a:prstGeom>
          <a:solidFill>
            <a:srgbClr val="3E2F38"/>
          </a:solidFill>
          <a:ln/>
        </p:spPr>
      </p:sp>
      <p:sp>
        <p:nvSpPr>
          <p:cNvPr id="37" name="Text 35"/>
          <p:cNvSpPr/>
          <p:nvPr/>
        </p:nvSpPr>
        <p:spPr>
          <a:xfrm>
            <a:off x="1097280" y="5577840"/>
            <a:ext cx="9997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教育動画の②が肝心です。うまくいかない理由を、その人の能力のせいにしない。「設計がまだできていないだけ」と伝えると、人は動けます。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92608"/>
            <a:ext cx="1024128" cy="310896"/>
          </a:xfrm>
          <a:prstGeom prst="roundRect">
            <a:avLst>
              <a:gd name="adj" fmla="val 23529"/>
            </a:avLst>
          </a:prstGeom>
          <a:solidFill>
            <a:srgbClr val="C08F97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926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65415" y="2926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Fashion  ×  Psychology  ×  AI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販売導線 ― 点を線にする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どれだけ良い商品でも、ここが抜けると売上につながりません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サービス型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48840" y="2020824"/>
            <a:ext cx="1452829" cy="621792"/>
          </a:xfrm>
          <a:prstGeom prst="roundRect">
            <a:avLst>
              <a:gd name="adj" fmla="val 8824"/>
            </a:avLst>
          </a:prstGeom>
          <a:solidFill>
            <a:srgbClr val="F7F3F0"/>
          </a:solidFill>
          <a:ln/>
        </p:spPr>
      </p:sp>
      <p:sp>
        <p:nvSpPr>
          <p:cNvPr id="9" name="Text 7"/>
          <p:cNvSpPr/>
          <p:nvPr/>
        </p:nvSpPr>
        <p:spPr>
          <a:xfrm>
            <a:off x="2203704" y="2020824"/>
            <a:ext cx="134310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Instagram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3615385" y="2267712"/>
            <a:ext cx="91440" cy="128016"/>
          </a:xfrm>
          <a:prstGeom prst="triangle">
            <a:avLst/>
          </a:prstGeom>
          <a:solidFill>
            <a:srgbClr val="C08F97"/>
          </a:solidFill>
          <a:ln/>
        </p:spPr>
      </p:sp>
      <p:sp>
        <p:nvSpPr>
          <p:cNvPr id="11" name="Shape 9"/>
          <p:cNvSpPr/>
          <p:nvPr/>
        </p:nvSpPr>
        <p:spPr>
          <a:xfrm>
            <a:off x="3729685" y="2020824"/>
            <a:ext cx="1452829" cy="621792"/>
          </a:xfrm>
          <a:prstGeom prst="roundRect">
            <a:avLst>
              <a:gd name="adj" fmla="val 8824"/>
            </a:avLst>
          </a:prstGeom>
          <a:solidFill>
            <a:srgbClr val="F7F3F0"/>
          </a:solidFill>
          <a:ln/>
        </p:spPr>
      </p:sp>
      <p:sp>
        <p:nvSpPr>
          <p:cNvPr id="12" name="Text 10"/>
          <p:cNvSpPr/>
          <p:nvPr/>
        </p:nvSpPr>
        <p:spPr>
          <a:xfrm>
            <a:off x="3784549" y="2020824"/>
            <a:ext cx="134310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プロフィール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rot="5400000">
            <a:off x="5196230" y="2267712"/>
            <a:ext cx="91440" cy="128016"/>
          </a:xfrm>
          <a:prstGeom prst="triangle">
            <a:avLst/>
          </a:prstGeom>
          <a:solidFill>
            <a:srgbClr val="C08F97"/>
          </a:solidFill>
          <a:ln/>
        </p:spPr>
      </p:sp>
      <p:sp>
        <p:nvSpPr>
          <p:cNvPr id="14" name="Shape 12"/>
          <p:cNvSpPr/>
          <p:nvPr/>
        </p:nvSpPr>
        <p:spPr>
          <a:xfrm>
            <a:off x="5310530" y="2020824"/>
            <a:ext cx="1452829" cy="621792"/>
          </a:xfrm>
          <a:prstGeom prst="roundRect">
            <a:avLst>
              <a:gd name="adj" fmla="val 8824"/>
            </a:avLst>
          </a:prstGeom>
          <a:solidFill>
            <a:srgbClr val="F7F3F0"/>
          </a:solidFill>
          <a:ln/>
        </p:spPr>
      </p:sp>
      <p:sp>
        <p:nvSpPr>
          <p:cNvPr id="15" name="Text 13"/>
          <p:cNvSpPr/>
          <p:nvPr/>
        </p:nvSpPr>
        <p:spPr>
          <a:xfrm>
            <a:off x="5365394" y="2020824"/>
            <a:ext cx="134310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LINE登録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5400000">
            <a:off x="6777076" y="2267712"/>
            <a:ext cx="91440" cy="128016"/>
          </a:xfrm>
          <a:prstGeom prst="triangle">
            <a:avLst/>
          </a:prstGeom>
          <a:solidFill>
            <a:srgbClr val="C08F97"/>
          </a:solidFill>
          <a:ln/>
        </p:spPr>
      </p:sp>
      <p:sp>
        <p:nvSpPr>
          <p:cNvPr id="17" name="Shape 15"/>
          <p:cNvSpPr/>
          <p:nvPr/>
        </p:nvSpPr>
        <p:spPr>
          <a:xfrm>
            <a:off x="6891376" y="2020824"/>
            <a:ext cx="1452829" cy="621792"/>
          </a:xfrm>
          <a:prstGeom prst="roundRect">
            <a:avLst>
              <a:gd name="adj" fmla="val 8824"/>
            </a:avLst>
          </a:prstGeom>
          <a:solidFill>
            <a:srgbClr val="F7F3F0"/>
          </a:solidFill>
          <a:ln/>
        </p:spPr>
      </p:sp>
      <p:sp>
        <p:nvSpPr>
          <p:cNvPr id="18" name="Text 16"/>
          <p:cNvSpPr/>
          <p:nvPr/>
        </p:nvSpPr>
        <p:spPr>
          <a:xfrm>
            <a:off x="6946240" y="2020824"/>
            <a:ext cx="134310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教育の流れ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rot="5400000">
            <a:off x="8357921" y="2267712"/>
            <a:ext cx="91440" cy="128016"/>
          </a:xfrm>
          <a:prstGeom prst="triangle">
            <a:avLst/>
          </a:prstGeom>
          <a:solidFill>
            <a:srgbClr val="C08F97"/>
          </a:solidFill>
          <a:ln/>
        </p:spPr>
      </p:sp>
      <p:sp>
        <p:nvSpPr>
          <p:cNvPr id="20" name="Shape 18"/>
          <p:cNvSpPr/>
          <p:nvPr/>
        </p:nvSpPr>
        <p:spPr>
          <a:xfrm>
            <a:off x="8472221" y="2020824"/>
            <a:ext cx="1452829" cy="621792"/>
          </a:xfrm>
          <a:prstGeom prst="roundRect">
            <a:avLst>
              <a:gd name="adj" fmla="val 8824"/>
            </a:avLst>
          </a:prstGeom>
          <a:solidFill>
            <a:srgbClr val="F7F3F0"/>
          </a:solidFill>
          <a:ln/>
        </p:spPr>
      </p:sp>
      <p:sp>
        <p:nvSpPr>
          <p:cNvPr id="21" name="Text 19"/>
          <p:cNvSpPr/>
          <p:nvPr/>
        </p:nvSpPr>
        <p:spPr>
          <a:xfrm>
            <a:off x="8527085" y="2020824"/>
            <a:ext cx="134310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個別相談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rot="5400000">
            <a:off x="9938766" y="2267712"/>
            <a:ext cx="91440" cy="128016"/>
          </a:xfrm>
          <a:prstGeom prst="triangle">
            <a:avLst/>
          </a:prstGeom>
          <a:solidFill>
            <a:srgbClr val="C08F97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53066" y="2020824"/>
            <a:ext cx="1452829" cy="621792"/>
          </a:xfrm>
          <a:prstGeom prst="roundRect">
            <a:avLst>
              <a:gd name="adj" fmla="val 8824"/>
            </a:avLst>
          </a:prstGeom>
          <a:solidFill>
            <a:srgbClr val="F7F3F0"/>
          </a:solidFill>
          <a:ln/>
        </p:spPr>
      </p:sp>
      <p:sp>
        <p:nvSpPr>
          <p:cNvPr id="24" name="Text 22"/>
          <p:cNvSpPr/>
          <p:nvPr/>
        </p:nvSpPr>
        <p:spPr>
          <a:xfrm>
            <a:off x="10107930" y="2020824"/>
            <a:ext cx="134310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本命商品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31089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物販型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2148840" y="3255264"/>
            <a:ext cx="1452829" cy="621792"/>
          </a:xfrm>
          <a:prstGeom prst="roundRect">
            <a:avLst>
              <a:gd name="adj" fmla="val 8824"/>
            </a:avLst>
          </a:prstGeom>
          <a:solidFill>
            <a:srgbClr val="EAE3DD"/>
          </a:solidFill>
          <a:ln/>
        </p:spPr>
      </p:sp>
      <p:sp>
        <p:nvSpPr>
          <p:cNvPr id="27" name="Text 25"/>
          <p:cNvSpPr/>
          <p:nvPr/>
        </p:nvSpPr>
        <p:spPr>
          <a:xfrm>
            <a:off x="2203704" y="3255264"/>
            <a:ext cx="134310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Instagram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 rot="5400000">
            <a:off x="3615385" y="3502152"/>
            <a:ext cx="91440" cy="128016"/>
          </a:xfrm>
          <a:prstGeom prst="triangle">
            <a:avLst/>
          </a:prstGeom>
          <a:solidFill>
            <a:srgbClr val="C08F97"/>
          </a:solidFill>
          <a:ln/>
        </p:spPr>
      </p:sp>
      <p:sp>
        <p:nvSpPr>
          <p:cNvPr id="29" name="Shape 27"/>
          <p:cNvSpPr/>
          <p:nvPr/>
        </p:nvSpPr>
        <p:spPr>
          <a:xfrm>
            <a:off x="3729685" y="3255264"/>
            <a:ext cx="1452829" cy="621792"/>
          </a:xfrm>
          <a:prstGeom prst="roundRect">
            <a:avLst>
              <a:gd name="adj" fmla="val 8824"/>
            </a:avLst>
          </a:prstGeom>
          <a:solidFill>
            <a:srgbClr val="EAE3DD"/>
          </a:solidFill>
          <a:ln/>
        </p:spPr>
      </p:sp>
      <p:sp>
        <p:nvSpPr>
          <p:cNvPr id="30" name="Text 28"/>
          <p:cNvSpPr/>
          <p:nvPr/>
        </p:nvSpPr>
        <p:spPr>
          <a:xfrm>
            <a:off x="3784549" y="3255264"/>
            <a:ext cx="134310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世界観・ストーリー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 rot="5400000">
            <a:off x="5196230" y="3502152"/>
            <a:ext cx="91440" cy="128016"/>
          </a:xfrm>
          <a:prstGeom prst="triangle">
            <a:avLst/>
          </a:prstGeom>
          <a:solidFill>
            <a:srgbClr val="C08F97"/>
          </a:solidFill>
          <a:ln/>
        </p:spPr>
      </p:sp>
      <p:sp>
        <p:nvSpPr>
          <p:cNvPr id="32" name="Shape 30"/>
          <p:cNvSpPr/>
          <p:nvPr/>
        </p:nvSpPr>
        <p:spPr>
          <a:xfrm>
            <a:off x="5310530" y="3255264"/>
            <a:ext cx="1452829" cy="621792"/>
          </a:xfrm>
          <a:prstGeom prst="roundRect">
            <a:avLst>
              <a:gd name="adj" fmla="val 8824"/>
            </a:avLst>
          </a:prstGeom>
          <a:solidFill>
            <a:srgbClr val="EAE3DD"/>
          </a:solidFill>
          <a:ln/>
        </p:spPr>
      </p:sp>
      <p:sp>
        <p:nvSpPr>
          <p:cNvPr id="33" name="Text 31"/>
          <p:cNvSpPr/>
          <p:nvPr/>
        </p:nvSpPr>
        <p:spPr>
          <a:xfrm>
            <a:off x="5365394" y="3255264"/>
            <a:ext cx="134310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商品ページ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 rot="5400000">
            <a:off x="6777076" y="3502152"/>
            <a:ext cx="91440" cy="128016"/>
          </a:xfrm>
          <a:prstGeom prst="triangle">
            <a:avLst/>
          </a:prstGeom>
          <a:solidFill>
            <a:srgbClr val="C08F97"/>
          </a:solidFill>
          <a:ln/>
        </p:spPr>
      </p:sp>
      <p:sp>
        <p:nvSpPr>
          <p:cNvPr id="35" name="Shape 33"/>
          <p:cNvSpPr/>
          <p:nvPr/>
        </p:nvSpPr>
        <p:spPr>
          <a:xfrm>
            <a:off x="6891376" y="3255264"/>
            <a:ext cx="1452829" cy="621792"/>
          </a:xfrm>
          <a:prstGeom prst="roundRect">
            <a:avLst>
              <a:gd name="adj" fmla="val 8824"/>
            </a:avLst>
          </a:prstGeom>
          <a:solidFill>
            <a:srgbClr val="EAE3DD"/>
          </a:solidFill>
          <a:ln/>
        </p:spPr>
      </p:sp>
      <p:sp>
        <p:nvSpPr>
          <p:cNvPr id="36" name="Text 34"/>
          <p:cNvSpPr/>
          <p:nvPr/>
        </p:nvSpPr>
        <p:spPr>
          <a:xfrm>
            <a:off x="6946240" y="3255264"/>
            <a:ext cx="134310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購入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 rot="5400000">
            <a:off x="8357921" y="3502152"/>
            <a:ext cx="91440" cy="128016"/>
          </a:xfrm>
          <a:prstGeom prst="triangle">
            <a:avLst/>
          </a:prstGeom>
          <a:solidFill>
            <a:srgbClr val="C08F97"/>
          </a:solidFill>
          <a:ln/>
        </p:spPr>
      </p:sp>
      <p:sp>
        <p:nvSpPr>
          <p:cNvPr id="38" name="Shape 36"/>
          <p:cNvSpPr/>
          <p:nvPr/>
        </p:nvSpPr>
        <p:spPr>
          <a:xfrm>
            <a:off x="8472221" y="3255264"/>
            <a:ext cx="1452829" cy="621792"/>
          </a:xfrm>
          <a:prstGeom prst="roundRect">
            <a:avLst>
              <a:gd name="adj" fmla="val 8824"/>
            </a:avLst>
          </a:prstGeom>
          <a:solidFill>
            <a:srgbClr val="EAE3DD"/>
          </a:solidFill>
          <a:ln/>
        </p:spPr>
      </p:sp>
      <p:sp>
        <p:nvSpPr>
          <p:cNvPr id="39" name="Text 37"/>
          <p:cNvSpPr/>
          <p:nvPr/>
        </p:nvSpPr>
        <p:spPr>
          <a:xfrm>
            <a:off x="8527085" y="3255264"/>
            <a:ext cx="134310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LINE・メール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 rot="5400000">
            <a:off x="9938766" y="3502152"/>
            <a:ext cx="91440" cy="128016"/>
          </a:xfrm>
          <a:prstGeom prst="triangle">
            <a:avLst/>
          </a:prstGeom>
          <a:solidFill>
            <a:srgbClr val="C08F97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3066" y="3255264"/>
            <a:ext cx="1452829" cy="621792"/>
          </a:xfrm>
          <a:prstGeom prst="roundRect">
            <a:avLst>
              <a:gd name="adj" fmla="val 8824"/>
            </a:avLst>
          </a:prstGeom>
          <a:solidFill>
            <a:srgbClr val="EAE3DD"/>
          </a:solidFill>
          <a:ln/>
        </p:spPr>
      </p:sp>
      <p:sp>
        <p:nvSpPr>
          <p:cNvPr id="42" name="Text 40"/>
          <p:cNvSpPr/>
          <p:nvPr/>
        </p:nvSpPr>
        <p:spPr>
          <a:xfrm>
            <a:off x="10107930" y="3255264"/>
            <a:ext cx="134310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継続購入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5800" y="443484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矢印のところに「理由」がありますか？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685800" y="4800600"/>
            <a:ext cx="5212080" cy="457200"/>
          </a:xfrm>
          <a:prstGeom prst="roundRect">
            <a:avLst>
              <a:gd name="adj" fmla="val 10000"/>
            </a:avLst>
          </a:prstGeom>
          <a:solidFill>
            <a:srgbClr val="F7F3F0"/>
          </a:solidFill>
          <a:ln/>
        </p:spPr>
      </p:sp>
      <p:sp>
        <p:nvSpPr>
          <p:cNvPr id="45" name="Text 43"/>
          <p:cNvSpPr/>
          <p:nvPr/>
        </p:nvSpPr>
        <p:spPr>
          <a:xfrm>
            <a:off x="914400" y="4800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　プロフィールを見て「何の人か」が分かる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291072" y="4800600"/>
            <a:ext cx="5212080" cy="457200"/>
          </a:xfrm>
          <a:prstGeom prst="roundRect">
            <a:avLst>
              <a:gd name="adj" fmla="val 10000"/>
            </a:avLst>
          </a:prstGeom>
          <a:solidFill>
            <a:srgbClr val="F7F3F0"/>
          </a:solidFill>
          <a:ln/>
        </p:spPr>
      </p:sp>
      <p:sp>
        <p:nvSpPr>
          <p:cNvPr id="47" name="Text 45"/>
          <p:cNvSpPr/>
          <p:nvPr/>
        </p:nvSpPr>
        <p:spPr>
          <a:xfrm>
            <a:off x="6519672" y="4800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　LINEに登録する理由がある（「最新情報」では登録されません）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85800" y="5330952"/>
            <a:ext cx="5212080" cy="457200"/>
          </a:xfrm>
          <a:prstGeom prst="roundRect">
            <a:avLst>
              <a:gd name="adj" fmla="val 10000"/>
            </a:avLst>
          </a:prstGeom>
          <a:solidFill>
            <a:srgbClr val="F7F3F0"/>
          </a:solidFill>
          <a:ln/>
        </p:spPr>
      </p:sp>
      <p:sp>
        <p:nvSpPr>
          <p:cNvPr id="49" name="Text 47"/>
          <p:cNvSpPr/>
          <p:nvPr/>
        </p:nvSpPr>
        <p:spPr>
          <a:xfrm>
            <a:off x="914400" y="53309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　登録後に価値が伝わる流れがある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291072" y="5330952"/>
            <a:ext cx="5212080" cy="457200"/>
          </a:xfrm>
          <a:prstGeom prst="roundRect">
            <a:avLst>
              <a:gd name="adj" fmla="val 10000"/>
            </a:avLst>
          </a:prstGeom>
          <a:solidFill>
            <a:srgbClr val="F7F3F0"/>
          </a:solidFill>
          <a:ln/>
        </p:spPr>
      </p:sp>
      <p:sp>
        <p:nvSpPr>
          <p:cNvPr id="51" name="Text 49"/>
          <p:cNvSpPr/>
          <p:nvPr/>
        </p:nvSpPr>
        <p:spPr>
          <a:xfrm>
            <a:off x="6519672" y="53309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　気になったのに次がない、という行き止まりがない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85800" y="5870448"/>
            <a:ext cx="10820095" cy="566928"/>
          </a:xfrm>
          <a:prstGeom prst="roundRect">
            <a:avLst>
              <a:gd name="adj" fmla="val 11290"/>
            </a:avLst>
          </a:prstGeom>
          <a:solidFill>
            <a:srgbClr val="E3C9CD"/>
          </a:solidFill>
          <a:ln/>
        </p:spPr>
      </p:sp>
      <p:sp>
        <p:nvSpPr>
          <p:cNvPr id="53" name="Text 51"/>
          <p:cNvSpPr/>
          <p:nvPr/>
        </p:nvSpPr>
        <p:spPr>
          <a:xfrm>
            <a:off x="1097280" y="5870448"/>
            <a:ext cx="99971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紙に書いて矢印を引き、つながらないところが今月直す場所です。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92608"/>
            <a:ext cx="1024128" cy="310896"/>
          </a:xfrm>
          <a:prstGeom prst="roundRect">
            <a:avLst>
              <a:gd name="adj" fmla="val 23529"/>
            </a:avLst>
          </a:prstGeom>
          <a:solidFill>
            <a:srgbClr val="C08F97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926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65415" y="2926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Fashion  ×  Psychology  ×  AI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コーチングセールス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押し売りではなく、相手の本音を引き出して、前に進める状態をつくる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3429000" cy="2468880"/>
          </a:xfrm>
          <a:prstGeom prst="roundRect">
            <a:avLst>
              <a:gd name="adj" fmla="val 2593"/>
            </a:avLst>
          </a:prstGeom>
          <a:solidFill>
            <a:srgbClr val="EAE3DD"/>
          </a:solidFill>
          <a:ln/>
          <a:effectLst>
            <a:outerShdw sx="100000" sy="100000" kx="0" ky="0" algn="bl" rotWithShape="0" blurRad="127000" dist="25400" dir="5400000">
              <a:srgbClr val="9A889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33272" y="2084832"/>
            <a:ext cx="566928" cy="566928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9" name="Text 7"/>
          <p:cNvSpPr/>
          <p:nvPr/>
        </p:nvSpPr>
        <p:spPr>
          <a:xfrm>
            <a:off x="1033272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09928" y="2103120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聞く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33272" y="2743200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7〜8割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33272" y="3072384"/>
            <a:ext cx="27340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今どういう状態で、何に困っていて、本当はどうなりたいのか。話しすぎる人ほど成約しません。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98848" y="1874520"/>
            <a:ext cx="3429000" cy="2468880"/>
          </a:xfrm>
          <a:prstGeom prst="roundRect">
            <a:avLst>
              <a:gd name="adj" fmla="val 2593"/>
            </a:avLst>
          </a:prstGeom>
          <a:solidFill>
            <a:srgbClr val="F7F3F0"/>
          </a:solidFill>
          <a:ln/>
          <a:effectLst>
            <a:outerShdw sx="100000" sy="100000" kx="0" ky="0" algn="bl" rotWithShape="0" blurRad="127000" dist="25400" dir="5400000">
              <a:srgbClr val="9A889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2084832"/>
            <a:ext cx="566928" cy="566928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522976" y="2103120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整理する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46320" y="2743200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相手の言葉で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072384"/>
            <a:ext cx="27340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「つまり、○○が一番のネックということですね」。相手が自分の課題を客観的に見た瞬間、価値が生まれています。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11896" y="1874520"/>
            <a:ext cx="3429000" cy="2468880"/>
          </a:xfrm>
          <a:prstGeom prst="roundRect">
            <a:avLst>
              <a:gd name="adj" fmla="val 2593"/>
            </a:avLst>
          </a:prstGeom>
          <a:solidFill>
            <a:srgbClr val="F7F3F0"/>
          </a:solidFill>
          <a:ln/>
          <a:effectLst>
            <a:outerShdw sx="100000" sy="100000" kx="0" ky="0" algn="bl" rotWithShape="0" blurRad="127000" dist="25400" dir="5400000">
              <a:srgbClr val="9A889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59368" y="2084832"/>
            <a:ext cx="566928" cy="566928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21" name="Text 19"/>
          <p:cNvSpPr/>
          <p:nvPr/>
        </p:nvSpPr>
        <p:spPr>
          <a:xfrm>
            <a:off x="8659368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336024" y="2103120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提案する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659368" y="2743200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正直に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59368" y="3072384"/>
            <a:ext cx="27340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整理した課題に、自分の商品が合うかを伝える。合わないなら合わないと言う。それが信頼になります。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4572000"/>
            <a:ext cx="10820095" cy="777240"/>
          </a:xfrm>
          <a:prstGeom prst="roundRect">
            <a:avLst>
              <a:gd name="adj" fmla="val 8235"/>
            </a:avLst>
          </a:prstGeom>
          <a:solidFill>
            <a:srgbClr val="EAE3DD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4572000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物販でも同じです。「これ、似合いますよ」ではなく「どんな場面で着たいですか」から入る。買わせるのではなく、選べるようにする。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5532120"/>
            <a:ext cx="10820095" cy="868680"/>
          </a:xfrm>
          <a:prstGeom prst="roundRect">
            <a:avLst>
              <a:gd name="adj" fmla="val 7368"/>
            </a:avLst>
          </a:prstGeom>
          <a:solidFill>
            <a:srgbClr val="3E2F38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" y="5532120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売るのが怖いのは、商品に自信がないからではありません。相手の役に立つか、確信が持てないからです。だから聞くんです。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92608"/>
            <a:ext cx="1024128" cy="310896"/>
          </a:xfrm>
          <a:prstGeom prst="roundRect">
            <a:avLst>
              <a:gd name="adj" fmla="val 23529"/>
            </a:avLst>
          </a:prstGeom>
          <a:solidFill>
            <a:srgbClr val="C08F97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926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65415" y="2926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Fashion  ×  Psychology  ×  AI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セルフコーチング ― 自分を整える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自分の状態は、そのまま仕事の結果に出ます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10820095" cy="914400"/>
          </a:xfrm>
          <a:prstGeom prst="roundRect">
            <a:avLst>
              <a:gd name="adj" fmla="val 7000"/>
            </a:avLst>
          </a:prstGeom>
          <a:solidFill>
            <a:srgbClr val="EAE3DD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874520"/>
            <a:ext cx="9997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不安になる → 比べて落ち込む → 発信がブレる → 商品が決めきれない → 値段を下げたくなる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3063240"/>
            <a:ext cx="3429000" cy="1874520"/>
          </a:xfrm>
          <a:prstGeom prst="roundRect">
            <a:avLst>
              <a:gd name="adj" fmla="val 3415"/>
            </a:avLst>
          </a:prstGeom>
          <a:solidFill>
            <a:srgbClr val="F7F3F0"/>
          </a:solidFill>
          <a:ln/>
          <a:effectLst>
            <a:outerShdw sx="100000" sy="100000" kx="0" ky="0" algn="bl" rotWithShape="0" blurRad="127000" dist="25400" dir="5400000">
              <a:srgbClr val="9A889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33272" y="3291840"/>
            <a:ext cx="548640" cy="548640"/>
          </a:xfrm>
          <a:prstGeom prst="ellipse">
            <a:avLst/>
          </a:prstGeom>
          <a:solidFill>
            <a:srgbClr val="C08F97"/>
          </a:solidFill>
          <a:ln/>
        </p:spPr>
      </p:sp>
      <p:sp>
        <p:nvSpPr>
          <p:cNvPr id="11" name="Text 9"/>
          <p:cNvSpPr/>
          <p:nvPr/>
        </p:nvSpPr>
        <p:spPr>
          <a:xfrm>
            <a:off x="1033272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33272" y="3931920"/>
            <a:ext cx="2734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今、何が不安？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33272" y="4572000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漠然とした不安を、一つに落とす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98848" y="3063240"/>
            <a:ext cx="3429000" cy="1874520"/>
          </a:xfrm>
          <a:prstGeom prst="roundRect">
            <a:avLst>
              <a:gd name="adj" fmla="val 3415"/>
            </a:avLst>
          </a:prstGeom>
          <a:solidFill>
            <a:srgbClr val="F7F3F0"/>
          </a:solidFill>
          <a:ln/>
          <a:effectLst>
            <a:outerShdw sx="100000" sy="100000" kx="0" ky="0" algn="bl" rotWithShape="0" blurRad="127000" dist="25400" dir="5400000">
              <a:srgbClr val="9A889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3291840"/>
            <a:ext cx="548640" cy="548640"/>
          </a:xfrm>
          <a:prstGeom prst="ellipse">
            <a:avLst/>
          </a:prstGeom>
          <a:solidFill>
            <a:srgbClr val="C08F97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46320" y="3931920"/>
            <a:ext cx="2734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それは事実？　想像？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846320" y="4572000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大半は想像です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11896" y="3063240"/>
            <a:ext cx="3429000" cy="1874520"/>
          </a:xfrm>
          <a:prstGeom prst="roundRect">
            <a:avLst>
              <a:gd name="adj" fmla="val 3415"/>
            </a:avLst>
          </a:prstGeom>
          <a:solidFill>
            <a:srgbClr val="F7F3F0"/>
          </a:solidFill>
          <a:ln/>
          <a:effectLst>
            <a:outerShdw sx="100000" sy="100000" kx="0" ky="0" algn="bl" rotWithShape="0" blurRad="127000" dist="25400" dir="5400000">
              <a:srgbClr val="9A889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59368" y="3291840"/>
            <a:ext cx="548640" cy="548640"/>
          </a:xfrm>
          <a:prstGeom prst="ellipse">
            <a:avLst/>
          </a:prstGeom>
          <a:solidFill>
            <a:srgbClr val="C08F97"/>
          </a:solidFill>
          <a:ln/>
        </p:spPr>
      </p:sp>
      <p:sp>
        <p:nvSpPr>
          <p:cNvPr id="21" name="Text 19"/>
          <p:cNvSpPr/>
          <p:nvPr/>
        </p:nvSpPr>
        <p:spPr>
          <a:xfrm>
            <a:off x="8659368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659368" y="3931920"/>
            <a:ext cx="2734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今日できる一番小さい一歩は？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659368" y="4572000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大きい一歩は考えるだけで止まる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5212080"/>
            <a:ext cx="10820095" cy="914400"/>
          </a:xfrm>
          <a:prstGeom prst="roundRect">
            <a:avLst>
              <a:gd name="adj" fmla="val 7000"/>
            </a:avLst>
          </a:prstGeom>
          <a:solidFill>
            <a:srgbClr val="3E2F38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5212080"/>
            <a:ext cx="9997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止まっていること自体は、問題ではありません。止まったまま黙っていることだけが、問題です。6ヶ月、一人で抱えないでください。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92608"/>
            <a:ext cx="1024128" cy="310896"/>
          </a:xfrm>
          <a:prstGeom prst="roundRect">
            <a:avLst>
              <a:gd name="adj" fmla="val 23529"/>
            </a:avLst>
          </a:prstGeom>
          <a:solidFill>
            <a:srgbClr val="C08F97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926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65415" y="2926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Fashion  ×  Psychology  ×  AI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仕組み化・自動化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売れている方は、頑張り続けているのではなく、少しずつ仕組みにしています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3429000" cy="2514600"/>
          </a:xfrm>
          <a:prstGeom prst="roundRect">
            <a:avLst>
              <a:gd name="adj" fmla="val 2545"/>
            </a:avLst>
          </a:prstGeom>
          <a:solidFill>
            <a:srgbClr val="F7F3F0"/>
          </a:solidFill>
          <a:ln/>
          <a:effectLst>
            <a:outerShdw sx="100000" sy="100000" kx="0" ky="0" algn="bl" rotWithShape="0" blurRad="127000" dist="25400" dir="5400000">
              <a:srgbClr val="9A889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33272" y="2103120"/>
            <a:ext cx="566928" cy="566928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9" name="Text 7"/>
          <p:cNvSpPr/>
          <p:nvPr/>
        </p:nvSpPr>
        <p:spPr>
          <a:xfrm>
            <a:off x="1033272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33272" y="2761488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繰り返しを見つける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33272" y="3255264"/>
            <a:ext cx="2734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毎回同じ説明をしている、毎回同じ質問に答えている、毎回同じ流れで案内している。繰り返しているものは、必ず仕組みにできます。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98848" y="1874520"/>
            <a:ext cx="3429000" cy="2514600"/>
          </a:xfrm>
          <a:prstGeom prst="roundRect">
            <a:avLst>
              <a:gd name="adj" fmla="val 2545"/>
            </a:avLst>
          </a:prstGeom>
          <a:solidFill>
            <a:srgbClr val="F7F3F0"/>
          </a:solidFill>
          <a:ln/>
          <a:effectLst>
            <a:outerShdw sx="100000" sy="100000" kx="0" ky="0" algn="bl" rotWithShape="0" blurRad="127000" dist="25400" dir="5400000">
              <a:srgbClr val="9A889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2103120"/>
            <a:ext cx="566928" cy="566928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46320" y="2761488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一度だけ作る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846320" y="3255264"/>
            <a:ext cx="2734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LINE登録後に自動で届く流れ、よくある質問の回答、申込みまでの案内。UTAGE や L Message で組むのはここです。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11896" y="1874520"/>
            <a:ext cx="3429000" cy="2514600"/>
          </a:xfrm>
          <a:prstGeom prst="roundRect">
            <a:avLst>
              <a:gd name="adj" fmla="val 2545"/>
            </a:avLst>
          </a:prstGeom>
          <a:solidFill>
            <a:srgbClr val="F7F3F0"/>
          </a:solidFill>
          <a:ln/>
          <a:effectLst>
            <a:outerShdw sx="100000" sy="100000" kx="0" ky="0" algn="bl" rotWithShape="0" blurRad="127000" dist="25400" dir="5400000">
              <a:srgbClr val="9A889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59368" y="2103120"/>
            <a:ext cx="566928" cy="566928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9" name="Text 17"/>
          <p:cNvSpPr/>
          <p:nvPr/>
        </p:nvSpPr>
        <p:spPr>
          <a:xfrm>
            <a:off x="8659368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659368" y="2761488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AIに渡す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659368" y="3255264"/>
            <a:ext cx="2734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投稿文のたたき台、商品説明の下書き、リールのシナリオ案、画像イメージ。AIは0を1にするのが得意。最後の判断は人がやる。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4617720"/>
            <a:ext cx="10820095" cy="1097280"/>
          </a:xfrm>
          <a:prstGeom prst="roundRect">
            <a:avLst>
              <a:gd name="adj" fmla="val 5833"/>
            </a:avLst>
          </a:prstGeom>
          <a:solidFill>
            <a:srgbClr val="3E2F38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475488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順番を間違えないでください。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97280" y="512064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STEP1〜5 が固まっていない状態で自動化すると、ブレた内容を自動で流し続けることになります。中身が決まってから、それを楽にするために使う。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85800" y="5897880"/>
            <a:ext cx="10820095" cy="594360"/>
          </a:xfrm>
          <a:prstGeom prst="roundRect">
            <a:avLst>
              <a:gd name="adj" fmla="val 10769"/>
            </a:avLst>
          </a:prstGeom>
          <a:solidFill>
            <a:srgbClr val="E3C9CD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5897880"/>
            <a:ext cx="9997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自動化は最後。これが一番もったいない間違いです。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65415" y="2926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Fashion  ×  Psychology  ×  AI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自己診断 ― あなたはどこで詰まっているか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当てはまるものにチェック。外れた一番小さい番号が、あなたの現在地です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5212080" cy="621792"/>
          </a:xfrm>
          <a:prstGeom prst="roundRect">
            <a:avLst>
              <a:gd name="adj" fmla="val 8824"/>
            </a:avLst>
          </a:prstGeom>
          <a:solidFill>
            <a:srgbClr val="F7F3F0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039112"/>
            <a:ext cx="384048" cy="384048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920240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　自分の価値を、人に伝わる一文で言える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670048"/>
            <a:ext cx="5212080" cy="621792"/>
          </a:xfrm>
          <a:prstGeom prst="roundRect">
            <a:avLst>
              <a:gd name="adj" fmla="val 8824"/>
            </a:avLst>
          </a:prstGeom>
          <a:solidFill>
            <a:srgbClr val="EAE3DD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2788920"/>
            <a:ext cx="384048" cy="384048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670048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　理想のお客様と、その人の「詰まり」が言える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419856"/>
            <a:ext cx="5212080" cy="621792"/>
          </a:xfrm>
          <a:prstGeom prst="roundRect">
            <a:avLst>
              <a:gd name="adj" fmla="val 8824"/>
            </a:avLst>
          </a:prstGeom>
          <a:solidFill>
            <a:srgbClr val="F7F3F0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3538728"/>
            <a:ext cx="384048" cy="384048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419856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　入口・本命・継続の3層が揃っている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4169664"/>
            <a:ext cx="5212080" cy="621792"/>
          </a:xfrm>
          <a:prstGeom prst="roundRect">
            <a:avLst>
              <a:gd name="adj" fmla="val 8824"/>
            </a:avLst>
          </a:prstGeom>
          <a:solidFill>
            <a:srgbClr val="EAE3DD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4288536"/>
            <a:ext cx="384048" cy="384048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4169664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　直近10投稿が3種類に偏りなく分かれている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91072" y="1920240"/>
            <a:ext cx="5212080" cy="621792"/>
          </a:xfrm>
          <a:prstGeom prst="roundRect">
            <a:avLst>
              <a:gd name="adj" fmla="val 8824"/>
            </a:avLst>
          </a:prstGeom>
          <a:solidFill>
            <a:srgbClr val="F7F3F0"/>
          </a:solidFill>
          <a:ln/>
        </p:spPr>
      </p:sp>
      <p:sp>
        <p:nvSpPr>
          <p:cNvPr id="22" name="Shape 20"/>
          <p:cNvSpPr/>
          <p:nvPr/>
        </p:nvSpPr>
        <p:spPr>
          <a:xfrm>
            <a:off x="6473952" y="2039112"/>
            <a:ext cx="384048" cy="384048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23" name="Text 21"/>
          <p:cNvSpPr/>
          <p:nvPr/>
        </p:nvSpPr>
        <p:spPr>
          <a:xfrm>
            <a:off x="6473952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76872" y="1920240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　発信から申込み・購入まで線がつながっている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1072" y="2670048"/>
            <a:ext cx="5212080" cy="621792"/>
          </a:xfrm>
          <a:prstGeom prst="roundRect">
            <a:avLst>
              <a:gd name="adj" fmla="val 8824"/>
            </a:avLst>
          </a:prstGeom>
          <a:solidFill>
            <a:srgbClr val="EAE3DD"/>
          </a:solidFill>
          <a:ln/>
        </p:spPr>
      </p:sp>
      <p:sp>
        <p:nvSpPr>
          <p:cNvPr id="26" name="Shape 24"/>
          <p:cNvSpPr/>
          <p:nvPr/>
        </p:nvSpPr>
        <p:spPr>
          <a:xfrm>
            <a:off x="6473952" y="2788920"/>
            <a:ext cx="384048" cy="384048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27" name="Text 25"/>
          <p:cNvSpPr/>
          <p:nvPr/>
        </p:nvSpPr>
        <p:spPr>
          <a:xfrm>
            <a:off x="6473952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76872" y="2670048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　相談や接客で、話すより聞く時間のほうが長い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1072" y="3419856"/>
            <a:ext cx="5212080" cy="621792"/>
          </a:xfrm>
          <a:prstGeom prst="roundRect">
            <a:avLst>
              <a:gd name="adj" fmla="val 8824"/>
            </a:avLst>
          </a:prstGeom>
          <a:solidFill>
            <a:srgbClr val="F7F3F0"/>
          </a:solidFill>
          <a:ln/>
        </p:spPr>
      </p:sp>
      <p:sp>
        <p:nvSpPr>
          <p:cNvPr id="30" name="Shape 28"/>
          <p:cNvSpPr/>
          <p:nvPr/>
        </p:nvSpPr>
        <p:spPr>
          <a:xfrm>
            <a:off x="6473952" y="3538728"/>
            <a:ext cx="384048" cy="384048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31" name="Text 29"/>
          <p:cNvSpPr/>
          <p:nvPr/>
        </p:nvSpPr>
        <p:spPr>
          <a:xfrm>
            <a:off x="6473952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76872" y="3419856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　繰り返し作業が、仕組みになっている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1072" y="4169664"/>
            <a:ext cx="5212080" cy="1371600"/>
          </a:xfrm>
          <a:prstGeom prst="roundRect">
            <a:avLst>
              <a:gd name="adj" fmla="val 4667"/>
            </a:avLst>
          </a:prstGeom>
          <a:solidFill>
            <a:srgbClr val="3E2F38"/>
          </a:solidFill>
          <a:ln/>
        </p:spPr>
      </p:sp>
      <p:sp>
        <p:nvSpPr>
          <p:cNvPr id="34" name="Text 32"/>
          <p:cNvSpPr/>
          <p:nvPr/>
        </p:nvSpPr>
        <p:spPr>
          <a:xfrm>
            <a:off x="6611112" y="4169664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「5と7ができていない」という方も、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まず一番小さい番号に戻ってください。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その先にチェックが付いていても、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土台が空いていると必ず戻ることになります。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5800" y="5806440"/>
            <a:ext cx="10820095" cy="685800"/>
          </a:xfrm>
          <a:prstGeom prst="roundRect">
            <a:avLst>
              <a:gd name="adj" fmla="val 9333"/>
            </a:avLst>
          </a:prstGeom>
          <a:solidFill>
            <a:srgbClr val="E3C9CD"/>
          </a:solidFill>
          <a:ln/>
        </p:spPr>
      </p:sp>
      <p:sp>
        <p:nvSpPr>
          <p:cNvPr id="36" name="Text 34"/>
          <p:cNvSpPr/>
          <p:nvPr/>
        </p:nvSpPr>
        <p:spPr>
          <a:xfrm>
            <a:off x="1097280" y="5806440"/>
            <a:ext cx="99971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今月取り組む番号を、いま1つ決めてください。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65415" y="2926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Fashion  ×  Psychology  ×  AI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よくあるつまずきと、処方箋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症状の場所と、原因の場所は違います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10820095" cy="1051560"/>
          </a:xfrm>
          <a:prstGeom prst="roundRect">
            <a:avLst>
              <a:gd name="adj" fmla="val 5217"/>
            </a:avLst>
          </a:prstGeom>
          <a:solidFill>
            <a:srgbClr val="F7F3F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299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「発信ネタが出てこない」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STEP4 の問題に見えるが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66360" y="192024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本当の原因　</a:t>
            </a:r>
            <a:pPr indent="0" marL="0">
              <a:buNone/>
            </a:pPr>
            <a:r>
              <a:rPr lang="en-US" sz="12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誰の何を解決するか決まっていない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601200" y="2221992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3E2F38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0" y="22219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1・2 へ戻る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154680"/>
            <a:ext cx="10820095" cy="1051560"/>
          </a:xfrm>
          <a:prstGeom prst="roundRect">
            <a:avLst>
              <a:gd name="adj" fmla="val 5217"/>
            </a:avLst>
          </a:prstGeom>
          <a:solidFill>
            <a:srgbClr val="EAE3DD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264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「価格を上げるのが怖い」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3703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STEP3 の問題に見えるが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66360" y="315468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本当の原因　</a:t>
            </a:r>
            <a:pPr indent="0" marL="0">
              <a:buNone/>
            </a:pPr>
            <a:r>
              <a:rPr lang="en-US" sz="12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提供できる変化が言葉になっていない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601200" y="3456432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3E2F38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0" y="34564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 へ戻る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4389120"/>
            <a:ext cx="10820095" cy="1051560"/>
          </a:xfrm>
          <a:prstGeom prst="roundRect">
            <a:avLst>
              <a:gd name="adj" fmla="val 5217"/>
            </a:avLst>
          </a:prstGeom>
          <a:solidFill>
            <a:srgbClr val="F7F3F0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4988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「学んだのに動けない」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4937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情報量の問題に見えるが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66360" y="438912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本当の原因　</a:t>
            </a:r>
            <a:pPr indent="0" marL="0">
              <a:buNone/>
            </a:pPr>
            <a:r>
              <a:rPr lang="en-US" sz="12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一度に全部やろうとしている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601200" y="4690872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3E2F38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0" y="46908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1つに絞る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0" y="5760720"/>
            <a:ext cx="10820095" cy="731520"/>
          </a:xfrm>
          <a:prstGeom prst="roundRect">
            <a:avLst>
              <a:gd name="adj" fmla="val 8750"/>
            </a:avLst>
          </a:prstGeom>
          <a:solidFill>
            <a:srgbClr val="E3C9CD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576072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詰まったら、必ず一つ上に戻る。6ヶ月間、いちばん使う考え方です。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65415" y="2926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Fashion  ×  Psychology  ×  AI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今月のワーク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やることは1つだけです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10820095" cy="1600200"/>
          </a:xfrm>
          <a:prstGeom prst="roundRect">
            <a:avLst>
              <a:gd name="adj" fmla="val 4000"/>
            </a:avLst>
          </a:prstGeom>
          <a:solidFill>
            <a:srgbClr val="3E2F38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920240"/>
            <a:ext cx="990569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自己診断で外れた、一番小さい番号。</a:t>
            </a:r>
            <a:endParaRPr lang="en-US" sz="2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そのワークシートを、最後まで埋める。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" y="3749040"/>
            <a:ext cx="3429000" cy="1828800"/>
          </a:xfrm>
          <a:prstGeom prst="roundRect">
            <a:avLst>
              <a:gd name="adj" fmla="val 3500"/>
            </a:avLst>
          </a:prstGeom>
          <a:solidFill>
            <a:srgbClr val="F7F3F0"/>
          </a:solidFill>
          <a:ln/>
          <a:effectLst>
            <a:outerShdw sx="100000" sy="100000" kx="0" ky="0" algn="bl" rotWithShape="0" blurRad="127000" dist="25400" dir="5400000">
              <a:srgbClr val="9A889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33272" y="3913632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33272" y="4224528"/>
            <a:ext cx="2734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次回のグループコンサルまで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33272" y="4681728"/>
            <a:ext cx="2734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埋まらなかった箇所があれば、埋まらなかったこと自体を持ってきてください。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98848" y="3749040"/>
            <a:ext cx="3429000" cy="1828800"/>
          </a:xfrm>
          <a:prstGeom prst="roundRect">
            <a:avLst>
              <a:gd name="adj" fmla="val 3500"/>
            </a:avLst>
          </a:prstGeom>
          <a:solidFill>
            <a:srgbClr val="F7F3F0"/>
          </a:solidFill>
          <a:ln/>
          <a:effectLst>
            <a:outerShdw sx="100000" sy="100000" kx="0" ky="0" algn="bl" rotWithShape="0" blurRad="127000" dist="25400" dir="5400000">
              <a:srgbClr val="9A889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3913632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4224528"/>
            <a:ext cx="2734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ワークショップ60分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4681728"/>
            <a:ext cx="2734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STEP1 の言語化シートは、全員でここまでに仕上げてしまいます。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311896" y="3749040"/>
            <a:ext cx="3429000" cy="1828800"/>
          </a:xfrm>
          <a:prstGeom prst="roundRect">
            <a:avLst>
              <a:gd name="adj" fmla="val 3500"/>
            </a:avLst>
          </a:prstGeom>
          <a:solidFill>
            <a:srgbClr val="F7F3F0"/>
          </a:solidFill>
          <a:ln/>
          <a:effectLst>
            <a:outerShdw sx="100000" sy="100000" kx="0" ky="0" algn="bl" rotWithShape="0" blurRad="127000" dist="25400" dir="5400000">
              <a:srgbClr val="9A889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59368" y="3913632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宣言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59368" y="4224528"/>
            <a:ext cx="2734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いつやるか、を決める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59368" y="4681728"/>
            <a:ext cx="2734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「今月中」ではなく「毎週火曜の夜」のように、曜日と時間帯で決めてください。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576072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「ここが書けませんでした」は、立派な相談です。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65415" y="2926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Fashion  ×  Psychology  ×  AI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3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18872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「売れる」は結果。「選ばれる」が原因。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選ばれる状態は、感性やセンスだけでは作れません。この7つの順番で、つくります。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2606040"/>
            <a:ext cx="5212080" cy="585216"/>
          </a:xfrm>
          <a:prstGeom prst="roundRect">
            <a:avLst>
              <a:gd name="adj" fmla="val 9375"/>
            </a:avLst>
          </a:prstGeom>
          <a:solidFill>
            <a:srgbClr val="2A1F26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715768"/>
            <a:ext cx="365760" cy="365760"/>
          </a:xfrm>
          <a:prstGeom prst="ellipse">
            <a:avLst/>
          </a:prstGeom>
          <a:solidFill>
            <a:srgbClr val="C08F9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44168" y="2606040"/>
            <a:ext cx="4389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価値を、言葉にする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319272"/>
            <a:ext cx="5212080" cy="585216"/>
          </a:xfrm>
          <a:prstGeom prst="roundRect">
            <a:avLst>
              <a:gd name="adj" fmla="val 9375"/>
            </a:avLst>
          </a:prstGeom>
          <a:solidFill>
            <a:srgbClr val="2A1F26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3429000"/>
            <a:ext cx="365760" cy="365760"/>
          </a:xfrm>
          <a:prstGeom prst="ellipse">
            <a:avLst/>
          </a:prstGeom>
          <a:solidFill>
            <a:srgbClr val="C08F9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44168" y="3319272"/>
            <a:ext cx="4389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選ばれる理由を、決める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032504"/>
            <a:ext cx="5212080" cy="585216"/>
          </a:xfrm>
          <a:prstGeom prst="roundRect">
            <a:avLst>
              <a:gd name="adj" fmla="val 9375"/>
            </a:avLst>
          </a:prstGeom>
          <a:solidFill>
            <a:srgbClr val="2A1F26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142232"/>
            <a:ext cx="365760" cy="365760"/>
          </a:xfrm>
          <a:prstGeom prst="ellipse">
            <a:avLst/>
          </a:prstGeom>
          <a:solidFill>
            <a:srgbClr val="C08F97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44168" y="4032504"/>
            <a:ext cx="4389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商品を、3層にする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4745736"/>
            <a:ext cx="5212080" cy="585216"/>
          </a:xfrm>
          <a:prstGeom prst="roundRect">
            <a:avLst>
              <a:gd name="adj" fmla="val 9375"/>
            </a:avLst>
          </a:prstGeom>
          <a:solidFill>
            <a:srgbClr val="2A1F26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4855464"/>
            <a:ext cx="365760" cy="365760"/>
          </a:xfrm>
          <a:prstGeom prst="ellipse">
            <a:avLst/>
          </a:prstGeom>
          <a:solidFill>
            <a:srgbClr val="C08F97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855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44168" y="4745736"/>
            <a:ext cx="4389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発信を、3種類に分ける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91072" y="2606040"/>
            <a:ext cx="5212080" cy="585216"/>
          </a:xfrm>
          <a:prstGeom prst="roundRect">
            <a:avLst>
              <a:gd name="adj" fmla="val 9375"/>
            </a:avLst>
          </a:prstGeom>
          <a:solidFill>
            <a:srgbClr val="2A1F26"/>
          </a:solidFill>
          <a:ln/>
        </p:spPr>
      </p:sp>
      <p:sp>
        <p:nvSpPr>
          <p:cNvPr id="23" name="Shape 21"/>
          <p:cNvSpPr/>
          <p:nvPr/>
        </p:nvSpPr>
        <p:spPr>
          <a:xfrm>
            <a:off x="6473952" y="2715768"/>
            <a:ext cx="365760" cy="365760"/>
          </a:xfrm>
          <a:prstGeom prst="ellipse">
            <a:avLst/>
          </a:prstGeom>
          <a:solidFill>
            <a:srgbClr val="C08F97"/>
          </a:solidFill>
          <a:ln/>
        </p:spPr>
      </p:sp>
      <p:sp>
        <p:nvSpPr>
          <p:cNvPr id="24" name="Text 22"/>
          <p:cNvSpPr/>
          <p:nvPr/>
        </p:nvSpPr>
        <p:spPr>
          <a:xfrm>
            <a:off x="6473952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9440" y="2606040"/>
            <a:ext cx="4389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発信から購入までを、線にする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91072" y="3319272"/>
            <a:ext cx="5212080" cy="585216"/>
          </a:xfrm>
          <a:prstGeom prst="roundRect">
            <a:avLst>
              <a:gd name="adj" fmla="val 9375"/>
            </a:avLst>
          </a:prstGeom>
          <a:solidFill>
            <a:srgbClr val="2A1F26"/>
          </a:solidFill>
          <a:ln/>
        </p:spPr>
      </p:sp>
      <p:sp>
        <p:nvSpPr>
          <p:cNvPr id="27" name="Shape 25"/>
          <p:cNvSpPr/>
          <p:nvPr/>
        </p:nvSpPr>
        <p:spPr>
          <a:xfrm>
            <a:off x="6473952" y="3429000"/>
            <a:ext cx="365760" cy="365760"/>
          </a:xfrm>
          <a:prstGeom prst="ellipse">
            <a:avLst/>
          </a:prstGeom>
          <a:solidFill>
            <a:srgbClr val="C08F97"/>
          </a:solidFill>
          <a:ln/>
        </p:spPr>
      </p:sp>
      <p:sp>
        <p:nvSpPr>
          <p:cNvPr id="28" name="Text 26"/>
          <p:cNvSpPr/>
          <p:nvPr/>
        </p:nvSpPr>
        <p:spPr>
          <a:xfrm>
            <a:off x="6473952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49440" y="3319272"/>
            <a:ext cx="4389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聞く姿勢で、売る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91072" y="4032504"/>
            <a:ext cx="5212080" cy="585216"/>
          </a:xfrm>
          <a:prstGeom prst="roundRect">
            <a:avLst>
              <a:gd name="adj" fmla="val 9375"/>
            </a:avLst>
          </a:prstGeom>
          <a:solidFill>
            <a:srgbClr val="2A1F26"/>
          </a:solidFill>
          <a:ln/>
        </p:spPr>
      </p:sp>
      <p:sp>
        <p:nvSpPr>
          <p:cNvPr id="31" name="Shape 29"/>
          <p:cNvSpPr/>
          <p:nvPr/>
        </p:nvSpPr>
        <p:spPr>
          <a:xfrm>
            <a:off x="6473952" y="4142232"/>
            <a:ext cx="365760" cy="365760"/>
          </a:xfrm>
          <a:prstGeom prst="ellipse">
            <a:avLst/>
          </a:prstGeom>
          <a:solidFill>
            <a:srgbClr val="C08F97"/>
          </a:solidFill>
          <a:ln/>
        </p:spPr>
      </p:sp>
      <p:sp>
        <p:nvSpPr>
          <p:cNvPr id="32" name="Text 30"/>
          <p:cNvSpPr/>
          <p:nvPr/>
        </p:nvSpPr>
        <p:spPr>
          <a:xfrm>
            <a:off x="6473952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49440" y="4032504"/>
            <a:ext cx="4389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繰り返しを、仕組みにする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291072" y="4745736"/>
            <a:ext cx="5212080" cy="1188720"/>
          </a:xfrm>
          <a:prstGeom prst="roundRect">
            <a:avLst>
              <a:gd name="adj" fmla="val 5385"/>
            </a:avLst>
          </a:prstGeom>
          <a:solidFill>
            <a:srgbClr val="F7F3F0"/>
          </a:solidFill>
          <a:ln/>
        </p:spPr>
      </p:sp>
      <p:sp>
        <p:nvSpPr>
          <p:cNvPr id="35" name="Text 33"/>
          <p:cNvSpPr/>
          <p:nvPr/>
        </p:nvSpPr>
        <p:spPr>
          <a:xfrm>
            <a:off x="6611112" y="4745736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センスだけで終わらせないために、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この6ヶ月があります。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65415" y="2926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Fashion  ×  Psychology  ×  AI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次回まで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止まったときの動き方も、決めておきましょう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3429000" cy="2286000"/>
          </a:xfrm>
          <a:prstGeom prst="roundRect">
            <a:avLst>
              <a:gd name="adj" fmla="val 2800"/>
            </a:avLst>
          </a:prstGeom>
          <a:solidFill>
            <a:srgbClr val="F7F3F0"/>
          </a:solidFill>
          <a:ln/>
          <a:effectLst>
            <a:outerShdw sx="100000" sy="100000" kx="0" ky="0" algn="bl" rotWithShape="0" blurRad="127000" dist="25400" dir="5400000">
              <a:srgbClr val="9A889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33272" y="2103120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次回の内容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33272" y="2432304"/>
            <a:ext cx="2734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STEP1・STEP2 をもう一段深く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33272" y="3200400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価値の言語化と、選ばれる理由の設計。今日書いた一文を持ってきてください。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98848" y="1920240"/>
            <a:ext cx="3429000" cy="2286000"/>
          </a:xfrm>
          <a:prstGeom prst="roundRect">
            <a:avLst>
              <a:gd name="adj" fmla="val 2800"/>
            </a:avLst>
          </a:prstGeom>
          <a:solidFill>
            <a:srgbClr val="F7F3F0"/>
          </a:solidFill>
          <a:ln/>
          <a:effectLst>
            <a:outerShdw sx="100000" sy="100000" kx="0" ky="0" algn="bl" rotWithShape="0" blurRad="127000" dist="25400" dir="5400000">
              <a:srgbClr val="9A889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2103120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提出物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432304"/>
            <a:ext cx="2734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ワークシート（該当STEP）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46320" y="3200400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グループコンサルまでに。埋まらなかった箇所には、印だけ付けておいてください。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11896" y="1920240"/>
            <a:ext cx="3429000" cy="2286000"/>
          </a:xfrm>
          <a:prstGeom prst="roundRect">
            <a:avLst>
              <a:gd name="adj" fmla="val 2800"/>
            </a:avLst>
          </a:prstGeom>
          <a:solidFill>
            <a:srgbClr val="F7F3F0"/>
          </a:solidFill>
          <a:ln/>
          <a:effectLst>
            <a:outerShdw sx="100000" sy="100000" kx="0" ky="0" algn="bl" rotWithShape="0" blurRad="127000" dist="25400" dir="5400000">
              <a:srgbClr val="9A889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59368" y="2103120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質問の出し方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59368" y="2432304"/>
            <a:ext cx="2734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「どこで」「何が」書けないか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659368" y="3200400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「わかりません」より「STEP1の変化の欄が書けません」のほうが、その場で解決します。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4480560"/>
            <a:ext cx="10820095" cy="1371600"/>
          </a:xfrm>
          <a:prstGeom prst="roundRect">
            <a:avLst>
              <a:gd name="adj" fmla="val 4667"/>
            </a:avLst>
          </a:prstGeom>
          <a:solidFill>
            <a:srgbClr val="3E2F38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4480560"/>
            <a:ext cx="9905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止まっていること自体は、問題ではありません。</a:t>
            </a:r>
            <a:endParaRPr lang="en-US" sz="21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止まったまま黙っていることだけが、問題です。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85800" y="603504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Fashion Entrepreneurship Academia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ファッション起業 7つのステップ</dc:title>
  <dc:subject>PptxGenJS Presentation</dc:subject>
  <dc:creator>Fashion Entrepreneurship Academia</dc:creator>
  <cp:lastModifiedBy>Fashion Entrepreneurship Academia</cp:lastModifiedBy>
  <cp:revision>1</cp:revision>
  <dcterms:created xsi:type="dcterms:W3CDTF">2026-08-09T04:28:45Z</dcterms:created>
  <dcterms:modified xsi:type="dcterms:W3CDTF">2026-08-09T04:28:45Z</dcterms:modified>
</cp:coreProperties>
</file>