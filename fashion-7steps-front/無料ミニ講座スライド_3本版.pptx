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冒頭15秒が勝負。名乗りより先にタイトルを言ってもいい。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5つを1つずつ、間を取って読む。最後の1つを一番ゆっくり。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目を見て、ゆっくり。視聴者の心が一番緩む場所。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プロフィール文は声に出して読む。多くの視聴者が「自分だ」と気づく。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前半の山。自分の失敗として語れると強い。実体験で。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「たぶん聞いたことがない話です」と添える。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3本の中心。ここで「この人は他と違う」と思ってもらう。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「ご自身にも、ありませんか」と問いかけを挟む。自分ごと化のポイント。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実例が命。自分の講座で出た言葉を、差し支えない範囲で2〜3個そのまま読む。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この動画の結論。ゆっくり。ここだけは絶対に早口にしない。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ここで初めて名前を与える。実例→名前の順。名乗りではなく、定義として言う。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概念の紹介まで。具体的な質問項目や進め方は講座の中身なので、無料では出さない。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「その姿になったら、何が変わりそうですか」という問いを口頭で紹介する。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「順番を変えるだけ」を強調する。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「実演します」と予告する。実演があると視聴率が上がる。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実演がこのレッスンの山。画面共有の準備をしてから撮る。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実演パートの入口。ここで空気が変わる。画面共有に切り替える合図。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実際に自分のAIで生成して撮影すること。ここは本物の出力を見せる。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①と②を並べて見せた瞬間が、この動画の最大の山。ゆっくり読ませる間を取る。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この動画の結論のひとつ。「AIの使い方だけ学んでも変わらない」の根拠になる。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インスタのプロフィールで約束していることを、ここで回収する。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最後の1行が最重要。ゆっくり言う。「7つもやるのか」と思わせない。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★沈黙を入れる。すぐ次に行かない。視聴者が自分の中で答える時間を作る。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ここで初めて「一人では難しい」に着地させる。押しつけない。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押さない。正直に断ることもあると言うと、かえって信頼される。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合わない人を明示すると、合う人の申込みの質が上がる。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最後は感謝で締める。申込URLはLINEの文面側に置く。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E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動画 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1600200"/>
            <a:ext cx="2103120" cy="384048"/>
          </a:xfrm>
          <a:prstGeom prst="roundRect">
            <a:avLst>
              <a:gd name="adj" fmla="val 23810"/>
            </a:avLst>
          </a:prstGeom>
          <a:solidFill>
            <a:srgbClr val="C08F9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002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無料ミニ講座　1／3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221284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パーソナルスタイリスト／イメージコンサルタントの方へ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697480"/>
            <a:ext cx="1054577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資格を取ったのに、</a:t>
            </a:r>
            <a:endParaRPr lang="en-US" sz="4400" dirty="0"/>
          </a:p>
          <a:p>
            <a:pPr indent="0" marL="0">
              <a:lnSpc>
                <a:spcPts val="6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なぜ選ばれないのか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452628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約10分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534924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1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えりりん　／　ファッション心理学者・大学教授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レッスン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こんなこと、ありませんか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ひとつでも当てはまったら、最後までご覧ください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103120"/>
            <a:ext cx="10545775" cy="640080"/>
          </a:xfrm>
          <a:prstGeom prst="roundRect">
            <a:avLst>
              <a:gd name="adj" fmla="val 8571"/>
            </a:avLst>
          </a:prstGeom>
          <a:solidFill>
            <a:srgbClr val="F7F3F0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2103120"/>
            <a:ext cx="9814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インスタは頑張って投稿しているのに、反応が薄い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2852928"/>
            <a:ext cx="10545775" cy="640080"/>
          </a:xfrm>
          <a:prstGeom prst="roundRect">
            <a:avLst>
              <a:gd name="adj" fmla="val 8571"/>
            </a:avLst>
          </a:prstGeom>
          <a:solidFill>
            <a:srgbClr val="F7F3F0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2852928"/>
            <a:ext cx="9814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モニターさんは来るけれど、本申込みにつながらない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3602736"/>
            <a:ext cx="10545775" cy="640080"/>
          </a:xfrm>
          <a:prstGeom prst="roundRect">
            <a:avLst>
              <a:gd name="adj" fmla="val 8571"/>
            </a:avLst>
          </a:prstGeom>
          <a:solidFill>
            <a:srgbClr val="F7F3F0"/>
          </a:solidFill>
          <a:ln/>
        </p:spPr>
      </p:sp>
      <p:sp>
        <p:nvSpPr>
          <p:cNvPr id="10" name="Text 8"/>
          <p:cNvSpPr/>
          <p:nvPr/>
        </p:nvSpPr>
        <p:spPr>
          <a:xfrm>
            <a:off x="1188720" y="3602736"/>
            <a:ext cx="9814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診断メニューはあるけれど、一回きりで終わってしまう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22960" y="4352544"/>
            <a:ext cx="10545775" cy="640080"/>
          </a:xfrm>
          <a:prstGeom prst="roundRect">
            <a:avLst>
              <a:gd name="adj" fmla="val 8571"/>
            </a:avLst>
          </a:prstGeom>
          <a:solidFill>
            <a:srgbClr val="F7F3F0"/>
          </a:solidFill>
          <a:ln/>
        </p:spPr>
      </p:sp>
      <p:sp>
        <p:nvSpPr>
          <p:cNvPr id="12" name="Text 10"/>
          <p:cNvSpPr/>
          <p:nvPr/>
        </p:nvSpPr>
        <p:spPr>
          <a:xfrm>
            <a:off x="1188720" y="4352544"/>
            <a:ext cx="9814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同じ資格の人が多くて、自分の違いを説明できない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22960" y="5102352"/>
            <a:ext cx="10545775" cy="640080"/>
          </a:xfrm>
          <a:prstGeom prst="roundRect">
            <a:avLst>
              <a:gd name="adj" fmla="val 8571"/>
            </a:avLst>
          </a:prstGeom>
          <a:solidFill>
            <a:srgbClr val="E3C9CD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" y="5102352"/>
            <a:ext cx="9814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診断してお伝えしたのに、お客様が実際には変わらない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22960" y="59436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▷ 物販の方は「診断」を「商品」に置き換えて聞いてください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E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レッスン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1054577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うまくいかない理由は、</a:t>
            </a:r>
            <a:endParaRPr lang="en-US" sz="4000" dirty="0"/>
          </a:p>
          <a:p>
            <a:pPr indent="0" marL="0">
              <a:lnSpc>
                <a:spcPts val="6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センスでも、努力でもありません。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29768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むしろ逆です。ご相談くださる方ほど、勉強熱心で、誠実で、お客様思いです。</a:t>
            </a:r>
            <a:endParaRPr lang="en-US" sz="1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足りないのは、感性と専門性が「選ばれる仕組み」になっていないこと。それだけです。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レッスン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「診断ができます」では、もう選ばれない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資格を持っている方が、本当に増えました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10545775" cy="914400"/>
          </a:xfrm>
          <a:prstGeom prst="roundRect">
            <a:avLst>
              <a:gd name="adj" fmla="val 7000"/>
            </a:avLst>
          </a:prstGeom>
          <a:solidFill>
            <a:srgbClr val="EAE3D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5740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パーソナルカラー　　骨格　　顔タイプ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同じ協会、同じ診断結果、似たような料金。この中に並べられると、違いが見えません。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3703320"/>
            <a:ext cx="10545775" cy="1600200"/>
          </a:xfrm>
          <a:prstGeom prst="roundRect">
            <a:avLst>
              <a:gd name="adj" fmla="val 4000"/>
            </a:avLst>
          </a:prstGeom>
          <a:solidFill>
            <a:srgbClr val="3E2F38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3840480"/>
            <a:ext cx="96313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7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「パーソナルカラー診断、骨格診断、顔タイプ診断ができます。</a:t>
            </a:r>
            <a:endParaRPr lang="en-US" sz="17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7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○○協会認定講師です。」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80160" y="4709160"/>
            <a:ext cx="9631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何ができるかは書いてある。でも、受けた自分がどうなるかが書いていない。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5532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だからお客様は、価格でしか比べようがなくなります。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E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レッスン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1054577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診断したのに、</a:t>
            </a:r>
            <a:endParaRPr lang="en-US" sz="4000" dirty="0"/>
          </a:p>
          <a:p>
            <a:pPr indent="0" marL="0">
              <a:lnSpc>
                <a:spcPts val="6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お客様が変わらない。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29768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似合う色をお伝えして、コーディネートまでご提案した。喜んで帰られた。</a:t>
            </a:r>
            <a:endParaRPr lang="en-US" sz="1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なのに3ヶ月後にお会いすると、前と同じ服を着ていらっしゃる。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E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動画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次のレッスン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2834640"/>
            <a:ext cx="10545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お客様が変わらない、</a:t>
            </a:r>
            <a:endParaRPr lang="en-US" sz="40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本当の理由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3434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次のレッスンで、お話しします。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E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動画 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1600200"/>
            <a:ext cx="2103120" cy="384048"/>
          </a:xfrm>
          <a:prstGeom prst="roundRect">
            <a:avLst>
              <a:gd name="adj" fmla="val 23810"/>
            </a:avLst>
          </a:prstGeom>
          <a:solidFill>
            <a:srgbClr val="C08F9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002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無料ミニ講座　2／3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221284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無料ミニ講座 2本目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697480"/>
            <a:ext cx="1054577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お客様が変わらない、</a:t>
            </a:r>
            <a:endParaRPr lang="en-US" sz="4400" dirty="0"/>
          </a:p>
          <a:p>
            <a:pPr indent="0" marL="0">
              <a:lnSpc>
                <a:spcPts val="6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本当の理由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452628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約12分　／　ファッション心理学の話です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534924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1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えりりん　／　ファッション心理学者・大学教授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レッスン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買おうとした瞬間、心の中で聞こえる声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お客様の頭の中で、何が起きているか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10545775" cy="804672"/>
          </a:xfrm>
          <a:prstGeom prst="roundRect">
            <a:avLst>
              <a:gd name="adj" fmla="val 7955"/>
            </a:avLst>
          </a:prstGeom>
          <a:solidFill>
            <a:srgbClr val="EAE3D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148840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「私なんかが、こんな明るい色を着ても」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3108960"/>
            <a:ext cx="10545775" cy="804672"/>
          </a:xfrm>
          <a:prstGeom prst="roundRect">
            <a:avLst>
              <a:gd name="adj" fmla="val 7955"/>
            </a:avLst>
          </a:prstGeom>
          <a:solidFill>
            <a:srgbClr val="EAE3DD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108960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「あ、けっこう高いな。安いほうでいいや」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4069080"/>
            <a:ext cx="10545775" cy="804672"/>
          </a:xfrm>
          <a:prstGeom prst="roundRect">
            <a:avLst>
              <a:gd name="adj" fmla="val 7955"/>
            </a:avLst>
          </a:prstGeom>
          <a:solidFill>
            <a:srgbClr val="EAE3DD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4069080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「これ着てたら、家族に何か言われそう」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" y="5212080"/>
            <a:ext cx="10545775" cy="914400"/>
          </a:xfrm>
          <a:prstGeom prst="roundRect">
            <a:avLst>
              <a:gd name="adj" fmla="val 7000"/>
            </a:avLst>
          </a:prstGeom>
          <a:solidFill>
            <a:srgbClr val="3E2F38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2120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そっと棚に戻して、いつもの黒いカーディガンを買って帰る。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レッスン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この声を「観念」といいます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ファッションに対する、その人の思い込みです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011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こんな口癖、聞きませんか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450592"/>
            <a:ext cx="5029200" cy="566928"/>
          </a:xfrm>
          <a:prstGeom prst="roundRect">
            <a:avLst>
              <a:gd name="adj" fmla="val 9677"/>
            </a:avLst>
          </a:prstGeom>
          <a:solidFill>
            <a:srgbClr val="F7F3F0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45059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「安かったから、つい買っちゃって」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3108960"/>
            <a:ext cx="5029200" cy="566928"/>
          </a:xfrm>
          <a:prstGeom prst="roundRect">
            <a:avLst>
              <a:gd name="adj" fmla="val 9677"/>
            </a:avLst>
          </a:prstGeom>
          <a:solidFill>
            <a:srgbClr val="F7F3F0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31089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「素敵な服を着てないと、恥ずかしい」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22960" y="3767328"/>
            <a:ext cx="5029200" cy="566928"/>
          </a:xfrm>
          <a:prstGeom prst="roundRect">
            <a:avLst>
              <a:gd name="adj" fmla="val 9677"/>
            </a:avLst>
          </a:prstGeom>
          <a:solidFill>
            <a:srgbClr val="F7F3F0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76732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「結局、好きなものを着ちゃうよね」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36792" y="2011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観念は、過去の体験からできています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36792" y="2450592"/>
            <a:ext cx="5029200" cy="566928"/>
          </a:xfrm>
          <a:prstGeom prst="roundRect">
            <a:avLst>
              <a:gd name="adj" fmla="val 9677"/>
            </a:avLst>
          </a:prstGeom>
          <a:solidFill>
            <a:srgbClr val="EAE3DD"/>
          </a:solidFill>
          <a:ln/>
        </p:spPr>
      </p:sp>
      <p:sp>
        <p:nvSpPr>
          <p:cNvPr id="14" name="Text 12"/>
          <p:cNvSpPr/>
          <p:nvPr/>
        </p:nvSpPr>
        <p:spPr>
          <a:xfrm>
            <a:off x="6611112" y="245059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子どもの頃、母が選んだ服をずっと着ていた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336792" y="3108960"/>
            <a:ext cx="5029200" cy="566928"/>
          </a:xfrm>
          <a:prstGeom prst="roundRect">
            <a:avLst>
              <a:gd name="adj" fmla="val 9677"/>
            </a:avLst>
          </a:prstGeom>
          <a:solidFill>
            <a:srgbClr val="EAE3DD"/>
          </a:solidFill>
          <a:ln/>
        </p:spPr>
      </p:sp>
      <p:sp>
        <p:nvSpPr>
          <p:cNvPr id="16" name="Text 14"/>
          <p:cNvSpPr/>
          <p:nvPr/>
        </p:nvSpPr>
        <p:spPr>
          <a:xfrm>
            <a:off x="6611112" y="31089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背が高くて、可愛い服が似合わなかった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336792" y="3767328"/>
            <a:ext cx="5029200" cy="566928"/>
          </a:xfrm>
          <a:prstGeom prst="roundRect">
            <a:avLst>
              <a:gd name="adj" fmla="val 9677"/>
            </a:avLst>
          </a:prstGeom>
          <a:solidFill>
            <a:srgbClr val="EAE3DD"/>
          </a:solidFill>
          <a:ln/>
        </p:spPr>
      </p:sp>
      <p:sp>
        <p:nvSpPr>
          <p:cNvPr id="18" name="Text 16"/>
          <p:cNvSpPr/>
          <p:nvPr/>
        </p:nvSpPr>
        <p:spPr>
          <a:xfrm>
            <a:off x="6611112" y="376732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「変な格好だと一緒に歩けない」と言われた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22960" y="4754880"/>
            <a:ext cx="10545775" cy="1005840"/>
          </a:xfrm>
          <a:prstGeom prst="roundRect">
            <a:avLst>
              <a:gd name="adj" fmla="val 6364"/>
            </a:avLst>
          </a:prstGeom>
          <a:solidFill>
            <a:srgbClr val="3E2F38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75488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何十年も前の体験が、今日のクローゼットを決めています。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E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レッスン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1054577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知識は入っても、</a:t>
            </a:r>
            <a:endParaRPr lang="en-US" sz="4000" dirty="0"/>
          </a:p>
          <a:p>
            <a:pPr indent="0" marL="0">
              <a:lnSpc>
                <a:spcPts val="6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観念はそのまま。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29768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だから、行動が変わりません。これが、診断結果が実行されない本当の理由です。</a:t>
            </a:r>
            <a:endParaRPr lang="en-US" sz="1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逆に、観念のほうが変わると、同じ診断結果でも受け取り方がまるで違ってきます。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E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レッスン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55448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わたしが研究しているのが、この「観念」です。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105457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これが、</a:t>
            </a:r>
            <a:endParaRPr lang="en-US" sz="4000" dirty="0"/>
          </a:p>
          <a:p>
            <a:pPr indent="0" marL="0">
              <a:lnSpc>
                <a:spcPts val="6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ファッション心理学です。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822960" y="3931920"/>
            <a:ext cx="3273552" cy="1600200"/>
          </a:xfrm>
          <a:prstGeom prst="roundRect">
            <a:avLst>
              <a:gd name="adj" fmla="val 4000"/>
            </a:avLst>
          </a:prstGeom>
          <a:solidFill>
            <a:srgbClr val="F7F3F0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4096512"/>
            <a:ext cx="2724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装いと自己イメージ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7280" y="4553712"/>
            <a:ext cx="2724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人は服そのものではなく、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その先の「なりたい自分」を買う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62272" y="3931920"/>
            <a:ext cx="3273552" cy="1600200"/>
          </a:xfrm>
          <a:prstGeom prst="roundRect">
            <a:avLst>
              <a:gd name="adj" fmla="val 4000"/>
            </a:avLst>
          </a:prstGeom>
          <a:solidFill>
            <a:srgbClr val="F7F3F0"/>
          </a:solidFill>
          <a:ln/>
        </p:spPr>
      </p:sp>
      <p:sp>
        <p:nvSpPr>
          <p:cNvPr id="9" name="Text 7"/>
          <p:cNvSpPr/>
          <p:nvPr/>
        </p:nvSpPr>
        <p:spPr>
          <a:xfrm>
            <a:off x="4736592" y="4096512"/>
            <a:ext cx="2724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観念と行動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736592" y="4553712"/>
            <a:ext cx="2724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知識ではなく観念が、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実際の行動を決めている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01584" y="3931920"/>
            <a:ext cx="3273552" cy="1600200"/>
          </a:xfrm>
          <a:prstGeom prst="roundRect">
            <a:avLst>
              <a:gd name="adj" fmla="val 4000"/>
            </a:avLst>
          </a:prstGeom>
          <a:solidFill>
            <a:srgbClr val="F7F3F0"/>
          </a:solidFill>
          <a:ln/>
        </p:spPr>
      </p:sp>
      <p:sp>
        <p:nvSpPr>
          <p:cNvPr id="12" name="Text 10"/>
          <p:cNvSpPr/>
          <p:nvPr/>
        </p:nvSpPr>
        <p:spPr>
          <a:xfrm>
            <a:off x="8375904" y="4096512"/>
            <a:ext cx="2724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変化のプロセス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375904" y="4553712"/>
            <a:ext cx="2724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観念には、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書き換わる順番がある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57150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「似合う」を当てる学問ではありません。「なぜ着ないのか」を扱う学問です。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レッスン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観念は、3つの順番で変わります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3273552" cy="2834640"/>
          </a:xfrm>
          <a:prstGeom prst="roundRect">
            <a:avLst>
              <a:gd name="adj" fmla="val 2258"/>
            </a:avLst>
          </a:prstGeom>
          <a:solidFill>
            <a:srgbClr val="F7F3F0"/>
          </a:solidFill>
          <a:ln/>
        </p:spPr>
      </p:sp>
      <p:sp>
        <p:nvSpPr>
          <p:cNvPr id="5" name="Shape 3"/>
          <p:cNvSpPr/>
          <p:nvPr/>
        </p:nvSpPr>
        <p:spPr>
          <a:xfrm>
            <a:off x="2167128" y="2240280"/>
            <a:ext cx="585216" cy="585216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6" name="Text 4"/>
          <p:cNvSpPr/>
          <p:nvPr/>
        </p:nvSpPr>
        <p:spPr>
          <a:xfrm>
            <a:off x="2167128" y="22402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2971800"/>
            <a:ext cx="2907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DISCOVERY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3346704"/>
            <a:ext cx="2907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自分を見つめる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097280" y="3858768"/>
            <a:ext cx="2724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「ファッションとは何ですか」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過去の体験を思い出す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62272" y="2011680"/>
            <a:ext cx="3273552" cy="2834640"/>
          </a:xfrm>
          <a:prstGeom prst="roundRect">
            <a:avLst>
              <a:gd name="adj" fmla="val 2258"/>
            </a:avLst>
          </a:prstGeom>
          <a:solidFill>
            <a:srgbClr val="F7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5806440" y="2240280"/>
            <a:ext cx="585216" cy="585216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2" name="Text 10"/>
          <p:cNvSpPr/>
          <p:nvPr/>
        </p:nvSpPr>
        <p:spPr>
          <a:xfrm>
            <a:off x="5806440" y="22402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645152" y="2971800"/>
            <a:ext cx="2907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AWAKENESS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45152" y="3346704"/>
            <a:ext cx="2907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気づき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736592" y="3858768"/>
            <a:ext cx="2724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その観念がどこから来たのか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に気づいていただく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01584" y="2011680"/>
            <a:ext cx="3273552" cy="2834640"/>
          </a:xfrm>
          <a:prstGeom prst="roundRect">
            <a:avLst>
              <a:gd name="adj" fmla="val 2258"/>
            </a:avLst>
          </a:prstGeom>
          <a:solidFill>
            <a:srgbClr val="EAE3DD"/>
          </a:solidFill>
          <a:ln/>
        </p:spPr>
      </p:sp>
      <p:sp>
        <p:nvSpPr>
          <p:cNvPr id="17" name="Shape 15"/>
          <p:cNvSpPr/>
          <p:nvPr/>
        </p:nvSpPr>
        <p:spPr>
          <a:xfrm>
            <a:off x="9445752" y="2240280"/>
            <a:ext cx="585216" cy="585216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8" name="Text 16"/>
          <p:cNvSpPr/>
          <p:nvPr/>
        </p:nvSpPr>
        <p:spPr>
          <a:xfrm>
            <a:off x="9445752" y="22402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8284464" y="2971800"/>
            <a:ext cx="2907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Circulation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84464" y="3346704"/>
            <a:ext cx="2907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受け取り直す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8375904" y="3858768"/>
            <a:ext cx="2724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手放したいものを手放し、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見る場所を変えていく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22960" y="5120640"/>
            <a:ext cx="10545775" cy="914400"/>
          </a:xfrm>
          <a:prstGeom prst="roundRect">
            <a:avLst>
              <a:gd name="adj" fmla="val 7000"/>
            </a:avLst>
          </a:prstGeom>
          <a:solidFill>
            <a:srgbClr val="3E2F38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512064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この3つを通ったあとに診断をお伝えすると、まったく違う入り方をします。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レッスン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「似合う」と「なりたい」は、ズレます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5029200" cy="1463040"/>
          </a:xfrm>
          <a:prstGeom prst="roundRect">
            <a:avLst>
              <a:gd name="adj" fmla="val 4375"/>
            </a:avLst>
          </a:prstGeom>
          <a:solidFill>
            <a:srgbClr val="F7F3F0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217627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診断で出る「似合う」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143000" y="263347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淡い色がお似合いです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この形がお似合いです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36792" y="2011680"/>
            <a:ext cx="5029200" cy="1463040"/>
          </a:xfrm>
          <a:prstGeom prst="roundRect">
            <a:avLst>
              <a:gd name="adj" fmla="val 4375"/>
            </a:avLst>
          </a:prstGeom>
          <a:solidFill>
            <a:srgbClr val="EAE3DD"/>
          </a:solidFill>
          <a:ln/>
        </p:spPr>
      </p:sp>
      <p:sp>
        <p:nvSpPr>
          <p:cNvPr id="8" name="Text 6"/>
          <p:cNvSpPr/>
          <p:nvPr/>
        </p:nvSpPr>
        <p:spPr>
          <a:xfrm>
            <a:off x="6656832" y="217627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ご本人の「なりたい」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6656832" y="263347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でも、黒でかっこよくいたい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憧れているのは、別の形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22960" y="3703320"/>
            <a:ext cx="10545775" cy="868680"/>
          </a:xfrm>
          <a:prstGeom prst="roundRect">
            <a:avLst>
              <a:gd name="adj" fmla="val 7368"/>
            </a:avLst>
          </a:prstGeom>
          <a:solidFill>
            <a:srgbClr val="E3C9CD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7033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「でも診断結果はこうですから」と押すと、納得しないまま帰られて、結局着ません。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4800600"/>
            <a:ext cx="10545775" cy="1234440"/>
          </a:xfrm>
          <a:prstGeom prst="roundRect">
            <a:avLst>
              <a:gd name="adj" fmla="val 5185"/>
            </a:avLst>
          </a:prstGeom>
          <a:solidFill>
            <a:srgbClr val="3E2F3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800600"/>
            <a:ext cx="105457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先に「なりたい」を聞ききる。そのうえで、似合うを乗せる。</a:t>
            </a:r>
            <a:endParaRPr lang="en-US" sz="2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レッスン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順番を変えるだけで、変わります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同じ時間、同じ資格、同じ診断結果です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10545775" cy="1325880"/>
          </a:xfrm>
          <a:prstGeom prst="roundRect">
            <a:avLst>
              <a:gd name="adj" fmla="val 4828"/>
            </a:avLst>
          </a:prstGeom>
          <a:solidFill>
            <a:srgbClr val="F7F3F0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22585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よくある順番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188720" y="2697480"/>
            <a:ext cx="23774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26974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診断する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 rot="5400000">
            <a:off x="3739896" y="2907792"/>
            <a:ext cx="109728" cy="155448"/>
          </a:xfrm>
          <a:prstGeom prst="triangle">
            <a:avLst/>
          </a:prstGeom>
          <a:solidFill>
            <a:srgbClr val="7C6E73"/>
          </a:solidFill>
          <a:ln/>
        </p:spPr>
      </p:sp>
      <p:sp>
        <p:nvSpPr>
          <p:cNvPr id="10" name="Shape 8"/>
          <p:cNvSpPr/>
          <p:nvPr/>
        </p:nvSpPr>
        <p:spPr>
          <a:xfrm>
            <a:off x="4023360" y="2697480"/>
            <a:ext cx="23774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4023360" y="26974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ご提案する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22960" y="3749040"/>
            <a:ext cx="10545775" cy="1325880"/>
          </a:xfrm>
          <a:prstGeom prst="roundRect">
            <a:avLst>
              <a:gd name="adj" fmla="val 4828"/>
            </a:avLst>
          </a:prstGeom>
          <a:solidFill>
            <a:srgbClr val="3E2F38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3858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変えたあとの順番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188720" y="4297680"/>
            <a:ext cx="2377440" cy="566928"/>
          </a:xfrm>
          <a:prstGeom prst="roundRect">
            <a:avLst>
              <a:gd name="adj" fmla="val 12903"/>
            </a:avLst>
          </a:prstGeom>
          <a:solidFill>
            <a:srgbClr val="F7F3F0"/>
          </a:solidFill>
          <a:ln/>
        </p:spPr>
      </p:sp>
      <p:sp>
        <p:nvSpPr>
          <p:cNvPr id="15" name="Text 13"/>
          <p:cNvSpPr/>
          <p:nvPr/>
        </p:nvSpPr>
        <p:spPr>
          <a:xfrm>
            <a:off x="1188720" y="42976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聞く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 rot="5400000">
            <a:off x="3739896" y="4507992"/>
            <a:ext cx="109728" cy="155448"/>
          </a:xfrm>
          <a:prstGeom prst="triangle">
            <a:avLst/>
          </a:prstGeom>
          <a:solidFill>
            <a:srgbClr val="C08F97"/>
          </a:solidFill>
          <a:ln/>
        </p:spPr>
      </p:sp>
      <p:sp>
        <p:nvSpPr>
          <p:cNvPr id="17" name="Shape 15"/>
          <p:cNvSpPr/>
          <p:nvPr/>
        </p:nvSpPr>
        <p:spPr>
          <a:xfrm>
            <a:off x="4023360" y="4297680"/>
            <a:ext cx="2377440" cy="566928"/>
          </a:xfrm>
          <a:prstGeom prst="roundRect">
            <a:avLst>
              <a:gd name="adj" fmla="val 12903"/>
            </a:avLst>
          </a:prstGeom>
          <a:solidFill>
            <a:srgbClr val="F7F3F0"/>
          </a:solidFill>
          <a:ln/>
        </p:spPr>
      </p:sp>
      <p:sp>
        <p:nvSpPr>
          <p:cNvPr id="18" name="Text 16"/>
          <p:cNvSpPr/>
          <p:nvPr/>
        </p:nvSpPr>
        <p:spPr>
          <a:xfrm>
            <a:off x="4023360" y="42976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気づいていただく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 rot="5400000">
            <a:off x="6574536" y="4507992"/>
            <a:ext cx="109728" cy="155448"/>
          </a:xfrm>
          <a:prstGeom prst="triangle">
            <a:avLst/>
          </a:prstGeom>
          <a:solidFill>
            <a:srgbClr val="C08F97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0" y="4297680"/>
            <a:ext cx="2377440" cy="566928"/>
          </a:xfrm>
          <a:prstGeom prst="roundRect">
            <a:avLst>
              <a:gd name="adj" fmla="val 12903"/>
            </a:avLst>
          </a:prstGeom>
          <a:solidFill>
            <a:srgbClr val="F7F3F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42976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それから診断する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22960" y="5532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お客様の行動が変わり、行動が変わるから、また来てくださるようになります。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E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動画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次のレッスン・最終回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2834640"/>
            <a:ext cx="10545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AIで、</a:t>
            </a:r>
            <a:endParaRPr lang="en-US" sz="40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今日から変えられること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3434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次のレッスンで、お話しします。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E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動画 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1600200"/>
            <a:ext cx="2103120" cy="384048"/>
          </a:xfrm>
          <a:prstGeom prst="roundRect">
            <a:avLst>
              <a:gd name="adj" fmla="val 23810"/>
            </a:avLst>
          </a:prstGeom>
          <a:solidFill>
            <a:srgbClr val="C08F9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002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無料ミニ講座　3／3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221284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無料ミニ講座 3本目（最終回）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697480"/>
            <a:ext cx="1054577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AIで、</a:t>
            </a:r>
            <a:endParaRPr lang="en-US" sz="4400" dirty="0"/>
          </a:p>
          <a:p>
            <a:pPr indent="0" marL="0">
              <a:lnSpc>
                <a:spcPts val="6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今日から変えられること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452628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約14分　／　実演つき。そして整えるべき7つ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534924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1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えりりん　／　ファッション心理学者・大学教授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E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レッスン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ここからは、実際にAIを使ってみます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105457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同じお題を、</a:t>
            </a:r>
            <a:endParaRPr lang="en-US" sz="4000" dirty="0"/>
          </a:p>
          <a:p>
            <a:pPr indent="0" marL="0">
              <a:lnSpc>
                <a:spcPts val="6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AIに2回頼んでみます。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822960" y="4389120"/>
            <a:ext cx="10545775" cy="1051560"/>
          </a:xfrm>
          <a:prstGeom prst="roundRect">
            <a:avLst>
              <a:gd name="adj" fmla="val 6087"/>
            </a:avLst>
          </a:prstGeom>
          <a:solidFill>
            <a:srgbClr val="2A1F2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4389120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お題：パーソナルスタイリストの、Instagramプロフィール文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562356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AIが苦手な方も大丈夫です。見るだけでイメージできます。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レッスン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① ふつうに、AIに頼むと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たぶん、多くの方がこう頼んでいます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5029200" cy="3246120"/>
          </a:xfrm>
          <a:prstGeom prst="roundRect">
            <a:avLst>
              <a:gd name="adj" fmla="val 1972"/>
            </a:avLst>
          </a:prstGeom>
          <a:solidFill>
            <a:srgbClr val="3E2F38"/>
          </a:solidFill>
          <a:ln/>
        </p:spPr>
      </p:sp>
      <p:sp>
        <p:nvSpPr>
          <p:cNvPr id="6" name="Text 4"/>
          <p:cNvSpPr/>
          <p:nvPr/>
        </p:nvSpPr>
        <p:spPr>
          <a:xfrm>
            <a:off x="1115568" y="210312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AIへの頼み方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2468880"/>
            <a:ext cx="44805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パーソナルスタイリストの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Instagramプロフィール文を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書いてください。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336792" y="1965960"/>
            <a:ext cx="5029200" cy="3246120"/>
          </a:xfrm>
          <a:prstGeom prst="roundRect">
            <a:avLst>
              <a:gd name="adj" fmla="val 1972"/>
            </a:avLst>
          </a:prstGeom>
          <a:solidFill>
            <a:srgbClr val="EAE3DD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210312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出てきた文章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629400" y="251460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「パーソナルカラー・骨格診断で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あなたの魅力を引き出します✨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一人ひとりに寄り添った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スタイリングをご提案します」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5440680"/>
            <a:ext cx="10545775" cy="777240"/>
          </a:xfrm>
          <a:prstGeom prst="roundRect">
            <a:avLst>
              <a:gd name="adj" fmla="val 8235"/>
            </a:avLst>
          </a:prstGeom>
          <a:solidFill>
            <a:srgbClr val="F7F3F0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44068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……どこかで見たことがある文章。誰にでも当てはまり、誰にも刺さりません。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レッスン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② ファッション心理学を入れて、頼むと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同じAIです。渡す中身だけを変えます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5029200" cy="3246120"/>
          </a:xfrm>
          <a:prstGeom prst="roundRect">
            <a:avLst>
              <a:gd name="adj" fmla="val 1972"/>
            </a:avLst>
          </a:prstGeom>
          <a:solidFill>
            <a:srgbClr val="3E2F38"/>
          </a:solidFill>
          <a:ln/>
        </p:spPr>
      </p:sp>
      <p:sp>
        <p:nvSpPr>
          <p:cNvPr id="6" name="Text 4"/>
          <p:cNvSpPr/>
          <p:nvPr/>
        </p:nvSpPr>
        <p:spPr>
          <a:xfrm>
            <a:off x="1115568" y="210312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AIへの頼み方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2468880"/>
            <a:ext cx="44805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お客様は40代の女性。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クローゼットは一杯なのに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「着る服がない」と感じています。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背景には「安いから買ってしまう」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「私なんかが明るい色を着ても」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という思い込みがあります。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診断だけでなく、その思い込みを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一緒に見直すセッションをしています。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この内容で、資格名を並べず、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お客様がどうなるかを書いてください。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36792" y="1965960"/>
            <a:ext cx="5029200" cy="3246120"/>
          </a:xfrm>
          <a:prstGeom prst="roundRect">
            <a:avLst>
              <a:gd name="adj" fmla="val 1972"/>
            </a:avLst>
          </a:prstGeom>
          <a:solidFill>
            <a:srgbClr val="E3C9CD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210312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出てきた文章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629400" y="251460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17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「“着る服がない”の正体は、</a:t>
            </a:r>
            <a:endParaRPr lang="en-US" sz="17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7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クローゼットではなく</a:t>
            </a:r>
            <a:endParaRPr lang="en-US" sz="17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7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思い込みかもしれません。</a:t>
            </a:r>
            <a:endParaRPr lang="en-US" sz="1700" dirty="0"/>
          </a:p>
          <a:p>
            <a:pPr indent="0" marL="0">
              <a:lnSpc>
                <a:spcPts val="3000"/>
              </a:lnSpc>
              <a:buNone/>
            </a:pPr>
            <a:endParaRPr lang="en-US" sz="17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7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40代の“似合う”を、</a:t>
            </a:r>
            <a:endParaRPr lang="en-US" sz="17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7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心の側から整えるスタイリング。」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" y="5440680"/>
            <a:ext cx="10545775" cy="777240"/>
          </a:xfrm>
          <a:prstGeom prst="roundRect">
            <a:avLst>
              <a:gd name="adj" fmla="val 8235"/>
            </a:avLst>
          </a:prstGeom>
          <a:solidFill>
            <a:srgbClr val="3E2F38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44068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この文章は、あなたにしか書けません。同じAI、同じお題、違うのは渡した中身だけです。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E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レッスン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1054577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AIが賢いのでは</a:t>
            </a:r>
            <a:endParaRPr lang="en-US" sz="4000" dirty="0"/>
          </a:p>
          <a:p>
            <a:pPr indent="0" marL="0">
              <a:lnSpc>
                <a:spcPts val="6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ありません。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29768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渡す中身を持っている人が、AIを使うと強いんです。</a:t>
            </a:r>
            <a:endParaRPr lang="en-US" sz="1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お客様の観念を知っていること。提供できる変化を言葉にできること。</a:t>
            </a:r>
            <a:endParaRPr lang="en-US" sz="1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それがある人のAIと、ない人のAIでは、出てくるものがまったく違います。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レッスン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AIは、7つの全部に効きます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講座では、AIを使いながら進めていきます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103120"/>
            <a:ext cx="5120640" cy="868680"/>
          </a:xfrm>
          <a:prstGeom prst="roundRect">
            <a:avLst>
              <a:gd name="adj" fmla="val 6316"/>
            </a:avLst>
          </a:prstGeom>
          <a:solidFill>
            <a:srgbClr val="F7F3F0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1945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価値の言語化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7280" y="256032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自分の強みを、AIと壁打ちして言葉にする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45352" y="2103120"/>
            <a:ext cx="5120640" cy="868680"/>
          </a:xfrm>
          <a:prstGeom prst="roundRect">
            <a:avLst>
              <a:gd name="adj" fmla="val 6316"/>
            </a:avLst>
          </a:prstGeom>
          <a:solidFill>
            <a:srgbClr val="EAE3DD"/>
          </a:solidFill>
          <a:ln/>
        </p:spPr>
      </p:sp>
      <p:sp>
        <p:nvSpPr>
          <p:cNvPr id="9" name="Text 7"/>
          <p:cNvSpPr/>
          <p:nvPr/>
        </p:nvSpPr>
        <p:spPr>
          <a:xfrm>
            <a:off x="6519672" y="21945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発信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19672" y="256032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投稿ネタ・リールのシナリオを、型に沿って量産する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3108960"/>
            <a:ext cx="5120640" cy="868680"/>
          </a:xfrm>
          <a:prstGeom prst="roundRect">
            <a:avLst>
              <a:gd name="adj" fmla="val 6316"/>
            </a:avLst>
          </a:prstGeom>
          <a:solidFill>
            <a:srgbClr val="F7F3F0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3200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セッション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97280" y="356616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診断レポートの下書き、お客様への振り返りメール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45352" y="3108960"/>
            <a:ext cx="5120640" cy="868680"/>
          </a:xfrm>
          <a:prstGeom prst="roundRect">
            <a:avLst>
              <a:gd name="adj" fmla="val 6316"/>
            </a:avLst>
          </a:prstGeom>
          <a:solidFill>
            <a:srgbClr val="EAE3DD"/>
          </a:solidFill>
          <a:ln/>
        </p:spPr>
      </p:sp>
      <p:sp>
        <p:nvSpPr>
          <p:cNvPr id="15" name="Text 13"/>
          <p:cNvSpPr/>
          <p:nvPr/>
        </p:nvSpPr>
        <p:spPr>
          <a:xfrm>
            <a:off x="6519672" y="3200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仕組み化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519672" y="356616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LINEの配信文、よくある質問、申込み後の自動案内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" y="4297680"/>
            <a:ext cx="10545775" cy="914400"/>
          </a:xfrm>
          <a:prstGeom prst="roundRect">
            <a:avLst>
              <a:gd name="adj" fmla="val 7000"/>
            </a:avLst>
          </a:prstGeom>
          <a:solidFill>
            <a:srgbClr val="E3C9CD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2976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AIの使い方だけを教える講座ではありません。AIに渡す「中身」を作るところから、一緒にやります。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22960" y="5440680"/>
            <a:ext cx="10545775" cy="777240"/>
          </a:xfrm>
          <a:prstGeom prst="roundRect">
            <a:avLst>
              <a:gd name="adj" fmla="val 8235"/>
            </a:avLst>
          </a:prstGeom>
          <a:solidFill>
            <a:srgbClr val="3E2F38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544068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ファッション心理学　×　AI　×　仕組み化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レッスン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選ばれている方が、整えている7つ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今日は覚えなくて大丈夫です。地図として見てください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103120"/>
            <a:ext cx="10545775" cy="493776"/>
          </a:xfrm>
          <a:prstGeom prst="roundRect">
            <a:avLst>
              <a:gd name="adj" fmla="val 9259"/>
            </a:avLst>
          </a:prstGeom>
          <a:solidFill>
            <a:srgbClr val="F7F3F0"/>
          </a:solidFill>
          <a:ln/>
        </p:spPr>
      </p:sp>
      <p:sp>
        <p:nvSpPr>
          <p:cNvPr id="6" name="Shape 4"/>
          <p:cNvSpPr/>
          <p:nvPr/>
        </p:nvSpPr>
        <p:spPr>
          <a:xfrm>
            <a:off x="969264" y="2185416"/>
            <a:ext cx="329184" cy="329184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7" name="Text 5"/>
          <p:cNvSpPr/>
          <p:nvPr/>
        </p:nvSpPr>
        <p:spPr>
          <a:xfrm>
            <a:off x="969264" y="2185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26464" y="2103120"/>
            <a:ext cx="2651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価値の言語化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114800" y="2103120"/>
            <a:ext cx="69796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資格名ではなく「その人がどうなるか」で説明できる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2670048"/>
            <a:ext cx="10545775" cy="493776"/>
          </a:xfrm>
          <a:prstGeom prst="roundRect">
            <a:avLst>
              <a:gd name="adj" fmla="val 9259"/>
            </a:avLst>
          </a:prstGeom>
          <a:solidFill>
            <a:srgbClr val="EAE3DD"/>
          </a:solidFill>
          <a:ln/>
        </p:spPr>
      </p:sp>
      <p:sp>
        <p:nvSpPr>
          <p:cNvPr id="11" name="Shape 9"/>
          <p:cNvSpPr/>
          <p:nvPr/>
        </p:nvSpPr>
        <p:spPr>
          <a:xfrm>
            <a:off x="969264" y="2752344"/>
            <a:ext cx="329184" cy="329184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2" name="Text 10"/>
          <p:cNvSpPr/>
          <p:nvPr/>
        </p:nvSpPr>
        <p:spPr>
          <a:xfrm>
            <a:off x="969264" y="2752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26464" y="2670048"/>
            <a:ext cx="2651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選ばれる理由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114800" y="2670048"/>
            <a:ext cx="69796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どんな方の、どんな困りごとに応えるかがはっきりしている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2960" y="3236976"/>
            <a:ext cx="10545775" cy="493776"/>
          </a:xfrm>
          <a:prstGeom prst="roundRect">
            <a:avLst>
              <a:gd name="adj" fmla="val 9259"/>
            </a:avLst>
          </a:prstGeom>
          <a:solidFill>
            <a:srgbClr val="F7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969264" y="3319272"/>
            <a:ext cx="329184" cy="329184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7" name="Text 15"/>
          <p:cNvSpPr/>
          <p:nvPr/>
        </p:nvSpPr>
        <p:spPr>
          <a:xfrm>
            <a:off x="969264" y="3319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426464" y="3236976"/>
            <a:ext cx="2651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商品の3層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114800" y="3236976"/>
            <a:ext cx="69796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試す入口・変化を届ける本命・続けて選ばれるもの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822960" y="3803904"/>
            <a:ext cx="10545775" cy="493776"/>
          </a:xfrm>
          <a:prstGeom prst="roundRect">
            <a:avLst>
              <a:gd name="adj" fmla="val 9259"/>
            </a:avLst>
          </a:prstGeom>
          <a:solidFill>
            <a:srgbClr val="EAE3DD"/>
          </a:solidFill>
          <a:ln/>
        </p:spPr>
      </p:sp>
      <p:sp>
        <p:nvSpPr>
          <p:cNvPr id="21" name="Shape 19"/>
          <p:cNvSpPr/>
          <p:nvPr/>
        </p:nvSpPr>
        <p:spPr>
          <a:xfrm>
            <a:off x="969264" y="3886200"/>
            <a:ext cx="329184" cy="329184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22" name="Text 20"/>
          <p:cNvSpPr/>
          <p:nvPr/>
        </p:nvSpPr>
        <p:spPr>
          <a:xfrm>
            <a:off x="969264" y="3886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26464" y="3803904"/>
            <a:ext cx="2651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発信の設計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114800" y="3803904"/>
            <a:ext cx="69796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思いつきではなく、見る人の気持ちの順番に沿っている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822960" y="4370832"/>
            <a:ext cx="10545775" cy="493776"/>
          </a:xfrm>
          <a:prstGeom prst="roundRect">
            <a:avLst>
              <a:gd name="adj" fmla="val 9259"/>
            </a:avLst>
          </a:prstGeom>
          <a:solidFill>
            <a:srgbClr val="F7F3F0"/>
          </a:solidFill>
          <a:ln/>
        </p:spPr>
      </p:sp>
      <p:sp>
        <p:nvSpPr>
          <p:cNvPr id="26" name="Shape 24"/>
          <p:cNvSpPr/>
          <p:nvPr/>
        </p:nvSpPr>
        <p:spPr>
          <a:xfrm>
            <a:off x="969264" y="4453128"/>
            <a:ext cx="329184" cy="329184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27" name="Text 25"/>
          <p:cNvSpPr/>
          <p:nvPr/>
        </p:nvSpPr>
        <p:spPr>
          <a:xfrm>
            <a:off x="969264" y="4453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26464" y="4370832"/>
            <a:ext cx="2651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販売の導線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114800" y="4370832"/>
            <a:ext cx="69796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見た方が、次にどこへ行けばいいかがつながっている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22960" y="4937760"/>
            <a:ext cx="10545775" cy="493776"/>
          </a:xfrm>
          <a:prstGeom prst="roundRect">
            <a:avLst>
              <a:gd name="adj" fmla="val 9259"/>
            </a:avLst>
          </a:prstGeom>
          <a:solidFill>
            <a:srgbClr val="EAE3DD"/>
          </a:solidFill>
          <a:ln/>
        </p:spPr>
      </p:sp>
      <p:sp>
        <p:nvSpPr>
          <p:cNvPr id="31" name="Shape 29"/>
          <p:cNvSpPr/>
          <p:nvPr/>
        </p:nvSpPr>
        <p:spPr>
          <a:xfrm>
            <a:off x="969264" y="5020056"/>
            <a:ext cx="329184" cy="329184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32" name="Text 30"/>
          <p:cNvSpPr/>
          <p:nvPr/>
        </p:nvSpPr>
        <p:spPr>
          <a:xfrm>
            <a:off x="969264" y="50200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426464" y="4937760"/>
            <a:ext cx="2651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セッションの設計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114800" y="4937760"/>
            <a:ext cx="69796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聞く → 気づいていただく → それから診断する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822960" y="5504688"/>
            <a:ext cx="10545775" cy="493776"/>
          </a:xfrm>
          <a:prstGeom prst="roundRect">
            <a:avLst>
              <a:gd name="adj" fmla="val 9259"/>
            </a:avLst>
          </a:prstGeom>
          <a:solidFill>
            <a:srgbClr val="F7F3F0"/>
          </a:solidFill>
          <a:ln/>
        </p:spPr>
      </p:sp>
      <p:sp>
        <p:nvSpPr>
          <p:cNvPr id="36" name="Shape 34"/>
          <p:cNvSpPr/>
          <p:nvPr/>
        </p:nvSpPr>
        <p:spPr>
          <a:xfrm>
            <a:off x="969264" y="5586984"/>
            <a:ext cx="329184" cy="329184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37" name="Text 35"/>
          <p:cNvSpPr/>
          <p:nvPr/>
        </p:nvSpPr>
        <p:spPr>
          <a:xfrm>
            <a:off x="969264" y="55869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426464" y="5504688"/>
            <a:ext cx="2651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仕組み化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4114800" y="5504688"/>
            <a:ext cx="69796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毎回同じことを手作業でやらない。だから疲れない</a:t>
            </a:r>
            <a:endParaRPr lang="en-US" sz="1350" dirty="0"/>
          </a:p>
        </p:txBody>
      </p:sp>
      <p:sp>
        <p:nvSpPr>
          <p:cNvPr id="40" name="Shape 38"/>
          <p:cNvSpPr/>
          <p:nvPr/>
        </p:nvSpPr>
        <p:spPr>
          <a:xfrm>
            <a:off x="822960" y="6172200"/>
            <a:ext cx="10545775" cy="457200"/>
          </a:xfrm>
          <a:prstGeom prst="roundRect">
            <a:avLst>
              <a:gd name="adj" fmla="val 12000"/>
            </a:avLst>
          </a:prstGeom>
          <a:solidFill>
            <a:srgbClr val="E3C9CD"/>
          </a:solidFill>
          <a:ln/>
        </p:spPr>
      </p:sp>
      <p:sp>
        <p:nvSpPr>
          <p:cNvPr id="41" name="Text 39"/>
          <p:cNvSpPr/>
          <p:nvPr/>
        </p:nvSpPr>
        <p:spPr>
          <a:xfrm>
            <a:off x="822960" y="61722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これは、やることリストではありません。今どこにいるかを知るための地図です。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レッスン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あなたは、どこが空いていますか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4つだけ。心の中で、はい・いいえで答えてみてください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194560"/>
            <a:ext cx="10545775" cy="713232"/>
          </a:xfrm>
          <a:prstGeom prst="roundRect">
            <a:avLst>
              <a:gd name="adj" fmla="val 7692"/>
            </a:avLst>
          </a:prstGeom>
          <a:solidFill>
            <a:srgbClr val="F7F3F0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322576"/>
            <a:ext cx="457200" cy="45720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7" name="Text 5"/>
          <p:cNvSpPr/>
          <p:nvPr/>
        </p:nvSpPr>
        <p:spPr>
          <a:xfrm>
            <a:off x="1042416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737360" y="2194560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自分の価値を、資格名を使わずにひとことで言えますか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3035808"/>
            <a:ext cx="10545775" cy="713232"/>
          </a:xfrm>
          <a:prstGeom prst="roundRect">
            <a:avLst>
              <a:gd name="adj" fmla="val 7692"/>
            </a:avLst>
          </a:prstGeom>
          <a:solidFill>
            <a:srgbClr val="F7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1042416" y="3163824"/>
            <a:ext cx="457200" cy="45720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1" name="Text 9"/>
          <p:cNvSpPr/>
          <p:nvPr/>
        </p:nvSpPr>
        <p:spPr>
          <a:xfrm>
            <a:off x="1042416" y="3163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737360" y="303580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お客様が本当に困っていることを、その方の言葉で言えますか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22960" y="3877056"/>
            <a:ext cx="10545775" cy="713232"/>
          </a:xfrm>
          <a:prstGeom prst="roundRect">
            <a:avLst>
              <a:gd name="adj" fmla="val 7692"/>
            </a:avLst>
          </a:prstGeom>
          <a:solidFill>
            <a:srgbClr val="F7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1042416" y="4005072"/>
            <a:ext cx="457200" cy="45720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5" name="Text 13"/>
          <p:cNvSpPr/>
          <p:nvPr/>
        </p:nvSpPr>
        <p:spPr>
          <a:xfrm>
            <a:off x="1042416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737360" y="3877056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診断のあとに続く商品が、ありますか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22960" y="4718304"/>
            <a:ext cx="10545775" cy="713232"/>
          </a:xfrm>
          <a:prstGeom prst="roundRect">
            <a:avLst>
              <a:gd name="adj" fmla="val 7692"/>
            </a:avLst>
          </a:prstGeom>
          <a:solidFill>
            <a:srgbClr val="F7F3F0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2416" y="4846320"/>
            <a:ext cx="457200" cy="45720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9" name="Text 17"/>
          <p:cNvSpPr/>
          <p:nvPr/>
        </p:nvSpPr>
        <p:spPr>
          <a:xfrm>
            <a:off x="1042416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737360" y="4718304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セッションで、自分より、お客様が話す時間のほうが長いですか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22960" y="5623560"/>
            <a:ext cx="10545775" cy="777240"/>
          </a:xfrm>
          <a:prstGeom prst="roundRect">
            <a:avLst>
              <a:gd name="adj" fmla="val 8235"/>
            </a:avLst>
          </a:prstGeom>
          <a:solidFill>
            <a:srgbClr val="3E2F38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56235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「いいえ」がついた中で、一番小さい番号。そこがあなたの現在地です。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E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レッスン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1054577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いちばん多いのは、</a:t>
            </a:r>
            <a:endParaRPr lang="en-US" sz="4000" dirty="0"/>
          </a:p>
          <a:p>
            <a:pPr indent="0" marL="0">
              <a:lnSpc>
                <a:spcPts val="6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1番と2番です。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29768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みなさん、集客が課題だと思っていらっしゃいます。でも実際は、その手前で止まっています。</a:t>
            </a:r>
            <a:endParaRPr lang="en-US" sz="1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そして1番と2番は、一人ではとても見つけにくい。自分の価値は、自分では当たり前すぎて見えないからです。</a:t>
            </a:r>
            <a:endParaRPr lang="en-US" sz="1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「こんなの誰でもできる」と思っていたことが、実は一番の強みだった ―― 本当によくあります。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レッスン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個別相談で、一緒に整理します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48132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あなたの現在地を、一緒に言葉にしていく時間です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103120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F7F3F0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10312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　いま、どこで詰まっているのか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45352" y="2103120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F7F3F0"/>
          </a:solidFill>
          <a:ln/>
        </p:spPr>
      </p:sp>
      <p:sp>
        <p:nvSpPr>
          <p:cNvPr id="8" name="Text 6"/>
          <p:cNvSpPr/>
          <p:nvPr/>
        </p:nvSpPr>
        <p:spPr>
          <a:xfrm>
            <a:off x="6519672" y="210312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　あなたの強みは何で、それをどう言葉にするか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2880360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F7F3F0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288036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　診断のあとに、どんな商品があるといいか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45352" y="2880360"/>
            <a:ext cx="5120640" cy="658368"/>
          </a:xfrm>
          <a:prstGeom prst="roundRect">
            <a:avLst>
              <a:gd name="adj" fmla="val 8333"/>
            </a:avLst>
          </a:prstGeom>
          <a:solidFill>
            <a:srgbClr val="F7F3F0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288036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　サービス型か、物販型か、その両方か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3794760"/>
            <a:ext cx="10545775" cy="914400"/>
          </a:xfrm>
          <a:prstGeom prst="roundRect">
            <a:avLst>
              <a:gd name="adj" fmla="val 7000"/>
            </a:avLst>
          </a:prstGeom>
          <a:solidFill>
            <a:srgbClr val="E3C9CD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79476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売り込みの時間ではありません。わたしのほうが、聞いている時間が長い時間です。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22960" y="4937760"/>
            <a:ext cx="10545775" cy="1051560"/>
          </a:xfrm>
          <a:prstGeom prst="roundRect">
            <a:avLst>
              <a:gd name="adj" fmla="val 6087"/>
            </a:avLst>
          </a:prstGeom>
          <a:solidFill>
            <a:srgbClr val="3E2F38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937760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お話をうかがって、わたしがお役に立てないと思ったら、正直にそうお伝えします。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レッスン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658368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こんな方に、お会いしたいです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45775" cy="658368"/>
          </a:xfrm>
          <a:prstGeom prst="roundRect">
            <a:avLst>
              <a:gd name="adj" fmla="val 8333"/>
            </a:avLst>
          </a:prstGeom>
          <a:solidFill>
            <a:srgbClr val="F7F3F0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2011680"/>
            <a:ext cx="98142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資格は取ったけれど、そこから先が分からない方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788920"/>
            <a:ext cx="10545775" cy="658368"/>
          </a:xfrm>
          <a:prstGeom prst="roundRect">
            <a:avLst>
              <a:gd name="adj" fmla="val 8333"/>
            </a:avLst>
          </a:prstGeom>
          <a:solidFill>
            <a:srgbClr val="F7F3F0"/>
          </a:solidFill>
          <a:ln/>
        </p:spPr>
      </p:sp>
      <p:sp>
        <p:nvSpPr>
          <p:cNvPr id="7" name="Text 5"/>
          <p:cNvSpPr/>
          <p:nvPr/>
        </p:nvSpPr>
        <p:spPr>
          <a:xfrm>
            <a:off x="1188720" y="2788920"/>
            <a:ext cx="98142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単発の診断で、少し疲れてきてしまった方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3566160"/>
            <a:ext cx="10545775" cy="658368"/>
          </a:xfrm>
          <a:prstGeom prst="roundRect">
            <a:avLst>
              <a:gd name="adj" fmla="val 8333"/>
            </a:avLst>
          </a:prstGeom>
          <a:solidFill>
            <a:srgbClr val="F7F3F0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3566160"/>
            <a:ext cx="98142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お客様に、もっと深いところで役に立ちたい方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4572000"/>
            <a:ext cx="10545775" cy="1371600"/>
          </a:xfrm>
          <a:prstGeom prst="roundRect">
            <a:avLst>
              <a:gd name="adj" fmla="val 4667"/>
            </a:avLst>
          </a:prstGeom>
          <a:solidFill>
            <a:srgbClr val="EAE3DD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4709160"/>
            <a:ext cx="9631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逆に「とにかく早く稼ぐ方法だけ知りたい」という方には、合いません。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280160" y="5212080"/>
            <a:ext cx="9631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わたしがお伝えしているのは、時間はかかるけれど、長く続く形だからです。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E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74175" y="3108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レッスン 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21040" y="1737360"/>
            <a:ext cx="3017520" cy="3017520"/>
          </a:xfrm>
          <a:prstGeom prst="ellipse">
            <a:avLst/>
          </a:prstGeom>
          <a:solidFill>
            <a:srgbClr val="2A1F26"/>
          </a:solidFill>
          <a:ln/>
        </p:spPr>
      </p:sp>
      <p:sp>
        <p:nvSpPr>
          <p:cNvPr id="4" name="Shape 2"/>
          <p:cNvSpPr/>
          <p:nvPr/>
        </p:nvSpPr>
        <p:spPr>
          <a:xfrm>
            <a:off x="8321040" y="1737360"/>
            <a:ext cx="3017520" cy="3017520"/>
          </a:xfrm>
          <a:prstGeom prst="ellipse">
            <a:avLst/>
          </a:prstGeom>
          <a:solidFill>
            <a:srgbClr val="3E2F38">
              <a:alpha val="0"/>
            </a:srgbClr>
          </a:solidFill>
          <a:ln w="15875">
            <a:solidFill>
              <a:srgbClr val="C08F9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321040" y="173736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</a:t>
            </a:r>
            <a:endParaRPr lang="en-US" sz="12000" dirty="0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3本、ありがとうございました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7132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「売れる」は結果。</a:t>
            </a:r>
            <a:endParaRPr lang="en-US" sz="36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「選ばれる」が原因。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22960" y="406908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そしてそれは、センスではなく、順番で作れます。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4846320"/>
            <a:ext cx="4937760" cy="731520"/>
          </a:xfrm>
          <a:prstGeom prst="roundRect">
            <a:avLst>
              <a:gd name="adj" fmla="val 15000"/>
            </a:avLst>
          </a:prstGeom>
          <a:solidFill>
            <a:srgbClr val="F7F3F0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48463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個別相談は LINE から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822960" y="580644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1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えりりん　／　ファッション心理学者・大学教授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無料ミニ講座 ― ファッション心理学 × AI</dc:title>
  <dc:subject>PptxGenJS Presentation</dc:subject>
  <dc:creator>Fashion Entrepreneurship Academia</dc:creator>
  <cp:lastModifiedBy>Fashion Entrepreneurship Academia</cp:lastModifiedBy>
  <cp:revision>1</cp:revision>
  <dcterms:created xsi:type="dcterms:W3CDTF">2026-08-10T02:41:31Z</dcterms:created>
  <dcterms:modified xsi:type="dcterms:W3CDTF">2026-08-10T02:41:31Z</dcterms:modified>
</cp:coreProperties>
</file>