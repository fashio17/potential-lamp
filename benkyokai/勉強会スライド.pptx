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名乗りは短く。すぐ「今日のゴール」へ。自動ウェビナーでも「今日」「今夜」は普通に使ってよい。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ここを最初に言い切る。集めるだけの人はここで離れる。それでいい。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「2つ」と言ってから「でも1つの話」と言う。ここで興味を持たせる。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間を取る。ここは共感のパート。畳みかけない。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「勉強不足」と言わない。「材料が同じ」と言う。ここが講座全体の姿勢。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「仕入れ」という言葉を強調。ここでPART1に入る。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章扉。テンポを変える。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ここで差別化が生まれる。多くの人が「流行の紹介」で止まっている。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「観念」という言葉をここで定義する。講座の中心用語。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3つを言ってから、1つずつ写真で見せる。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［　］は必ず実際に見たことに差し替える。ここが借り物だと全部が薄くなる。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売上ランキングではなく「店が推したいもの」を見る、と言い切る。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ここが山。実際に言われた言葉を思い出して入れる。診断ビジネスの構造まで一気に届く。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ここが今日いちばん持ち帰ってほしいところ。ゆっくり。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実際に見たことに差し替える。ここは自分の言葉で。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必ず入れる。ここで「行けないから無理」の離脱を防ぐ。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この勉強会の背骨。早口にしない。ここで2つのテーマが1本になる。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実演パート。画面共有の準備。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 本物を映すこと。台本の例を読み上げると実演にならない。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①と②を必ず並べる。並べないと差が伝わらない。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4番を指差す。ここが今日の着地点につながる。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この条件2つは必ず言う。ここが品を守る部分。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ここで責めない。「そこは講座で6ヶ月かけて作るところ」と言って、ワークへ。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 録画では、ここに10分のタイマー画面を入れるか「一時停止してください」と明示する。ここを流すと『聞く会』に戻る。いちばん大事な10分。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この画面を出したまま止める。テンプレートが見えている状態にしておく。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「必ずお返しします」は守ること。ここで会話が一往復すると、以降の配信の届き方が変わる。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3つを1つずつ。ここから個別相談へ自然に降りる。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押さない。「お役に立てないと思ったら正直にそう言う」を必ず添える。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ありがとうございました、で締める。個別相談のリンクは前のスライドで出しきる。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691640"/>
            <a:ext cx="2743200" cy="2743200"/>
          </a:xfrm>
          <a:prstGeom prst="ellipse">
            <a:avLst/>
          </a:prstGeom>
          <a:solidFill>
            <a:srgbClr val="2A1F26"/>
          </a:solidFill>
          <a:ln/>
        </p:spPr>
      </p:sp>
      <p:sp>
        <p:nvSpPr>
          <p:cNvPr id="3" name="Shape 1"/>
          <p:cNvSpPr/>
          <p:nvPr/>
        </p:nvSpPr>
        <p:spPr>
          <a:xfrm>
            <a:off x="8549640" y="1691640"/>
            <a:ext cx="2743200" cy="2743200"/>
          </a:xfrm>
          <a:prstGeom prst="ellipse">
            <a:avLst/>
          </a:prstGeom>
          <a:solidFill>
            <a:srgbClr val="3E2F38">
              <a:alpha val="0"/>
            </a:srgbClr>
          </a:solidFill>
          <a:ln w="15875">
            <a:solidFill>
              <a:srgbClr val="C08F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1691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勉強会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パーソナルスタイリスト／イメージコンサルタントの方へ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406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「海外の視点」と「AI」で、</a:t>
            </a:r>
            <a:endParaRPr lang="en-US" sz="3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あなたにしか作れない</a:t>
            </a:r>
            <a:endParaRPr lang="en-US" sz="3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リールをつくる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2A1F2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434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最後の10分で、1本つくって持ち帰ります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　　|　　70分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今日は、</a:t>
            </a:r>
            <a:endParaRPr lang="en-US" sz="3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聞いて終わりにしません。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42062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最後の10分、手を止めていただきます。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そこでリールの構成を1本、実際に作って持ち帰っていただきます。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メモできるものを、開いておいてください。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今日お話しするのは、2つです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でも、1つの話をします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45775" cy="1005840"/>
          </a:xfrm>
          <a:prstGeom prst="roundRect">
            <a:avLst>
              <a:gd name="adj" fmla="val 6364"/>
            </a:avLst>
          </a:prstGeom>
          <a:solidFill>
            <a:srgbClr val="F7F3F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87168"/>
            <a:ext cx="603504" cy="60350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2414016"/>
            <a:ext cx="899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海外ファッションリサーチ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2852928"/>
            <a:ext cx="8991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戻ってきたばかりなので、実際に見てきたものをお見せします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10545775" cy="1005840"/>
          </a:xfrm>
          <a:prstGeom prst="roundRect">
            <a:avLst>
              <a:gd name="adj" fmla="val 6364"/>
            </a:avLst>
          </a:prstGeom>
          <a:solidFill>
            <a:srgbClr val="EAE3DD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3721608"/>
            <a:ext cx="603504" cy="60350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21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3648456"/>
            <a:ext cx="899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AIでリールをつくる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4087368"/>
            <a:ext cx="8991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実演します。そのあと、ご自身で1本作ります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98348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983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バラバラの話に聞こえますが、今日は1本につながります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Instagramを開くと、みんな似ている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そして、自分の投稿もその中に混ざっている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96112" y="2286000"/>
            <a:ext cx="3368954" cy="1371600"/>
          </a:xfrm>
          <a:prstGeom prst="roundRect">
            <a:avLst>
              <a:gd name="adj" fmla="val 4667"/>
            </a:avLst>
          </a:prstGeom>
          <a:solidFill>
            <a:srgbClr val="F7F3F0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286000"/>
            <a:ext cx="33689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似たような投稿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411370" y="2286000"/>
            <a:ext cx="3368954" cy="1371600"/>
          </a:xfrm>
          <a:prstGeom prst="roundRect">
            <a:avLst>
              <a:gd name="adj" fmla="val 4667"/>
            </a:avLst>
          </a:prstGeom>
          <a:solidFill>
            <a:srgbClr val="F7F3F0"/>
          </a:solidFill>
          <a:ln/>
        </p:spPr>
      </p:sp>
      <p:sp>
        <p:nvSpPr>
          <p:cNvPr id="7" name="Text 5"/>
          <p:cNvSpPr/>
          <p:nvPr/>
        </p:nvSpPr>
        <p:spPr>
          <a:xfrm>
            <a:off x="4411370" y="2286000"/>
            <a:ext cx="33689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似たような言い回し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926629" y="2286000"/>
            <a:ext cx="3368954" cy="1371600"/>
          </a:xfrm>
          <a:prstGeom prst="roundRect">
            <a:avLst>
              <a:gd name="adj" fmla="val 4667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7926629" y="2286000"/>
            <a:ext cx="33689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似たような色づかい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3977640"/>
            <a:ext cx="10545775" cy="1188720"/>
          </a:xfrm>
          <a:prstGeom prst="roundRect">
            <a:avLst>
              <a:gd name="adj" fmla="val 5385"/>
            </a:avLst>
          </a:prstGeom>
          <a:solidFill>
            <a:srgbClr val="E3C9C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776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そして、自分の投稿も、その中に混ざっている。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539496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ここで責めない。次のスライドで原因を構造に置きます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センスの問題では</a:t>
            </a:r>
            <a:endParaRPr lang="en-US" sz="3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ありません。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42062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見ているものが、みんな同じだからです。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日本の雑誌、日本のインフルエンサー、そして他のイメコンさんの投稿。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同じ材料からは、同じものしか出てきません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だから、やることは1つです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45775" cy="1554480"/>
          </a:xfrm>
          <a:prstGeom prst="roundRect">
            <a:avLst>
              <a:gd name="adj" fmla="val 5294"/>
            </a:avLst>
          </a:prstGeom>
          <a:solidFill>
            <a:srgbClr val="3E2F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45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材料を、変える。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そのために、私は海外に行っています。</a:t>
            </a:r>
            <a:endParaRPr lang="en-US" sz="2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0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旅行ではありません。仕入れです。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海外ファッションリサーチ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流行ではなく、観念を持ち帰る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先に、やってはいけない使い方から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45775" cy="1143000"/>
          </a:xfrm>
          <a:prstGeom prst="roundRect">
            <a:avLst>
              <a:gd name="adj" fmla="val 5600"/>
            </a:avLst>
          </a:prstGeom>
          <a:solidFill>
            <a:srgbClr val="EAE3D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7C6E7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「パリではいま、こういうのが流行っています」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これは、やらないでください。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069080"/>
            <a:ext cx="9814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それは、雑誌でもできます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846320"/>
            <a:ext cx="9814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日本のお客様は、パリの流行を知りたいわけではありません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見ているのは、流行ではなく</a:t>
            </a:r>
            <a:endParaRPr lang="en-US" sz="3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その国の人の「観念」です。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観念 ＝ ファッションに対して持っている思い込み、その人の中にあるルール。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そして観念は、国によって違います。ここが面白いところです。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私が見ているのは、3つです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3332378" cy="3291840"/>
          </a:xfrm>
          <a:prstGeom prst="roundRect">
            <a:avLst>
              <a:gd name="adj" fmla="val 2222"/>
            </a:avLst>
          </a:prstGeom>
          <a:solidFill>
            <a:srgbClr val="F7F3F0"/>
          </a:solidFill>
          <a:ln/>
        </p:spPr>
      </p:sp>
      <p:sp>
        <p:nvSpPr>
          <p:cNvPr id="5" name="Shape 3"/>
          <p:cNvSpPr/>
          <p:nvPr/>
        </p:nvSpPr>
        <p:spPr>
          <a:xfrm>
            <a:off x="2260549" y="2423160"/>
            <a:ext cx="640080" cy="64008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6" name="Text 4"/>
          <p:cNvSpPr/>
          <p:nvPr/>
        </p:nvSpPr>
        <p:spPr>
          <a:xfrm>
            <a:off x="2260549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3332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人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379476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街を歩く普通の人。</a:t>
            </a:r>
            <a:endParaRPr lang="en-US" sz="145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モデルではなく、</a:t>
            </a:r>
            <a:endParaRPr lang="en-US" sz="145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お客様と同じ年代の人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29658" y="2148840"/>
            <a:ext cx="3332378" cy="3291840"/>
          </a:xfrm>
          <a:prstGeom prst="roundRect">
            <a:avLst>
              <a:gd name="adj" fmla="val 2222"/>
            </a:avLst>
          </a:prstGeom>
          <a:solidFill>
            <a:srgbClr val="F7F3F0"/>
          </a:solidFill>
          <a:ln/>
        </p:spPr>
      </p:sp>
      <p:sp>
        <p:nvSpPr>
          <p:cNvPr id="10" name="Shape 8"/>
          <p:cNvSpPr/>
          <p:nvPr/>
        </p:nvSpPr>
        <p:spPr>
          <a:xfrm>
            <a:off x="5775808" y="2423160"/>
            <a:ext cx="640080" cy="64008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1" name="Text 9"/>
          <p:cNvSpPr/>
          <p:nvPr/>
        </p:nvSpPr>
        <p:spPr>
          <a:xfrm>
            <a:off x="577580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429658" y="3200400"/>
            <a:ext cx="3332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58258" y="379476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何が売れているかではなく、</a:t>
            </a:r>
            <a:endParaRPr lang="en-US" sz="145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何が入口の一番前に</a:t>
            </a:r>
            <a:endParaRPr lang="en-US" sz="145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置かれているか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44917" y="2148840"/>
            <a:ext cx="3332378" cy="3291840"/>
          </a:xfrm>
          <a:prstGeom prst="roundRect">
            <a:avLst>
              <a:gd name="adj" fmla="val 2222"/>
            </a:avLst>
          </a:prstGeom>
          <a:solidFill>
            <a:srgbClr val="F7F3F0"/>
          </a:solidFill>
          <a:ln/>
        </p:spPr>
      </p:sp>
      <p:sp>
        <p:nvSpPr>
          <p:cNvPr id="15" name="Shape 13"/>
          <p:cNvSpPr/>
          <p:nvPr/>
        </p:nvSpPr>
        <p:spPr>
          <a:xfrm>
            <a:off x="9291066" y="2423160"/>
            <a:ext cx="640080" cy="64008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6" name="Text 14"/>
          <p:cNvSpPr/>
          <p:nvPr/>
        </p:nvSpPr>
        <p:spPr>
          <a:xfrm>
            <a:off x="929106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944917" y="3200400"/>
            <a:ext cx="3332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言葉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173517" y="379476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広告コピー、商品タグ、</a:t>
            </a:r>
            <a:endParaRPr lang="en-US" sz="145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店員さんの褒め言葉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① 人を見る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モデルではなく、お客様と同じ年代の普通の人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4846320" cy="3291840"/>
          </a:xfrm>
          <a:prstGeom prst="roundRect">
            <a:avLst>
              <a:gd name="adj" fmla="val 1944"/>
            </a:avLst>
          </a:prstGeom>
          <a:solidFill>
            <a:srgbClr val="EAE3DD"/>
          </a:solidFill>
          <a:ln w="12700">
            <a:solidFill>
              <a:srgbClr val="C08F9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［写真①］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現地の同年代の女性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ご自身が撮ってきたものに差し替え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2103120"/>
            <a:ext cx="5333695" cy="1508760"/>
          </a:xfrm>
          <a:prstGeom prst="roundRect">
            <a:avLst>
              <a:gd name="adj" fmla="val 4242"/>
            </a:avLst>
          </a:prstGeom>
          <a:solidFill>
            <a:srgbClr val="3E2F38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103120"/>
            <a:ext cx="46936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見るのは、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その人が「何を隠していないか」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17920" y="3794760"/>
            <a:ext cx="51508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日本では「隠す」ための工夫が多い。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二の腕を隠す、体型を隠す、白髪を隠す。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［現地］では、［　　　　　　　］。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ここに観念の違いが出ます。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② 店を見る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何が、入口の一番前に置かれているか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4846320" cy="3291840"/>
          </a:xfrm>
          <a:prstGeom prst="roundRect">
            <a:avLst>
              <a:gd name="adj" fmla="val 1944"/>
            </a:avLst>
          </a:prstGeom>
          <a:solidFill>
            <a:srgbClr val="EAE3DD"/>
          </a:solidFill>
          <a:ln w="12700">
            <a:solidFill>
              <a:srgbClr val="C08F9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［写真②］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店頭・入口の陳列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ご自身が撮ってきたものに差し替え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2103120"/>
            <a:ext cx="5333695" cy="1508760"/>
          </a:xfrm>
          <a:prstGeom prst="roundRect">
            <a:avLst>
              <a:gd name="adj" fmla="val 4242"/>
            </a:avLst>
          </a:prstGeom>
          <a:solidFill>
            <a:srgbClr val="3E2F38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103120"/>
            <a:ext cx="46936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店が一番前に置くものは、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その国の人が一番欲しいもの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17920" y="3794760"/>
            <a:ext cx="51508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　　　　　］が前に出ていました。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これは、［　　　　　　　　　　］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ということです。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陳列は、その国の欲望の順番です。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③ 言葉を見る ―― ここが一番効きます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同じ服を売るのに、褒める場所が違います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18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　本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42032"/>
            <a:ext cx="5181448" cy="1280160"/>
          </a:xfrm>
          <a:prstGeom prst="roundRect">
            <a:avLst>
              <a:gd name="adj" fmla="val 5000"/>
            </a:avLst>
          </a:prstGeom>
          <a:solidFill>
            <a:srgbClr val="EAE3D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42032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「お似合いですよ」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187288" y="2057400"/>
            <a:ext cx="518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［現地］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7288" y="2542032"/>
            <a:ext cx="5181448" cy="1280160"/>
          </a:xfrm>
          <a:prstGeom prst="roundRect">
            <a:avLst>
              <a:gd name="adj" fmla="val 5000"/>
            </a:avLst>
          </a:prstGeom>
          <a:solidFill>
            <a:srgbClr val="3E2F38"/>
          </a:solidFill>
          <a:ln/>
        </p:spPr>
      </p:sp>
      <p:sp>
        <p:nvSpPr>
          <p:cNvPr id="10" name="Text 8"/>
          <p:cNvSpPr/>
          <p:nvPr/>
        </p:nvSpPr>
        <p:spPr>
          <a:xfrm>
            <a:off x="6370168" y="2542032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「［　　　　　］」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10545775" cy="1691640"/>
          </a:xfrm>
          <a:prstGeom prst="roundRect">
            <a:avLst>
              <a:gd name="adj" fmla="val 4324"/>
            </a:avLst>
          </a:prstGeom>
          <a:solidFill>
            <a:srgbClr val="E3C9CD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069080"/>
            <a:ext cx="96313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日本のお客様は「似合っているかどうか」で自分を評価する習慣がある。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だから診断が売れます。そして、診断だけでは満たされない理由も、ここにあります。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写真で終わらせない。1行にします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これをやらないと、旅行の思い出で終わります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45775" cy="1463040"/>
          </a:xfrm>
          <a:prstGeom prst="roundRect">
            <a:avLst>
              <a:gd name="adj" fmla="val 5625"/>
            </a:avLst>
          </a:prstGeom>
          <a:solidFill>
            <a:srgbClr val="3E2F3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194560"/>
            <a:ext cx="96313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［見たこと］。</a:t>
            </a:r>
            <a:endParaRPr lang="en-US" sz="2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これは［　　　］という観念を表している。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型は、これだけです。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10545775" cy="1371600"/>
          </a:xfrm>
          <a:prstGeom prst="roundRect">
            <a:avLst>
              <a:gd name="adj" fmla="val 4667"/>
            </a:avLst>
          </a:prstGeom>
          <a:solidFill>
            <a:srgbClr val="E3C9CD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443484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この1行が、そのままリールのネタになります。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しかも、他の誰も持っていないネタです。自分の目で見たものだからです。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たとえば、こうなります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45775" cy="2286000"/>
          </a:xfrm>
          <a:prstGeom prst="roundRect">
            <a:avLst>
              <a:gd name="adj" fmla="val 3600"/>
            </a:avLst>
          </a:prstGeom>
          <a:solidFill>
            <a:srgbClr val="F7F3F0"/>
          </a:solidFill>
          <a:ln w="19050">
            <a:solidFill>
              <a:srgbClr val="C08F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148840"/>
            <a:ext cx="94484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［現地］の店員は、「似合う」ではなく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　　　　　］と褒めた。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これは、装いを「他人に評価されるもの」ではなく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「自分で決めるもの」と捉えている観念を表している。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これで、1行です。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海外に行けなくても、できます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大事なのは、飛行機に乗ることではありません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45775" cy="1051560"/>
          </a:xfrm>
          <a:prstGeom prst="roundRect">
            <a:avLst>
              <a:gd name="adj" fmla="val 6957"/>
            </a:avLst>
          </a:prstGeom>
          <a:solidFill>
            <a:srgbClr val="3E2F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「日本語になっていないもの」を見る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52044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海外の通販サイトのレビュー欄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270248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EAE3DD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2702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現地の方のSNS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5020056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5020056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輸入品のタグ・説明文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見る場所を変えるだけです。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AIが弱いのでは</a:t>
            </a:r>
            <a:endParaRPr lang="en-US" sz="3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ありません。</a:t>
            </a:r>
            <a:endParaRPr lang="en-US" sz="3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渡す中身がないだけです。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42062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海外リサーチは、その中身を仕入れに行く作業です。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いま作った1行を、これからAIに渡します。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C08F9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AIでリールをつくる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同じお願いを、2回します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18分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① ふつうに、AIに頼むと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いちばんよくある頼み方から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EAE3DD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5740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「パーソナルスタイリスト向けの、Instagramリールの構成を作ってください」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10545775" cy="1828800"/>
          </a:xfrm>
          <a:prstGeom prst="roundRect">
            <a:avLst>
              <a:gd name="adj" fmla="val 3500"/>
            </a:avLst>
          </a:prstGeom>
          <a:solidFill>
            <a:srgbClr val="EAE3DD"/>
          </a:solidFill>
          <a:ln w="12700">
            <a:solidFill>
              <a:srgbClr val="C08F9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05840" y="3154680"/>
            <a:ext cx="101800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［AI出力①］　※ 撮影前に、必ずご自身で実際に生成したものを貼ってください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16636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1663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間違ってはいません。でも、これ、誰が投稿しても成立します。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② さっきの1行を、渡すと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同じAIです。変わったのは、渡した中身だけ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0545775" cy="1417320"/>
          </a:xfrm>
          <a:prstGeom prst="roundRect">
            <a:avLst>
              <a:gd name="adj" fmla="val 4516"/>
            </a:avLst>
          </a:prstGeom>
          <a:solidFill>
            <a:srgbClr val="F7F3F0"/>
          </a:solidFill>
          <a:ln w="15240">
            <a:solidFill>
              <a:srgbClr val="C08F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011680"/>
            <a:ext cx="98142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【観察したこと】［現地］の店員は「似合う」ではなく［　］と言った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【これが表している観念】装いを「他人に評価されるもの」ではなく「自分で決めるもの」と捉えている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10545775" cy="1783080"/>
          </a:xfrm>
          <a:prstGeom prst="roundRect">
            <a:avLst>
              <a:gd name="adj" fmla="val 3590"/>
            </a:avLst>
          </a:prstGeom>
          <a:solidFill>
            <a:srgbClr val="EAE3DD"/>
          </a:solidFill>
          <a:ln w="12700">
            <a:solidFill>
              <a:srgbClr val="C08F9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05840" y="3611880"/>
            <a:ext cx="1018001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［AI出力②］　※ ①と並べて見せる。ここが今日いちばんの山です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577840"/>
            <a:ext cx="10545775" cy="777240"/>
          </a:xfrm>
          <a:prstGeom prst="roundRect">
            <a:avLst>
              <a:gd name="adj" fmla="val 8235"/>
            </a:avLst>
          </a:prstGeom>
          <a:solidFill>
            <a:srgbClr val="3E2F3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5778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……違いが、分かりますか。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プロンプトは、5つの箱でできています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この5つが埋まれば、AIは毎回あなたの言葉で書きます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249424"/>
            <a:ext cx="457200" cy="45720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148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観察したこと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94960" y="2148840"/>
            <a:ext cx="5699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自分の目で見たこと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2907792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3008376"/>
            <a:ext cx="457200" cy="45720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29077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これが表している観念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394960" y="2907792"/>
            <a:ext cx="5699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さっき作った1行の後半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3666744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767328"/>
            <a:ext cx="457200" cy="45720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36667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伝えたい相手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394960" y="3666744"/>
            <a:ext cx="5699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年齢で止めず、詰まっている場面まで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425696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E3C9C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4526280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44256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起きてほしい変化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394960" y="4425696"/>
            <a:ext cx="5699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ここが一番大事。ここが空く人が一番多い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" y="5184648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5285232"/>
            <a:ext cx="457200" cy="457200"/>
          </a:xfrm>
          <a:prstGeom prst="ellipse">
            <a:avLst/>
          </a:prstGeom>
          <a:solidFill>
            <a:srgbClr val="C08F97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91640" y="51846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作ってほしいもの ＋ 条件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394960" y="5184648"/>
            <a:ext cx="5699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リールの4構成と、品を守るルール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AIに指示する「リールの4構成」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毎回ゼロから考えないための型です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05256" y="2194560"/>
            <a:ext cx="2471852" cy="2560320"/>
          </a:xfrm>
          <a:prstGeom prst="roundRect">
            <a:avLst>
              <a:gd name="adj" fmla="val 2959"/>
            </a:avLst>
          </a:prstGeom>
          <a:solidFill>
            <a:srgbClr val="F7F3F0"/>
          </a:solidFill>
          <a:ln/>
        </p:spPr>
      </p:sp>
      <p:sp>
        <p:nvSpPr>
          <p:cNvPr id="6" name="Shape 4"/>
          <p:cNvSpPr/>
          <p:nvPr/>
        </p:nvSpPr>
        <p:spPr>
          <a:xfrm>
            <a:off x="1866862" y="2468880"/>
            <a:ext cx="548640" cy="54864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7" name="Text 5"/>
          <p:cNvSpPr/>
          <p:nvPr/>
        </p:nvSpPr>
        <p:spPr>
          <a:xfrm>
            <a:off x="1866862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05256" y="3154680"/>
            <a:ext cx="2471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つかみ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51560" y="3703320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2秒で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「私のことだ」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41700" y="2194560"/>
            <a:ext cx="2471852" cy="2560320"/>
          </a:xfrm>
          <a:prstGeom prst="roundRect">
            <a:avLst>
              <a:gd name="adj" fmla="val 2959"/>
            </a:avLst>
          </a:prstGeom>
          <a:solidFill>
            <a:srgbClr val="EAE3DD"/>
          </a:solidFill>
          <a:ln/>
        </p:spPr>
      </p:sp>
      <p:sp>
        <p:nvSpPr>
          <p:cNvPr id="11" name="Shape 9"/>
          <p:cNvSpPr/>
          <p:nvPr/>
        </p:nvSpPr>
        <p:spPr>
          <a:xfrm>
            <a:off x="4503306" y="2468880"/>
            <a:ext cx="548640" cy="54864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4503306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41700" y="3154680"/>
            <a:ext cx="2471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共感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688004" y="3703320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そうなりますよね、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と受け止める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8144" y="2194560"/>
            <a:ext cx="2471852" cy="2560320"/>
          </a:xfrm>
          <a:prstGeom prst="roundRect">
            <a:avLst>
              <a:gd name="adj" fmla="val 2959"/>
            </a:avLst>
          </a:prstGeom>
          <a:solidFill>
            <a:srgbClr val="F7F3F0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9750" y="2468880"/>
            <a:ext cx="548640" cy="54864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975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78144" y="3154680"/>
            <a:ext cx="2471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答え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324448" y="3703320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今日役に立つことを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1つだけ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14587" y="2194560"/>
            <a:ext cx="2471852" cy="2560320"/>
          </a:xfrm>
          <a:prstGeom prst="roundRect">
            <a:avLst>
              <a:gd name="adj" fmla="val 2959"/>
            </a:avLst>
          </a:prstGeom>
          <a:solidFill>
            <a:srgbClr val="EAE3DD"/>
          </a:solidFill>
          <a:ln/>
        </p:spPr>
      </p:sp>
      <p:sp>
        <p:nvSpPr>
          <p:cNvPr id="21" name="Shape 19"/>
          <p:cNvSpPr/>
          <p:nvPr/>
        </p:nvSpPr>
        <p:spPr>
          <a:xfrm>
            <a:off x="9776193" y="2468880"/>
            <a:ext cx="548640" cy="54864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2" name="Text 20"/>
          <p:cNvSpPr/>
          <p:nvPr/>
        </p:nvSpPr>
        <p:spPr>
          <a:xfrm>
            <a:off x="9776193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814587" y="3154680"/>
            <a:ext cx="2471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次の一歩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8960891" y="3703320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保存、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プロフィールへ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5029200"/>
            <a:ext cx="10545775" cy="868680"/>
          </a:xfrm>
          <a:prstGeom prst="roundRect">
            <a:avLst>
              <a:gd name="adj" fmla="val 7368"/>
            </a:avLst>
          </a:prstGeom>
          <a:solidFill>
            <a:srgbClr val="3E2F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292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条件：うまくいかない理由を、見る人の能力のせいにしない／煽らない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埋まらない箱があったら、</a:t>
            </a:r>
            <a:endParaRPr lang="en-US" sz="3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それが今の課題です。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AIの使い方の問題ではありません。いちばんよく空くのは4番「起きてほしい変化」です。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「似合う色が分かります」で止まってしまい、その先が書けない。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8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 O R 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727448" y="2148840"/>
            <a:ext cx="2743200" cy="2743200"/>
          </a:xfrm>
          <a:prstGeom prst="ellipse">
            <a:avLst/>
          </a:prstGeom>
          <a:solidFill>
            <a:srgbClr val="2A1F26"/>
          </a:solidFill>
          <a:ln/>
        </p:spPr>
      </p:sp>
      <p:sp>
        <p:nvSpPr>
          <p:cNvPr id="4" name="Shape 2"/>
          <p:cNvSpPr/>
          <p:nvPr/>
        </p:nvSpPr>
        <p:spPr>
          <a:xfrm>
            <a:off x="4727448" y="2148840"/>
            <a:ext cx="2743200" cy="2743200"/>
          </a:xfrm>
          <a:prstGeom prst="ellipse">
            <a:avLst/>
          </a:prstGeom>
          <a:solidFill>
            <a:srgbClr val="3E2F38">
              <a:alpha val="0"/>
            </a:srgbClr>
          </a:solidFill>
          <a:ln w="19050">
            <a:solidFill>
              <a:srgbClr val="C08F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27448" y="21488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10分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ここで、手を止めます。</a:t>
            </a:r>
            <a:endParaRPr lang="en-US" sz="3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5535" y="310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やっていただくのは、2つです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10分。いま開いているAIでできます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45775" cy="1280160"/>
          </a:xfrm>
          <a:prstGeom prst="roundRect">
            <a:avLst>
              <a:gd name="adj" fmla="val 5000"/>
            </a:avLst>
          </a:prstGeom>
          <a:solidFill>
            <a:srgbClr val="F7F3F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542032"/>
            <a:ext cx="603504" cy="60350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42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0" y="2322576"/>
            <a:ext cx="899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あなたの1行を作る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011680" y="2761488"/>
            <a:ext cx="8991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［見たこと］。これは［　］という観念を表している。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海外でなくて構いません。最近お客様が言った言葉でも大丈夫です。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545775" cy="1280160"/>
          </a:xfrm>
          <a:prstGeom prst="roundRect">
            <a:avLst>
              <a:gd name="adj" fmla="val 5000"/>
            </a:avLst>
          </a:prstGeom>
          <a:solidFill>
            <a:srgbClr val="EAE3DD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4050792"/>
            <a:ext cx="603504" cy="60350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050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3831336"/>
            <a:ext cx="899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5つの箱を埋めて、AIに投げる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011680" y="4270248"/>
            <a:ext cx="8991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ChatGPTでも、Geminiでも、何でも構いません。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349240"/>
            <a:ext cx="10545775" cy="868680"/>
          </a:xfrm>
          <a:prstGeom prst="roundRect">
            <a:avLst>
              <a:gd name="adj" fmla="val 7368"/>
            </a:avLst>
          </a:prstGeom>
          <a:solidFill>
            <a:srgbClr val="E3C9C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「私なんかがこんな色を」「安かったからつい」――これ全部、観念です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作ったものを、送ってください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完成していなくて構いません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45775" cy="1371600"/>
          </a:xfrm>
          <a:prstGeom prst="roundRect">
            <a:avLst>
              <a:gd name="adj" fmla="val 5333"/>
            </a:avLst>
          </a:prstGeom>
          <a:solidFill>
            <a:srgbClr val="3E2F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公式LINEに、そのまま貼り付けてください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10545775" cy="566928"/>
          </a:xfrm>
          <a:prstGeom prst="roundRect">
            <a:avLst>
              <a:gd name="adj" fmla="val 8065"/>
            </a:avLst>
          </a:prstGeom>
          <a:solidFill>
            <a:srgbClr val="F7F3F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65760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5つの箱のうち、埋まったところまでで大丈夫です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315968"/>
            <a:ext cx="10545775" cy="566928"/>
          </a:xfrm>
          <a:prstGeom prst="roundRect">
            <a:avLst>
              <a:gd name="adj" fmla="val 8065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315968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途中で止まった方は「4番で止まりました」だけでも大丈夫です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974336"/>
            <a:ext cx="10545775" cy="566928"/>
          </a:xfrm>
          <a:prstGeom prst="roundRect">
            <a:avLst>
              <a:gd name="adj" fmla="val 8065"/>
            </a:avLst>
          </a:prstGeom>
          <a:solidFill>
            <a:srgbClr val="F7F3F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974336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送ってくださった方に、プロンプトの型とプロンプト集をお送りします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632704"/>
            <a:ext cx="10545775" cy="566928"/>
          </a:xfrm>
          <a:prstGeom prst="roundRect">
            <a:avLst>
              <a:gd name="adj" fmla="val 8065"/>
            </a:avLst>
          </a:prstGeom>
          <a:solidFill>
            <a:srgbClr val="E3C9CD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5632704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ひとりずつ、私からお返事します（自動返信ではありません）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45775" cy="1051560"/>
          </a:xfrm>
          <a:prstGeom prst="roundRect">
            <a:avLst>
              <a:gd name="adj" fmla="val 6087"/>
            </a:avLst>
          </a:prstGeom>
          <a:solidFill>
            <a:srgbClr val="F7F3F0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331720"/>
            <a:ext cx="603504" cy="60350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3317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2249424"/>
            <a:ext cx="899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「また同じ」は、センスではなく材料の問題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2688336"/>
            <a:ext cx="8991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見る場所を変えれば、変わります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10545775" cy="1051560"/>
          </a:xfrm>
          <a:prstGeom prst="roundRect">
            <a:avLst>
              <a:gd name="adj" fmla="val 6087"/>
            </a:avLst>
          </a:prstGeom>
          <a:solidFill>
            <a:srgbClr val="EAE3DD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566160"/>
            <a:ext cx="603504" cy="60350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661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3483864"/>
            <a:ext cx="899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見たものは、1行にして初めて材料になる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3922776"/>
            <a:ext cx="8991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［見たこと］＋［どんな観念か］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572000"/>
            <a:ext cx="10545775" cy="1051560"/>
          </a:xfrm>
          <a:prstGeom prst="roundRect">
            <a:avLst>
              <a:gd name="adj" fmla="val 6087"/>
            </a:avLst>
          </a:prstGeom>
          <a:solidFill>
            <a:srgbClr val="F7F3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4800600"/>
            <a:ext cx="603504" cy="60350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800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11680" y="4718304"/>
            <a:ext cx="899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AIは、中身を持っている人が使うと強い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11680" y="5157216"/>
            <a:ext cx="8991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5つの箱。空いた箱が、あなたの課題です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4番で手が止まった方へ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自分の価値は、自分では当たり前すぎて見えません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45775" cy="1051560"/>
          </a:xfrm>
          <a:prstGeom prst="roundRect">
            <a:avLst>
              <a:gd name="adj" fmla="val 6957"/>
            </a:avLst>
          </a:prstGeom>
          <a:solidFill>
            <a:srgbClr val="E3C9C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011680"/>
            <a:ext cx="9814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「こんなの誰でもできる」と思っていたことが、実は一番の強みだった。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ここは、一人では決まりません。人に聞かれて、答えているうちに出てくるところです。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30752"/>
            <a:ext cx="10545775" cy="484632"/>
          </a:xfrm>
          <a:prstGeom prst="roundRect">
            <a:avLst>
              <a:gd name="adj" fmla="val 9434"/>
            </a:avLst>
          </a:prstGeom>
          <a:solidFill>
            <a:srgbClr val="F7F3F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730752"/>
            <a:ext cx="9814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いま、どこで詰まっているのか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10545775" cy="484632"/>
          </a:xfrm>
          <a:prstGeom prst="roundRect">
            <a:avLst>
              <a:gd name="adj" fmla="val 9434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297680"/>
            <a:ext cx="9814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あなたの強みを、どう言葉にするか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864608"/>
            <a:ext cx="10545775" cy="484632"/>
          </a:xfrm>
          <a:prstGeom prst="roundRect">
            <a:avLst>
              <a:gd name="adj" fmla="val 9434"/>
            </a:avLst>
          </a:prstGeom>
          <a:solidFill>
            <a:srgbClr val="F7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864608"/>
            <a:ext cx="9814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その先に、どんな商品があるといいか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468112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売り込みの時間ではありません。私のほうが、聞いている時間が長い時間です。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925312"/>
            <a:ext cx="10545775" cy="658368"/>
          </a:xfrm>
          <a:prstGeom prst="roundRect">
            <a:avLst>
              <a:gd name="adj" fmla="val 11111"/>
            </a:avLst>
          </a:prstGeom>
          <a:solidFill>
            <a:srgbClr val="3E2F3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925312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個別相談のお申込み　utage-system.com/event/XZDWcN4ju08q/register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「売れる」は結果です。</a:t>
            </a:r>
            <a:endParaRPr lang="en-US" sz="38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「選ばれる」が原因です。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そしてそれは、センスではなく順番で作れます。</a:t>
            </a:r>
            <a:endParaRPr lang="en-US" sz="1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今日は、その最初の1つをやりました。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2578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勉強会｜海外の視点とAIで、あなたにしか作れないリールをつくる</dc:title>
  <dc:subject>PptxGenJS Presentation</dc:subject>
  <dc:creator>えりりん</dc:creator>
  <cp:lastModifiedBy>えりりん</cp:lastModifiedBy>
  <cp:revision>1</cp:revision>
  <dcterms:created xsi:type="dcterms:W3CDTF">2026-08-18T23:42:30Z</dcterms:created>
  <dcterms:modified xsi:type="dcterms:W3CDTF">2026-08-18T23:42:30Z</dcterms:modified>
</cp:coreProperties>
</file>