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CE2D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原価 4,500円</c:v>
                </c:pt>
                <c:pt idx="1">
                  <c:v>販促・送料・手数料 3,500円</c:v>
                </c:pt>
                <c:pt idx="2">
                  <c:v>手元に残る 7,000円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4500</c:v>
                </c:pt>
                <c:pt idx="1">
                  <c:v>3500</c:v>
                </c:pt>
                <c:pt idx="2">
                  <c:v>7000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2B2B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今日は60分。テーマはファッション起業7つのステップ。
冒頭の問いかけ：「いつか自分のブランドを」と思ってから何年経ちましたか。
足りなかったのは情熱ではなく順番。今日はその順番を7つに整理して渡す。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ゴールは3つ：全体像を持つ／現在地を知る／次の一歩を1つ決める。
ゴールではないこと＝7つ全部を今日やること。期待値を先に合わせる。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今日の地図。順番の意味：価格は生産方法が決まらないと計算できない。
7つは一度きりではなく回すもの。以降、各扉で「7つのうち何番目か」を必ず言う。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共感パート。自分の失敗談を30秒以内で1つ挟むと効果的。
時間が押しているときは、このスライドを最初に削る。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7つのうちの1番目。すべての土台。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Who／What／Why の3問。Whoは「着る場面」まで降ろすのがコツ。
★ここで1分の記入タイム。ワークシートのWho/What/Whyを鉛筆で埋めてもらう。
オンラインならチャットに1人1行で投稿してもらう。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7つのうちの2番目。コンセプトの検証。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顧客ヒアリングは「買いますか」ではなく過去の行動を聞く。
競合10ブランドのレビューの「惜しい」がそのまま仕様になる。
空きがなければ軸を変えるか、STEP1に戻る。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7つのうちの3番目。デザインは3番目に来る、という点を強調。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1型スタートの理由＝売れなかったときに原因が分かる。
3つの役割は2周目以降の話。主力だけのブランドは新規を探し続けることになる。
サイズ確認は最低3人、できれば5人。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7つのうちの4番目。「OEM＝正解」の思い込みを外す。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表は行ごとに指しながら。分かれ道は「売れる確信の度合い」。
確信がない段階でOEM大ロットに行くと、在庫で資金が固定される。
一歩目はハンドメイドかODM、確信が持ててからOEM。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7つのうちの5番目。原価積み上げから逆算思考へ。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★数値はすべて計算方法を示すための例。実数は自分の商材で置き換えて話す。
粗利＝利益ではない。1枚あたりに最終的に残る額を出す。
★電卓を出してもらい、自分の想定売値×原価率30%を30秒で計算してもらう。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7つのうちの6番目。チャネルは集客負担の軸で整理する。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自社ECは集客100%自分。モールは手数料と比較対象。
ポップアップは初期ブランドに特に価値あり（対面の情報）。
卸はSTEP5の原価構造ができるまで手を出さない。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7つのうちの7番目。段階別に話す内容を変える。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新規1人より、既存の2回目のほうがずっと軽い。購入後を最重視。
認知の段階でブランドの理念を語っても届かない。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7つを1行ずつ読み上げて振り返る。記憶に残すパート。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時間が押しているときは、このスライドを2番目に削る。スライド21の宿題は絶対に削らない。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★ここは絶対に急がない。10秒の沈黙を作ってでも選ばせる。
オンラインならチャットに番号を投稿してもらう。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質疑が出ない場合は、台本 付録Aの想定質問を自分で読み上げて呼び水にする。
（資金／法人化／デザイン未経験／フォロワー数／在庫）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417320"/>
            <a:ext cx="3657600" cy="3657600"/>
          </a:xfrm>
          <a:prstGeom prst="ellipse">
            <a:avLst/>
          </a:prstGeom>
          <a:solidFill>
            <a:srgbClr val="4E1F31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1417320"/>
            <a:ext cx="3657600" cy="3657600"/>
          </a:xfrm>
          <a:prstGeom prst="ellipse">
            <a:avLst/>
          </a:prstGeom>
          <a:solidFill>
            <a:srgbClr val="6D2E46">
              <a:alpha val="0"/>
            </a:srgbClr>
          </a:solidFill>
          <a:ln w="15875">
            <a:solidFill>
              <a:srgbClr val="ECE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8120" y="1417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FASHION BUSINESS SEMINAR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ファッション起業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7つのステップ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「好き」を続く事業に変える設計図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60分セミナー ／ 全7ステップ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60分後、この3つを持ち帰っていただきます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121408"/>
            <a:ext cx="713232" cy="7132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1214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69848" y="2999232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地図を持つ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69848" y="34564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ファッションビジネスの全体像を、7つのステップとして把握する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98848" y="178308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2121408"/>
            <a:ext cx="713232" cy="7132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21214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82896" y="2999232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現在地を知る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82896" y="34564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その地図の上で、自分が今どこにいるかを特定する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11896" y="178308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95944" y="2121408"/>
            <a:ext cx="713232" cy="71323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95944" y="21214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95944" y="2999232"/>
            <a:ext cx="2660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次の一歩を決める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95944" y="34564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今日から2週間でやることを、たった1つだけ決める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66344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F7F2E9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66344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今日のゴールではないこと　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7つ全部を今日中に終わらせること。一気にやろうとして固まるのが、最も多い詰まり方です。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7ステップの全体像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順番には意味があります。そして、一度きりではなく何周も回すものです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2560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8048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38048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4000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コンセプト設計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4000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誰に・何を・なぜ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1912468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10" name="Shape 8"/>
          <p:cNvSpPr/>
          <p:nvPr/>
        </p:nvSpPr>
        <p:spPr>
          <a:xfrm>
            <a:off x="2017624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3112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249311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9064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市場と顧客の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リサーチ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9064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 ＋ ポジション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567532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672688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48176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4148176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64128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商品企画と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ラインナップ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64128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1型から始める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5222596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22" name="Shape 20"/>
          <p:cNvSpPr/>
          <p:nvPr/>
        </p:nvSpPr>
        <p:spPr>
          <a:xfrm>
            <a:off x="5327752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03240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/>
          <p:nvPr/>
        </p:nvSpPr>
        <p:spPr>
          <a:xfrm>
            <a:off x="5803240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19192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生産と仕入れ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9192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ロットとリスク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6877660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2816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58304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7458304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74256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価格設計と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収支計画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74256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逆算で決める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rot="5400000">
            <a:off x="8532724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34" name="Shape 32"/>
          <p:cNvSpPr/>
          <p:nvPr/>
        </p:nvSpPr>
        <p:spPr>
          <a:xfrm>
            <a:off x="8637880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13368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6" name="Text 34"/>
          <p:cNvSpPr/>
          <p:nvPr/>
        </p:nvSpPr>
        <p:spPr>
          <a:xfrm>
            <a:off x="9113368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729320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販売チャネル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29320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誰が客を連れるか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 rot="5400000">
            <a:off x="10187788" y="2350008"/>
            <a:ext cx="91440" cy="128016"/>
          </a:xfrm>
          <a:prstGeom prst="triangle">
            <a:avLst/>
          </a:prstGeom>
          <a:solidFill>
            <a:srgbClr val="A2676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92944" y="1874520"/>
            <a:ext cx="1536192" cy="2514600"/>
          </a:xfrm>
          <a:prstGeom prst="roundRect">
            <a:avLst>
              <a:gd name="adj" fmla="val 4762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768432" y="2121408"/>
            <a:ext cx="585216" cy="5852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2" name="Text 40"/>
          <p:cNvSpPr/>
          <p:nvPr/>
        </p:nvSpPr>
        <p:spPr>
          <a:xfrm>
            <a:off x="10768432" y="2121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384384" y="283464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ブランディング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と集客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384384" y="37490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段階別に語る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5800" y="493776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/>
        </p:spPr>
      </p:sp>
      <p:sp>
        <p:nvSpPr>
          <p:cNvPr id="46" name="Text 44"/>
          <p:cNvSpPr/>
          <p:nvPr/>
        </p:nvSpPr>
        <p:spPr>
          <a:xfrm>
            <a:off x="1097280" y="49377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1周目は小さく、粗くていい。売ってみて分かったことを持って、またSTEP1へ戻る。この一周が速い人ほど、ブランドは早く形になります。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よくあるつまずき、3パターン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今日の7ステップは、この3つを避けるための順番でもあります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66544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作ってから、売り先を考える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340864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先にサンプルを作り込み、在庫を抱えてから売り場を探す。売り先が決まっていないと、作るべき枚数も決まりません。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483864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331927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全員に好かれようとする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758184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「幅広い年齢層に、シンプルで上質な服」。誰の顔も浮かばない説明は、SNSでも店頭でも選ばれません。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901184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901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28800" y="4736592"/>
            <a:ext cx="9265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数字を後回しにする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5175504"/>
            <a:ext cx="9265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原価・売値・経費の関係を見ないまま走ると、「売れているのにお金が残らない」という一番つらい状態になります。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035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心当たりがあっても大丈夫。3つとも、順番で解けます。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コンセプト設計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すべての土台。ここが言葉になっていないと、デザインを何枚描いても迷い続けます。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コンセプトは、3つの問いで決まる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難しく考えない。答えるのはこの3つだけです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" y="1938528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9848" y="224028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誰に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69848" y="283464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年齢や性別で止めない。「週3で在宅勤務、急な打ち合わせにもそのまま出たい30代」。服ではなく、着る場面まで降ろす。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98848" y="17373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82896" y="1938528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82896" y="224028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82896" y="283464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その人の、どんな不便を解決するのか。「楽なのにきちんと見えない」。ここが埋まると仕様が決まる。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17373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1938528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95944" y="2240280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なぜ私が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95944" y="2834640"/>
            <a:ext cx="2660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同じ服は世の中にある。それでもあなたから買う理由。能力自慢ではなく、お客さまが安心する材料。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20095" cy="1508760"/>
          </a:xfrm>
          <a:prstGeom prst="roundRect">
            <a:avLst>
              <a:gd name="adj" fmla="val 4848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754880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3つをつなぐと、こう言えます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12064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「在宅と外出が半々の30代に、洗えてシワにならないジャケットを、生産背景まで説明できる状態で届ける。」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市場と顧客のリサーチ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STEP1で書いたコンセプトが、ひとりよがりになっていないかを確かめる工程です。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3つを見て、1つの「空き」を見つける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レポートを読むことではなく、意思決定のための行動です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989320" cy="1115568"/>
          </a:xfrm>
          <a:prstGeom prst="roundRect">
            <a:avLst>
              <a:gd name="adj" fmla="val 6557"/>
            </a:avLst>
          </a:prstGeom>
          <a:solidFill>
            <a:srgbClr val="F6F2F1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066544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73352" y="19110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顧客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73352" y="22951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5人に話を聞く。聞くのは「買いますか」ではなく過去。「最近、服で失敗した買い物は？」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5989320" cy="1115568"/>
          </a:xfrm>
          <a:prstGeom prst="roundRect">
            <a:avLst>
              <a:gd name="adj" fmla="val 6557"/>
            </a:avLst>
          </a:prstGeom>
          <a:solidFill>
            <a:srgbClr val="F6F2F1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" y="3364992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73352" y="32095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競合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73352" y="3593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同価格帯を10ブランド。価格・素材・サイズ展開・発売ペース、そして「ここが惜しい」の声。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79976"/>
            <a:ext cx="5989320" cy="1115568"/>
          </a:xfrm>
          <a:prstGeom prst="roundRect">
            <a:avLst>
              <a:gd name="adj" fmla="val 6557"/>
            </a:avLst>
          </a:prstGeom>
          <a:solidFill>
            <a:srgbClr val="F6F2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" y="46634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73352" y="45079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自社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73352" y="4892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使える時間・資金・頼れる人。ここを無視した計画は3か月で必ず止まります。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6948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ポジショニングマップ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1874520"/>
            <a:ext cx="3566160" cy="3566160"/>
          </a:xfrm>
          <a:prstGeom prst="rect">
            <a:avLst/>
          </a:prstGeom>
          <a:solidFill>
            <a:srgbClr val="F6F2F1"/>
          </a:solidFill>
          <a:ln/>
        </p:spPr>
      </p:sp>
      <p:sp>
        <p:nvSpPr>
          <p:cNvPr id="21" name="Shape 19"/>
          <p:cNvSpPr/>
          <p:nvPr/>
        </p:nvSpPr>
        <p:spPr>
          <a:xfrm>
            <a:off x="7269480" y="3657600"/>
            <a:ext cx="3566160" cy="0"/>
          </a:xfrm>
          <a:prstGeom prst="line">
            <a:avLst/>
          </a:prstGeom>
          <a:noFill/>
          <a:ln w="12700">
            <a:solidFill>
              <a:srgbClr val="D9B9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874520"/>
            <a:ext cx="0" cy="3566160"/>
          </a:xfrm>
          <a:prstGeom prst="line">
            <a:avLst/>
          </a:prstGeom>
          <a:noFill/>
          <a:ln w="12700">
            <a:solidFill>
              <a:srgbClr val="D9B9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18704" y="247802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4" name="Shape 22"/>
          <p:cNvSpPr/>
          <p:nvPr/>
        </p:nvSpPr>
        <p:spPr>
          <a:xfrm>
            <a:off x="8375904" y="311810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5" name="Shape 23"/>
          <p:cNvSpPr/>
          <p:nvPr/>
        </p:nvSpPr>
        <p:spPr>
          <a:xfrm>
            <a:off x="9427464" y="261518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Shape 24"/>
          <p:cNvSpPr/>
          <p:nvPr/>
        </p:nvSpPr>
        <p:spPr>
          <a:xfrm>
            <a:off x="9976104" y="325526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5864" y="448970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061704" y="412394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13264" y="4672584"/>
            <a:ext cx="164592" cy="16459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0" y="3657600"/>
            <a:ext cx="365760" cy="36576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57232" y="36941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19110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高価格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5148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低価格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54955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かっちり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52560" y="54955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リラックス 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5843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人が集まる場所ではなく、自分のコンセプトを置ける空きを探す。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商品企画とラインナップ設計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ここでようやくデザインの話。7つのうちの3番目です。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1型で始め、3つの役割で組む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20095" cy="1371600"/>
          </a:xfrm>
          <a:prstGeom prst="roundRect">
            <a:avLst>
              <a:gd name="adj" fmla="val 5333"/>
            </a:avLst>
          </a:prstGeom>
          <a:solidFill>
            <a:srgbClr val="F7F2E9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55648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556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67128" y="1645920"/>
            <a:ext cx="8899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最初は1型でいい。むしろ1型を強くおすすめします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167128" y="213969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10型を1枚ずつより、1型を色違い・サイズ違いで持つほうが、在庫も撮影も説明も軽い。そして売れなかったとき、原因が分かります。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218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主力商品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71246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ブランドの顔。いちばん語れるもの。利益もここで取る。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8848" y="3063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3218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集客商品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64608" y="371246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手に取りやすい価格で、初めての人が試せるもの。担当は「出会いの数」。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11896" y="3063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77656" y="3218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利益商品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77656" y="371246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買ってくれた人が2回目に買うもの。色違い、セット販売。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749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サンプルは必ず自分以外に着せる。　</a:t>
            </a:r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自分の体型基準のサイズは、驚くほど狭いところにしか合いません。最低3人、できれば5人。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生産と仕入れ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多くの方がいちばん不安に感じるところ。選ぶ基準はひとつだけです。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4つの作り方と、その分かれ道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選ぶ基準は「売れる確信がどれくらいあるか」、それだけです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2009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43000"/>
                <a:gridCol w="1051560"/>
                <a:gridCol w="914400"/>
                <a:gridCol w="4690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CE2D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作り方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CE2D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ロット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CE2D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CE2D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自由度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CE2D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向いている段階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ハンドメイド・自社縫製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1枚〜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テスト販売に最適。ただし自分の時間が原価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既製品の仕入れ（セレクト）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生産の悩みなし。粗利は薄く競合も多い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ODM（既存の型を使う）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小〜中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立ち上げの一歩目として現実的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OEM（一から作る）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中〜大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確信が持ててから。理想の形が作れる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526280"/>
            <a:ext cx="10820095" cy="1554480"/>
          </a:xfrm>
          <a:prstGeom prst="roundRect">
            <a:avLst>
              <a:gd name="adj" fmla="val 4706"/>
            </a:avLst>
          </a:prstGeom>
          <a:solidFill>
            <a:srgbClr val="F7F2E9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工場に必ず聞く4つ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703320" y="468172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8" name="Text 5"/>
          <p:cNvSpPr/>
          <p:nvPr/>
        </p:nvSpPr>
        <p:spPr>
          <a:xfrm>
            <a:off x="3703320" y="4681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最小ロット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468172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4681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43800" y="468172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681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納期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64040" y="468172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14" name="Text 11"/>
          <p:cNvSpPr/>
          <p:nvPr/>
        </p:nvSpPr>
        <p:spPr>
          <a:xfrm>
            <a:off x="9464040" y="4681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支払い条件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" y="5285232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特に支払い条件。「発注時に何割、納品時に何割」で必要な運転資金がまるで変わります。必ず書面で確認を。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価格設計と収支計画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今日いちばん地味で、いちばん効くパートです。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値段は、原価から決めない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「原価3,000円だから2倍で6,000円」――これが一番危ない決め方です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47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まず売値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762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15,000円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この人にとって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妥当な価格を決める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8848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847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原価率を置く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18888" y="21762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18888" y="2834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商材と販路から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無理のない率を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11896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31936" y="18470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原価が出る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31936" y="21762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4,500円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31936" y="28346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この範囲で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作れるかを検証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913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売値15,000円の内訳（例）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4224528"/>
          <a:ext cx="5029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309360" y="3913632"/>
            <a:ext cx="5193792" cy="1207008"/>
          </a:xfrm>
          <a:prstGeom prst="roundRect">
            <a:avLst>
              <a:gd name="adj" fmla="val 6061"/>
            </a:avLst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損益分岐点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29400" y="4389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固定費 ÷ 1枚あたりに残る額 ＝ 最低これだけ売る枚数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309360" y="5257800"/>
            <a:ext cx="5193792" cy="1161288"/>
          </a:xfrm>
          <a:prstGeom prst="roundRect">
            <a:avLst>
              <a:gd name="adj" fmla="val 6299"/>
            </a:avLst>
          </a:prstGeom>
          <a:solidFill>
            <a:srgbClr val="F6F2F1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5294376"/>
            <a:ext cx="45720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初期費用と運転資金は分けて持つ。</a:t>
            </a:r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生産に全部使うと、商品はあるのに広告も撮影もできない状態に。生産と同額程度は「売るための資金」として残す。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販売チャネルの構築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「どこで売るか」は、「お客さまを誰が連れてくるか」で決まります。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誰がお客さまを連れてくるか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機能ではなく、集客を誰が負担するかで分けると選びやすくなります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自社EC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0" y="1956816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集客：自分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432304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手数料が低く、お客さまの情報も自分のもの。ただし作っただけでは誰も来ません。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48272" y="173736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14032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モール・プラットフォーム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634472" y="1956816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634472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集客：場所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14032" y="2432304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初日から見てもらえる可能性。代わりに手数料と、常に並ぶ比較対象。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730752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913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ポップアップ・催事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72000" y="3950208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950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集客：場所＋自分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4425696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試着の様子、手に取って戻す瞬間、迷って聞かれた質問。数字より濃い情報が得られます。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48272" y="3730752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14032" y="3913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卸・委託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634472" y="3950208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34472" y="3950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集客：取引先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14032" y="4425696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数は動くが掛け率の分だけ利益は下がる。STEP5の計算ができるまでは手を出さない。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62356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おすすめは、自社ECを「家」として持ちながら、人がいる場所へ出ていく形。最後は自分のECとSNSに戻ってきてもらう。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2331720"/>
            <a:ext cx="1828800" cy="182880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356616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ブランディングと集客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56616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「SNSを頑張っているのに売れない」の原因は、全員に同じ話をしていることです。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4つの段階で、話す内容を変える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お客さまの段階が違えば、聞きたい話も違います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6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1810512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18105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認知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39112" y="16824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あなたを知らない人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39112" y="1993392"/>
            <a:ext cx="9235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ブランドの話をしない。その人が今日役に立つ話をする。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「洗えるジャケットの見分け方」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6F2F1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" y="2798064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79806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興味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39112" y="26700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気になっている人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39112" y="29809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作り方と背景を見せる。工場でのやりとり、生地を選んだ理由、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失敗した試作。過程は値段の理由になる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02736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6F2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" y="3785616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7856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比較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39112" y="3657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買おうか迷っている人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39112" y="3968496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不安を消す。サイズ感、身長別の着比べ、返品交換の条件。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情緒ではなく事実の提示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" y="4773168"/>
            <a:ext cx="1051560" cy="548640"/>
          </a:xfrm>
          <a:prstGeom prst="roundRect">
            <a:avLst>
              <a:gd name="adj" fmla="val 16667"/>
            </a:avLst>
          </a:prstGeom>
          <a:solidFill>
            <a:srgbClr val="ECE2D0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" y="477316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購入後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39112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すでに買った人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039112" y="495604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感謝と使い方。お手入れ、合わせ方、新作の先行案内。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ブランドの安定はほぼここで決まる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742432"/>
            <a:ext cx="10820095" cy="731520"/>
          </a:xfrm>
          <a:prstGeom prst="roundRect">
            <a:avLst>
              <a:gd name="adj" fmla="val 10000"/>
            </a:avLst>
          </a:prstGeom>
          <a:solidFill>
            <a:srgbClr val="F7F2E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74243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ブランディング＝ロゴや色の話ではありません。</a:t>
            </a:r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「誰に、どの段階で、何を言うか」が一貫していること。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まとめ：7つのステップ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1行ずつ、振り返ります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6F2F1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19476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コンセプトを、誰に・何を・なぜで決める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715768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7F2E9"/>
          </a:solidFill>
          <a:ln/>
        </p:spPr>
      </p:sp>
      <p:sp>
        <p:nvSpPr>
          <p:cNvPr id="9" name="Shape 7"/>
          <p:cNvSpPr/>
          <p:nvPr/>
        </p:nvSpPr>
        <p:spPr>
          <a:xfrm>
            <a:off x="905256" y="28803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7157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市場と顧客を3つの視点で見て、空きを探す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6F2F1"/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" y="38130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64845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商品は1型から。3つの役割で組む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7F2E9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" y="474573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58114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作り方は、売れる確信の度合いで選ぶ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48272" y="178308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6F2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67728" y="19476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69677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71232" y="1783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値段は原価からではなく、逆算で決める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48272" y="2715768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7F2E9"/>
          </a:solidFill>
          <a:ln/>
        </p:spPr>
      </p:sp>
      <p:sp>
        <p:nvSpPr>
          <p:cNvPr id="25" name="Shape 23"/>
          <p:cNvSpPr/>
          <p:nvPr/>
        </p:nvSpPr>
        <p:spPr>
          <a:xfrm>
            <a:off x="6967728" y="28803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71232" y="27157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売り場は、誰が客を連れてくるかで選ぶ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748272" y="3648456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F6F2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967728" y="38130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696772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571232" y="364845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集客は、段階ごとに話す内容を変える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748272" y="4581144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7114032" y="4581144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デザインが得意な人が勝つのではありません。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7つを小さく速く、何周も回した人が残ります。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90日ロードマップ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明日から7つ全部は無理です。3か月の目安を置いておきます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1〜30日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6916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1 - 2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8408" y="23957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調べる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78408" y="2944368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コンセプトの一文を書く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想定顧客5人に話を聞く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競合10ブランドを並べる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この30日は1円も使わなくていい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6F2F1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16916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31〜60日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9904" y="16916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3 - 5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90872" y="23957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決める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90872" y="2944368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最初の1型を決める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作り方を選び、工場に問い合わせる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原価と1枚あたりの残りを出す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損益分岐点を計算する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0728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7F2E9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10728" y="16916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403336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61〜90日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02368" y="16916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6 - 7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03336" y="23957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売る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3336" y="2944368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売り場を用意する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段階別の発信を始める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小さくても実際に売ってみる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反応を持ってSTEP1へ戻る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12064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12064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90日目のゴールは、完璧なブランドではありません。「お客さまからの反応」が手元にあることです。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明日からの宿題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3つ出します。ただし全部やらなくて結構です ―― 1つだけ選んでください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1031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書く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9848" y="306324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コンセプトの一文を書く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379476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「誰に、何を、なぜ自分が」を一文で。鉛筆で構いません。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8848" y="17830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82896" y="21031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24728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82896" y="306324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5人に買い物の話を聞く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82896" y="379476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「買いますか」ではなく「最近の失敗した買い物は？」を聞く。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11896" y="17830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8A6A7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5944" y="210312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8695944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37776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267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数える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95944" y="306324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1枚あたりの残りを計算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95944" y="379476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想定売値から、手元にいくら残るかを出す。電卓ひとつでできます。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1417320"/>
          </a:xfrm>
          <a:prstGeom prst="roundRect">
            <a:avLst>
              <a:gd name="adj" fmla="val 5161"/>
            </a:avLst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01091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選んだら、「いつやるか」まで決める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5504688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「今週中」ではなく「木曜の夜」のように、曜日と時間帯で。今日の60分が情報で終わるか、ブランドの起点になるかは、この1行で決まります。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874520"/>
            <a:ext cx="3017520" cy="3017520"/>
          </a:xfrm>
          <a:prstGeom prst="ellipse">
            <a:avLst/>
          </a:prstGeom>
          <a:solidFill>
            <a:srgbClr val="6D2E46">
              <a:alpha val="0"/>
            </a:srgbClr>
          </a:solidFill>
          <a:ln w="15875">
            <a:solidFill>
              <a:srgbClr val="A267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18745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CE2D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B9B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今日の話は、才能ではなく順番の話でした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小さく、速く、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何周も回した人が残ります。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1周目は粗くていい。むしろ粗いほうがいい。早く回ったぶんだけ、お客さまの声が早く届きます。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ECE2D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質疑応答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ファッション起業 7つのステップ</dc:title>
  <dc:subject>PptxGenJS Presentation</dc:subject>
  <dc:creator>ファッション起業セミナー</dc:creator>
  <cp:lastModifiedBy>ファッション起業セミナー</cp:lastModifiedBy>
  <cp:revision>1</cp:revision>
  <dcterms:created xsi:type="dcterms:W3CDTF">2026-08-09T04:08:33Z</dcterms:created>
  <dcterms:modified xsi:type="dcterms:W3CDTF">2026-08-09T04:08:33Z</dcterms:modified>
</cp:coreProperties>
</file>